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8" r:id="rId1"/>
    <p:sldMasterId id="2147483669" r:id="rId2"/>
  </p:sldMasterIdLst>
  <p:notesMasterIdLst>
    <p:notesMasterId r:id="rId34"/>
  </p:notesMasterIdLst>
  <p:sldIdLst>
    <p:sldId id="256" r:id="rId3"/>
    <p:sldId id="258" r:id="rId4"/>
    <p:sldId id="257" r:id="rId5"/>
    <p:sldId id="259" r:id="rId6"/>
    <p:sldId id="27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61" r:id="rId16"/>
    <p:sldId id="262" r:id="rId17"/>
    <p:sldId id="263" r:id="rId18"/>
    <p:sldId id="264" r:id="rId19"/>
    <p:sldId id="281" r:id="rId20"/>
    <p:sldId id="300" r:id="rId21"/>
    <p:sldId id="301" r:id="rId22"/>
    <p:sldId id="302" r:id="rId23"/>
    <p:sldId id="303" r:id="rId24"/>
    <p:sldId id="304" r:id="rId25"/>
    <p:sldId id="305" r:id="rId26"/>
    <p:sldId id="273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275773-64A0-4169-8177-B0009E08A9DC}">
  <a:tblStyle styleId="{3D275773-64A0-4169-8177-B0009E08A9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75" d="100"/>
          <a:sy n="75" d="100"/>
        </p:scale>
        <p:origin x="-78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de727246f_0_146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ede727246f_0_146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ede727246f_0_1466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ede727246f_0_14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de727246f_0_146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de727246f_0_14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e727246f_0_1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ede727246f_0_1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de727246f_0_1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733b767c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733b767cf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e733b767cf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71e28e14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71e28e146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e71e28e146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71e28e14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71e28e146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e71e28e146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71e28e14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71e28e146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e71e28e146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71e28e14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71e28e146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e71e28e146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d3324dd7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d3324dd73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ed3324dd73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71e28e146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71e28e146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e71e28e146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de727246f_0_50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ede727246f_0_50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ede727246f_0_506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ede727246f_0_5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ede727246f_0_50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de727246f_0_5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219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de727246f_0_68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ede727246f_0_68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ede727246f_0_683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3ede727246f_0_6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ede727246f_0_68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ede727246f_0_6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16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de727246f_0_9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ede727246f_0_919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ede727246f_0_9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ede727246f_0_9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ede727246f_0_91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ede727246f_0_9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094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71e28e146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71e28e146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e71e28e146_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942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78" y="5438319"/>
            <a:ext cx="2860213" cy="1608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2"/>
          <p:cNvCxnSpPr/>
          <p:nvPr/>
        </p:nvCxnSpPr>
        <p:spPr>
          <a:xfrm>
            <a:off x="-114300" y="6237515"/>
            <a:ext cx="972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838200" y="1959430"/>
            <a:ext cx="10281557" cy="3649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7979" cy="1047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9993084" y="5390016"/>
            <a:ext cx="1828800" cy="133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252357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3543300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702379"/>
            <a:ext cx="420574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5372100" y="1992085"/>
            <a:ext cx="432707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5372100" y="2702379"/>
            <a:ext cx="432707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66859" y="1281339"/>
            <a:ext cx="4898069" cy="458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5183188" y="1273629"/>
            <a:ext cx="5823902" cy="4112089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32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de727246f_31_0)">
  <p:cSld name="Generated (g3ede727246f_31_0)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18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00" cy="15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"/>
          </p:nvPr>
        </p:nvSpPr>
        <p:spPr>
          <a:xfrm>
            <a:off x="1039528" y="4129238"/>
            <a:ext cx="100872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2" name="Google Shape;8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78" y="5438319"/>
            <a:ext cx="2860214" cy="1608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12"/>
          <p:cNvCxnSpPr/>
          <p:nvPr/>
        </p:nvCxnSpPr>
        <p:spPr>
          <a:xfrm>
            <a:off x="-114300" y="6237515"/>
            <a:ext cx="972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6" name="Google Shape;8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38200" y="1959430"/>
            <a:ext cx="10281600" cy="3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058779" y="1286227"/>
            <a:ext cx="10087200" cy="21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1058779" y="4165953"/>
            <a:ext cx="10087200" cy="14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9993084" y="5390016"/>
            <a:ext cx="1828800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2524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35433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9788" y="1992085"/>
            <a:ext cx="42057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2"/>
          </p:nvPr>
        </p:nvSpPr>
        <p:spPr>
          <a:xfrm>
            <a:off x="839788" y="2702379"/>
            <a:ext cx="4205700" cy="3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3"/>
          </p:nvPr>
        </p:nvSpPr>
        <p:spPr>
          <a:xfrm>
            <a:off x="5372100" y="1992085"/>
            <a:ext cx="43272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4"/>
          </p:nvPr>
        </p:nvSpPr>
        <p:spPr>
          <a:xfrm>
            <a:off x="5372100" y="2702379"/>
            <a:ext cx="4327200" cy="3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85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5166859" y="1281339"/>
            <a:ext cx="4898100" cy="4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>
            <a:spLocks noGrp="1"/>
          </p:cNvSpPr>
          <p:nvPr>
            <p:ph type="pic" idx="2"/>
          </p:nvPr>
        </p:nvSpPr>
        <p:spPr>
          <a:xfrm>
            <a:off x="5183188" y="1273629"/>
            <a:ext cx="5823900" cy="4112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de9b6201f_13_0)">
  <p:cSld name="Generated (g3ede9b6201f_13_0)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 title="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25768" y="200819"/>
            <a:ext cx="1489158" cy="105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 title="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838200" y="1959429"/>
            <a:ext cx="10281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73" name="Google Shape;73;p1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25768" y="200819"/>
            <a:ext cx="1489158" cy="105319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p1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78;p1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3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3000" dirty="0"/>
              <a:t>Разработка программного обеспечения учебного </a:t>
            </a:r>
            <a:r>
              <a:rPr lang="ru-RU" sz="3000" dirty="0" err="1"/>
              <a:t>шестиосевого</a:t>
            </a:r>
            <a:r>
              <a:rPr lang="ru-RU" sz="3000" dirty="0"/>
              <a:t> робота-манипулятора с использованием </a:t>
            </a:r>
            <a:r>
              <a:rPr lang="ru-RU" sz="3000" dirty="0" err="1"/>
              <a:t>Dynamixel</a:t>
            </a:r>
            <a:r>
              <a:rPr lang="ru-RU" sz="3000" dirty="0"/>
              <a:t> и технического зрения</a:t>
            </a:r>
            <a:endParaRPr sz="3000" dirty="0"/>
          </a:p>
        </p:txBody>
      </p:sp>
      <p:sp>
        <p:nvSpPr>
          <p:cNvPr id="138" name="Google Shape;138;p23"/>
          <p:cNvSpPr txBox="1"/>
          <p:nvPr/>
        </p:nvSpPr>
        <p:spPr>
          <a:xfrm>
            <a:off x="1958766" y="4163145"/>
            <a:ext cx="8248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Студент: Ляхов Александр Алексеевич</a:t>
            </a: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971675" y="5605839"/>
            <a:ext cx="8248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Московский Политех, 2026</a:t>
            </a:r>
            <a:endParaRPr sz="18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8;p23">
            <a:extLst>
              <a:ext uri="{FF2B5EF4-FFF2-40B4-BE49-F238E27FC236}">
                <a16:creationId xmlns:a16="http://schemas.microsoft.com/office/drawing/2014/main" id="{13609700-21DE-C65E-6960-941038AC326E}"/>
              </a:ext>
            </a:extLst>
          </p:cNvPr>
          <p:cNvSpPr txBox="1"/>
          <p:nvPr/>
        </p:nvSpPr>
        <p:spPr>
          <a:xfrm>
            <a:off x="1786270" y="4717143"/>
            <a:ext cx="843420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: </a:t>
            </a:r>
            <a:r>
              <a:rPr lang="ru-RU" sz="240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Идиатуллов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Тимур </a:t>
            </a:r>
            <a:r>
              <a:rPr lang="ru-RU" sz="240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Тофикович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к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т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н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доцент</a:t>
            </a: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/>
        </p:nvSpPr>
        <p:spPr>
          <a:xfrm>
            <a:off x="838200" y="47625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>
                <a:solidFill>
                  <a:srgbClr val="000000"/>
                </a:solidFill>
              </a:rPr>
              <a:t>Цели и задачи работы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838200" y="1333500"/>
            <a:ext cx="10515600" cy="117397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1047750" y="1476375"/>
            <a:ext cx="10096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1530" b="1" dirty="0">
                <a:solidFill>
                  <a:srgbClr val="1F2937"/>
                </a:solidFill>
              </a:rPr>
              <a:t>Цель ВКР: Разработать программное обеспечение и архитектуру системы управления шестиосевым роботом-манипулятором, включающую HAL-драйвер сервоприводов Dynamixel, модули прямой/обратной кинематики, систему технического зрения, десктопный и web-интерфейсы, а также интеграцию с ROS2.</a:t>
            </a:r>
          </a:p>
        </p:txBody>
      </p:sp>
      <p:grpSp>
        <p:nvGrpSpPr>
          <p:cNvPr id="170" name="Google Shape;170;p25"/>
          <p:cNvGrpSpPr/>
          <p:nvPr/>
        </p:nvGrpSpPr>
        <p:grpSpPr>
          <a:xfrm>
            <a:off x="838200" y="2571750"/>
            <a:ext cx="2476500" cy="3062649"/>
            <a:chOff x="0" y="0"/>
            <a:chExt cx="2476500" cy="3238500"/>
          </a:xfrm>
        </p:grpSpPr>
        <p:sp>
          <p:nvSpPr>
            <p:cNvPr id="171" name="Google Shape;171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C9DAF8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>
                  <a:solidFill>
                    <a:schemeClr val="dk1"/>
                  </a:solidFill>
                </a:rPr>
                <a:t>Анализ</a:t>
              </a:r>
              <a:endParaRPr sz="15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rgbClr val="4B5563"/>
                  </a:solidFill>
                </a:rPr>
                <a:t>Выявить основные инфраструктурные барьеры и причины когнитивной перегрузки студентов при работе с ROS2 и закрытыми платформами.</a:t>
              </a:r>
              <a:endParaRPr>
                <a:solidFill>
                  <a:srgbClr val="4B5563"/>
                </a:solidFill>
              </a:endParaRPr>
            </a:p>
          </p:txBody>
        </p:sp>
      </p:grpSp>
      <p:grpSp>
        <p:nvGrpSpPr>
          <p:cNvPr id="174" name="Google Shape;174;p25"/>
          <p:cNvGrpSpPr/>
          <p:nvPr/>
        </p:nvGrpSpPr>
        <p:grpSpPr>
          <a:xfrm>
            <a:off x="3524250" y="2571750"/>
            <a:ext cx="2476500" cy="3062649"/>
            <a:chOff x="0" y="0"/>
            <a:chExt cx="2476500" cy="3238500"/>
          </a:xfrm>
        </p:grpSpPr>
        <p:sp>
          <p:nvSpPr>
            <p:cNvPr id="175" name="Google Shape;175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C9DAF8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>
                  <a:solidFill>
                    <a:schemeClr val="dk1"/>
                  </a:solidFill>
                </a:rPr>
                <a:t>Проектирование</a:t>
              </a:r>
              <a:endParaRPr sz="15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rgbClr val="4B5563"/>
                  </a:solidFill>
                </a:rPr>
                <a:t>Спроектировать вспомогательное ядро, надежно изолирующее сложную аппаратную логику для снижения порога входа обучающихся.</a:t>
              </a:r>
              <a:endParaRPr>
                <a:solidFill>
                  <a:srgbClr val="4B5563"/>
                </a:solidFill>
              </a:endParaRPr>
            </a:p>
          </p:txBody>
        </p:sp>
      </p:grpSp>
      <p:grpSp>
        <p:nvGrpSpPr>
          <p:cNvPr id="178" name="Google Shape;178;p25"/>
          <p:cNvGrpSpPr/>
          <p:nvPr/>
        </p:nvGrpSpPr>
        <p:grpSpPr>
          <a:xfrm>
            <a:off x="6210300" y="2571750"/>
            <a:ext cx="2476500" cy="3062649"/>
            <a:chOff x="0" y="0"/>
            <a:chExt cx="2476500" cy="3238500"/>
          </a:xfrm>
        </p:grpSpPr>
        <p:sp>
          <p:nvSpPr>
            <p:cNvPr id="179" name="Google Shape;179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C9DAF8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 dirty="0">
                  <a:solidFill>
                    <a:schemeClr val="dk1"/>
                  </a:solidFill>
                </a:rPr>
                <a:t>Математическое ядро</a:t>
              </a:r>
              <a:endParaRPr sz="1500" b="1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dirty="0">
                  <a:solidFill>
                    <a:srgbClr val="4B5563"/>
                  </a:solidFill>
                </a:rPr>
                <a:t>Разработать базовые модули для решения задач обратной кинематики и машинного зрения студентами.</a:t>
              </a:r>
              <a:endParaRPr dirty="0">
                <a:solidFill>
                  <a:srgbClr val="4B5563"/>
                </a:solidFill>
              </a:endParaRPr>
            </a:p>
          </p:txBody>
        </p:sp>
      </p:grpSp>
      <p:grpSp>
        <p:nvGrpSpPr>
          <p:cNvPr id="182" name="Google Shape;182;p25"/>
          <p:cNvGrpSpPr/>
          <p:nvPr/>
        </p:nvGrpSpPr>
        <p:grpSpPr>
          <a:xfrm>
            <a:off x="8896350" y="2571750"/>
            <a:ext cx="2476500" cy="3062649"/>
            <a:chOff x="0" y="0"/>
            <a:chExt cx="2476500" cy="3238500"/>
          </a:xfrm>
        </p:grpSpPr>
        <p:sp>
          <p:nvSpPr>
            <p:cNvPr id="183" name="Google Shape;183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FC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FEE2E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>
                  <a:solidFill>
                    <a:schemeClr val="dk1"/>
                  </a:solidFill>
                </a:rPr>
                <a:t>Верификация</a:t>
              </a:r>
              <a:endParaRPr sz="15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rgbClr val="4B5563"/>
                  </a:solidFill>
                </a:rPr>
                <a:t>Разработать цифровой двойник для безопасного тестирования студенческих алгоритмов перед переносом на железо.</a:t>
              </a:r>
              <a:endParaRPr>
                <a:solidFill>
                  <a:srgbClr val="4B5563"/>
                </a:solidFill>
              </a:endParaRPr>
            </a:p>
          </p:txBody>
        </p:sp>
      </p:grpSp>
      <p:sp>
        <p:nvSpPr>
          <p:cNvPr id="186" name="Google Shape;186;p25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24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10129157" y="5440362"/>
            <a:ext cx="17880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</a:p>
        </p:txBody>
      </p:sp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838200" y="476250"/>
            <a:ext cx="8877300" cy="113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rgbClr val="000000"/>
                </a:solidFill>
              </a:rPr>
              <a:t>Проблематика и актуальность в образовательном процессе</a:t>
            </a:r>
            <a:endParaRPr sz="3600" b="1" dirty="0">
              <a:solidFill>
                <a:srgbClr val="000000"/>
              </a:solidFill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8077200" y="1714476"/>
            <a:ext cx="3429000" cy="3379200"/>
          </a:xfrm>
          <a:prstGeom prst="roundRect">
            <a:avLst>
              <a:gd name="adj" fmla="val 5769"/>
            </a:avLst>
          </a:prstGeom>
          <a:solidFill>
            <a:srgbClr val="C9DAF8"/>
          </a:solidFill>
          <a:ln w="9525" cap="flat" cmpd="sng">
            <a:solidFill>
              <a:srgbClr val="FB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4"/>
          <p:cNvSpPr txBox="1"/>
          <p:nvPr/>
        </p:nvSpPr>
        <p:spPr>
          <a:xfrm>
            <a:off x="8220075" y="1857375"/>
            <a:ext cx="3143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dk1"/>
                </a:solidFill>
              </a:rPr>
              <a:t>Ключевая задача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8220075" y="2286000"/>
            <a:ext cx="3143400" cy="238526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Разработать учебный комплекс с открытой архитектурой , подходящий для простого и безопасного решения студентами задач: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ru-RU" dirty="0">
                <a:solidFill>
                  <a:schemeClr val="dk1"/>
                </a:solidFill>
              </a:rPr>
              <a:t>обратной кинематики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ru-RU" dirty="0">
                <a:solidFill>
                  <a:schemeClr val="dk1"/>
                </a:solidFill>
              </a:rPr>
              <a:t>машинного зрения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ru-RU" dirty="0">
                <a:solidFill>
                  <a:schemeClr val="dk1"/>
                </a:solidFill>
              </a:rPr>
              <a:t>обучение моделей машинного обучения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Без отвлечения на аппаратную отладку.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51" name="Google Shape;151;p24"/>
          <p:cNvGrpSpPr/>
          <p:nvPr/>
        </p:nvGrpSpPr>
        <p:grpSpPr>
          <a:xfrm>
            <a:off x="838200" y="1714481"/>
            <a:ext cx="3429000" cy="3379184"/>
            <a:chOff x="838200" y="1714500"/>
            <a:chExt cx="3429000" cy="2476500"/>
          </a:xfrm>
        </p:grpSpPr>
        <p:sp>
          <p:nvSpPr>
            <p:cNvPr id="152" name="Google Shape;152;p24"/>
            <p:cNvSpPr/>
            <p:nvPr/>
          </p:nvSpPr>
          <p:spPr>
            <a:xfrm>
              <a:off x="838200" y="1714500"/>
              <a:ext cx="3429000" cy="2476500"/>
            </a:xfrm>
            <a:prstGeom prst="roundRect">
              <a:avLst>
                <a:gd name="adj" fmla="val 5769"/>
              </a:avLst>
            </a:prstGeom>
            <a:solidFill>
              <a:srgbClr val="F3F4F6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4"/>
            <p:cNvSpPr txBox="1"/>
            <p:nvPr/>
          </p:nvSpPr>
          <p:spPr>
            <a:xfrm>
              <a:off x="981075" y="1857375"/>
              <a:ext cx="3143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1F2937"/>
                  </a:solidFill>
                </a:rPr>
                <a:t>Текущая ситуация: Структурные разделения</a:t>
              </a:r>
              <a:endParaRPr sz="1600" b="1">
                <a:solidFill>
                  <a:srgbClr val="1F2937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b="1">
                  <a:solidFill>
                    <a:srgbClr val="374151"/>
                  </a:solidFill>
                </a:rPr>
                <a:t>Образовательные наборы:</a:t>
              </a:r>
              <a:endParaRPr b="1">
                <a:solidFill>
                  <a:srgbClr val="374151"/>
                </a:solidFill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-RU" sz="1300">
                  <a:solidFill>
                    <a:srgbClr val="4B5563"/>
                  </a:solidFill>
                </a:rPr>
                <a:t>«Закрытые» системы, не позволяющие студентам глубоко модифицировать алгоритмы технического зрения и кинематики.</a:t>
              </a:r>
              <a:endParaRPr sz="1300">
                <a:solidFill>
                  <a:srgbClr val="4B5563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b="1">
                  <a:solidFill>
                    <a:srgbClr val="374151"/>
                  </a:solidFill>
                </a:rPr>
                <a:t>Промышленные комплексы (ROS2):</a:t>
              </a:r>
              <a:endParaRPr b="1">
                <a:solidFill>
                  <a:srgbClr val="374151"/>
                </a:solidFill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-RU" sz="1300">
                  <a:solidFill>
                    <a:srgbClr val="4B5563"/>
                  </a:solidFill>
                </a:rPr>
                <a:t>Высокий инфраструктурный барьер. Требуют недель на настройку среды.</a:t>
              </a:r>
              <a:endParaRPr sz="1300">
                <a:solidFill>
                  <a:srgbClr val="4B5563"/>
                </a:solidFill>
              </a:endParaRPr>
            </a:p>
          </p:txBody>
        </p:sp>
      </p:grpSp>
      <p:grpSp>
        <p:nvGrpSpPr>
          <p:cNvPr id="154" name="Google Shape;154;p24"/>
          <p:cNvGrpSpPr/>
          <p:nvPr/>
        </p:nvGrpSpPr>
        <p:grpSpPr>
          <a:xfrm>
            <a:off x="4457700" y="1714514"/>
            <a:ext cx="3429000" cy="3379184"/>
            <a:chOff x="4457700" y="1714500"/>
            <a:chExt cx="3429000" cy="2476500"/>
          </a:xfrm>
        </p:grpSpPr>
        <p:sp>
          <p:nvSpPr>
            <p:cNvPr id="155" name="Google Shape;155;p24"/>
            <p:cNvSpPr/>
            <p:nvPr/>
          </p:nvSpPr>
          <p:spPr>
            <a:xfrm>
              <a:off x="4457700" y="1714500"/>
              <a:ext cx="3429000" cy="2476500"/>
            </a:xfrm>
            <a:prstGeom prst="roundRect">
              <a:avLst>
                <a:gd name="adj" fmla="val 5769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4"/>
            <p:cNvSpPr txBox="1"/>
            <p:nvPr/>
          </p:nvSpPr>
          <p:spPr>
            <a:xfrm>
              <a:off x="4600575" y="1857375"/>
              <a:ext cx="3143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1"/>
                  </a:solidFill>
                </a:rPr>
                <a:t>Проблема обучения: Когнитивная перегрузка</a:t>
              </a:r>
              <a:endParaRPr sz="16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b="1">
                  <a:solidFill>
                    <a:schemeClr val="dk1"/>
                  </a:solidFill>
                </a:rPr>
                <a:t>Разрыв между теорией и практикой:</a:t>
              </a:r>
              <a:endParaRPr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chemeClr val="dk1"/>
                  </a:solidFill>
                </a:rPr>
                <a:t>Студенты вынуждены тратить учебное время на отладку низкоуровневого обмена данными (драйверы, протоколы) вместо изучения высокоуровневых алгоритмов.</a:t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4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Анализ аналогов</a:t>
            </a:r>
            <a:endParaRPr/>
          </a:p>
        </p:txBody>
      </p:sp>
      <p:graphicFrame>
        <p:nvGraphicFramePr>
          <p:cNvPr id="194" name="Google Shape;194;p26"/>
          <p:cNvGraphicFramePr/>
          <p:nvPr>
            <p:extLst>
              <p:ext uri="{D42A27DB-BD31-4B8C-83A1-F6EECF244321}">
                <p14:modId xmlns:p14="http://schemas.microsoft.com/office/powerpoint/2010/main" val="3535364400"/>
              </p:ext>
            </p:extLst>
          </p:nvPr>
        </p:nvGraphicFramePr>
        <p:xfrm>
          <a:off x="952500" y="1690675"/>
          <a:ext cx="10287000" cy="3169800"/>
        </p:xfrm>
        <a:graphic>
          <a:graphicData uri="http://schemas.openxmlformats.org/drawingml/2006/table">
            <a:tbl>
              <a:tblPr>
                <a:noFill/>
                <a:tableStyleId>{3D275773-64A0-4169-8177-B0009E08A9DC}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r>
                        <a:t>Платформа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Сложность старта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Интеграция зрения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Real-time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Открытость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ROS2 / MoveIt 2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(1-2 нед.)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Пакетная (CV Bridge)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Ограниченно (DDS)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Открытая (BSD)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LeRobot / SO-100 (HF)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Средняя (часы)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Через ML-модели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Нет (GPU)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Открытая (Apache 2)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FANUC RoboGuide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(сертиф.)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iRVision (проприет.)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(+/-1%)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Закрытая (комм.)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ABB RobotStudio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(обучение)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Встроенная 2D/3D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(+/-2%)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Закрытая (платн.)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RoboDK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Средняя (Python API)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Через внешние SDK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Приближ. (+/-10%)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Полуоткрытая ($)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246642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NVIDIA Isaac Sim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(GPU, USD)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AI-native (CV+ML)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(PhysX 5)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Открытая (беспл.)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771098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Разрабатываемое ПО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Низкая (1 час)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Встроенная (VLM+CV)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(3-15 ms)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Полная (Open Source)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4626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Аппаратная платформа: Dynamixel</a:t>
            </a:r>
          </a:p>
          <a:p>
            <a:pPr>
              <a:spcBef>
                <a:spcPts val="600"/>
              </a:spcBef>
              <a:defRPr sz="1400">
                <a:solidFill>
                  <a:srgbClr val="666666"/>
                </a:solidFill>
              </a:defRPr>
            </a:pPr>
            <a:r>
              <a:t>Выбор сервоприводов для учебного робота-манипулятора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rPr>
                <a:solidFill>
                  <a:schemeClr val="tx1"/>
                </a:solidFill>
              </a:rPr>
              <a:t>6 DOF на Dynamixel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2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Шесть степеней свободы на сервоприводах Dynamixel с обратной связью. Индустриальный стандарт образовательной робототехники.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21600"/>
            <a:ext cx="6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rPr>
                <a:solidFill>
                  <a:schemeClr val="tx1"/>
                </a:solidFill>
              </a:rPr>
              <a:t>Надёжность и точность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7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Встроенный PID-регулятор, 12-битный магнитный энкодер, повторяемость &lt; 0.5°.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71600"/>
            <a:ext cx="6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rPr>
                <a:solidFill>
                  <a:schemeClr val="tx1"/>
                </a:solidFill>
              </a:rPr>
              <a:t>Экосистема ROS2 +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2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Поддержка ROS2, MoveIt 2, Python SDK (DynamixelSDK). Готовые драйверы для Gazebo и MuJoCo.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21600"/>
            <a:ext cx="64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rPr>
                <a:solidFill>
                  <a:schemeClr val="tx1"/>
                </a:solidFill>
              </a:rPr>
              <a:t>Протокол UART @ 1 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7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Прямое управление с задержкой 3-15 ms для замкнутого цикла зрение -&gt; мотор.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1371600"/>
            <a:ext cx="26132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rPr>
                <a:solidFill>
                  <a:schemeClr val="tx1"/>
                </a:solidFill>
              </a:rPr>
              <a:t>Характеристики Dynamixel: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0" y="1700000"/>
            <a:ext cx="42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Степени свободы: 6 (5 осей + gripper)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Разрешение: 0.088° (4096 шагов/оборот)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Скорость: до 3400 step/s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Момент: 0.3-2.0 N.m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Питание: 7.4-12 V DC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Интерфейс: UART/RS-485 Half-Duplex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Протокол: Dynamixel Protocol 2.0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PID: встроенный регулятор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Повторяемость: &lt; 0.5°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Фреймворки: ROS2, MoveIt 2, MuJoCo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Документация: ROBOTIS e-Manual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00000"/>
            <a:ext cx="1127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0070C0"/>
                </a:solidFill>
              </a:defRPr>
            </a:pPr>
            <a:r>
              <a:rPr>
                <a:solidFill>
                  <a:schemeClr val="tx1"/>
                </a:solidFill>
              </a:rPr>
              <a:t>Dynamixel — оптимальный выбор для учебных и исследовательских проектов по робототехнике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7</a:t>
            </a:r>
          </a:p>
        </p:txBody>
      </p:sp>
      <p:sp>
        <p:nvSpPr>
          <p:cNvPr id="298" name="Google Shape;298;p32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/>
              <a:t>Интерфейс оператора</a:t>
            </a:r>
            <a:endParaRPr dirty="0"/>
          </a:p>
        </p:txBody>
      </p:sp>
      <p:pic>
        <p:nvPicPr>
          <p:cNvPr id="400" name="Screenshot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19831" y="1794024"/>
            <a:ext cx="4904924" cy="3269949"/>
          </a:xfrm>
          <a:prstGeom prst="rect">
            <a:avLst/>
          </a:prstGeom>
        </p:spPr>
      </p:pic>
      <p:sp>
        <p:nvSpPr>
          <p:cNvPr id="300" name="Google Shape;300;p32"/>
          <p:cNvSpPr txBox="1"/>
          <p:nvPr/>
        </p:nvSpPr>
        <p:spPr>
          <a:xfrm>
            <a:off x="-7651079" y="2100174"/>
            <a:ext cx="5906700" cy="41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Стек GUI: PyQt5, архитектура MVC. 9 панелей: </a:t>
            </a:r>
            <a:r>
              <a:rPr lang="ru-RU" sz="1600" b="1" dirty="0" err="1">
                <a:solidFill>
                  <a:schemeClr val="dk1"/>
                </a:solidFill>
              </a:rPr>
              <a:t>Dashboard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Jog</a:t>
            </a:r>
            <a:r>
              <a:rPr lang="ru-RU" sz="1600" b="1" dirty="0">
                <a:solidFill>
                  <a:schemeClr val="dk1"/>
                </a:solidFill>
              </a:rPr>
              <a:t>, 3D </a:t>
            </a:r>
            <a:r>
              <a:rPr lang="ru-RU" sz="1600" b="1" dirty="0" err="1">
                <a:solidFill>
                  <a:schemeClr val="dk1"/>
                </a:solidFill>
              </a:rPr>
              <a:t>View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Registers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Teach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Program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Setup</a:t>
            </a:r>
            <a:r>
              <a:rPr lang="ru-RU" sz="1600" b="1" dirty="0">
                <a:solidFill>
                  <a:schemeClr val="dk1"/>
                </a:solidFill>
              </a:rPr>
              <a:t>, XYZ, </a:t>
            </a:r>
            <a:r>
              <a:rPr lang="ru-RU" sz="1600" b="1" dirty="0" err="1">
                <a:solidFill>
                  <a:schemeClr val="dk1"/>
                </a:solidFill>
              </a:rPr>
              <a:t>Alarms</a:t>
            </a:r>
            <a:r>
              <a:rPr lang="ru-RU" sz="1600" b="1" dirty="0">
                <a:solidFill>
                  <a:schemeClr val="dk1"/>
                </a:solidFill>
              </a:rPr>
              <a:t>. Связь UI с сервисами через </a:t>
            </a:r>
            <a:r>
              <a:rPr lang="ru-RU" sz="1600" b="1" dirty="0" err="1">
                <a:solidFill>
                  <a:schemeClr val="dk1"/>
                </a:solidFill>
              </a:rPr>
              <a:t>EventBus</a:t>
            </a:r>
            <a:r>
              <a:rPr lang="ru-RU" sz="1600" b="1" dirty="0">
                <a:solidFill>
                  <a:schemeClr val="dk1"/>
                </a:solidFill>
              </a:rPr>
              <a:t> (</a:t>
            </a:r>
            <a:r>
              <a:rPr lang="ru-RU" sz="1600" b="1" dirty="0" err="1">
                <a:solidFill>
                  <a:schemeClr val="dk1"/>
                </a:solidFill>
              </a:rPr>
              <a:t>Pub-Sub</a:t>
            </a:r>
            <a:r>
              <a:rPr lang="ru-RU" sz="1600" b="1" dirty="0">
                <a:solidFill>
                  <a:schemeClr val="dk1"/>
                </a:solidFill>
              </a:rPr>
              <a:t>).</a:t>
            </a:r>
            <a:endParaRPr lang="ru-RU" dirty="0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3D-визуализация: </a:t>
            </a:r>
            <a:r>
              <a:rPr lang="ru-RU" sz="1600" b="1" dirty="0" err="1">
                <a:solidFill>
                  <a:schemeClr val="dk1"/>
                </a:solidFill>
              </a:rPr>
              <a:t>OpenGL</a:t>
            </a:r>
            <a:r>
              <a:rPr lang="ru-RU" sz="1600" b="1" dirty="0">
                <a:solidFill>
                  <a:schemeClr val="dk1"/>
                </a:solidFill>
              </a:rPr>
              <a:t>, DH-параметры, 60 FPS. Синхронизация с RobotKinematics6DOF в реальном времени. Отображение TCP и промежуточных систем координат.</a:t>
            </a:r>
            <a:endParaRPr lang="ru-RU" dirty="0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Телеметрия: асинхронный </a:t>
            </a:r>
            <a:r>
              <a:rPr lang="ru-RU" sz="1600" b="1" dirty="0" err="1">
                <a:solidFill>
                  <a:schemeClr val="dk1"/>
                </a:solidFill>
              </a:rPr>
              <a:t>polling</a:t>
            </a:r>
            <a:r>
              <a:rPr lang="ru-RU" sz="1600" b="1" dirty="0">
                <a:solidFill>
                  <a:schemeClr val="dk1"/>
                </a:solidFill>
              </a:rPr>
              <a:t> моторов 100 Гц (</a:t>
            </a:r>
            <a:r>
              <a:rPr lang="ru-RU" sz="1600" b="1" dirty="0" err="1">
                <a:solidFill>
                  <a:schemeClr val="dk1"/>
                </a:solidFill>
              </a:rPr>
              <a:t>std</a:t>
            </a:r>
            <a:r>
              <a:rPr lang="ru-RU" sz="1600" b="1" dirty="0">
                <a:solidFill>
                  <a:schemeClr val="dk1"/>
                </a:solidFill>
              </a:rPr>
              <a:t>::</a:t>
            </a:r>
            <a:r>
              <a:rPr lang="ru-RU" sz="1600" b="1" dirty="0" err="1">
                <a:solidFill>
                  <a:schemeClr val="dk1"/>
                </a:solidFill>
              </a:rPr>
              <a:t>thread</a:t>
            </a:r>
            <a:r>
              <a:rPr lang="ru-RU" sz="1600" b="1" dirty="0">
                <a:solidFill>
                  <a:schemeClr val="dk1"/>
                </a:solidFill>
              </a:rPr>
              <a:t>). Графики тока, температуры, напряжения. Экспорт логов в CSV и ROS2 </a:t>
            </a:r>
            <a:r>
              <a:rPr lang="ru-RU" sz="1600" b="1" dirty="0" err="1">
                <a:solidFill>
                  <a:schemeClr val="dk1"/>
                </a:solidFill>
              </a:rPr>
              <a:t>bag</a:t>
            </a:r>
            <a:r>
              <a:rPr lang="ru-RU" sz="1600" b="1" dirty="0">
                <a:solidFill>
                  <a:schemeClr val="dk1"/>
                </a:solidFill>
              </a:rPr>
              <a:t>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A39815-FDEB-4771-AC57-F05659447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8" y="1690670"/>
            <a:ext cx="5990960" cy="4348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8</a:t>
            </a:r>
          </a:p>
        </p:txBody>
      </p:sp>
      <p:sp>
        <p:nvSpPr>
          <p:cNvPr id="307" name="Google Shape;307;p33"/>
          <p:cNvSpPr txBox="1">
            <a:spLocks noGrp="1"/>
          </p:cNvSpPr>
          <p:nvPr>
            <p:ph type="title"/>
          </p:nvPr>
        </p:nvSpPr>
        <p:spPr>
          <a:xfrm>
            <a:off x="838200" y="555175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Вычислительное ядро: Кинематика</a:t>
            </a:r>
            <a:endParaRPr b="1"/>
          </a:p>
        </p:txBody>
      </p:sp>
      <p:pic>
        <p:nvPicPr>
          <p:cNvPr id="309" name="Google Shape;309;p33" title="video-3d-kinimatic.gif"/>
          <p:cNvPicPr preferRelativeResize="0"/>
          <p:nvPr/>
        </p:nvPicPr>
        <p:blipFill rotWithShape="1">
          <a:blip r:embed="rId3">
            <a:alphaModFix/>
          </a:blip>
          <a:srcRect r="23354"/>
          <a:stretch/>
        </p:blipFill>
        <p:spPr>
          <a:xfrm>
            <a:off x="7036122" y="1655850"/>
            <a:ext cx="4832051" cy="354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50F0EA-E025-80F1-9AAB-99A5768DEECC}"/>
              </a:ext>
            </a:extLst>
          </p:cNvPr>
          <p:cNvSpPr txBox="1"/>
          <p:nvPr/>
        </p:nvSpPr>
        <p:spPr>
          <a:xfrm>
            <a:off x="7036121" y="5202150"/>
            <a:ext cx="4832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Интерфейс вычислительного ядра кинематики</a:t>
            </a:r>
            <a:endParaRPr lang="ru-FI" dirty="0"/>
          </a:p>
        </p:txBody>
      </p:sp>
      <p:sp>
        <p:nvSpPr>
          <p:cNvPr id="7" name="Google Shape;308;p33">
            <a:extLst>
              <a:ext uri="{FF2B5EF4-FFF2-40B4-BE49-F238E27FC236}">
                <a16:creationId xmlns:a16="http://schemas.microsoft.com/office/drawing/2014/main" id="{5EE23267-2ABB-43A2-A65F-270467D9D73A}"/>
              </a:ext>
            </a:extLst>
          </p:cNvPr>
          <p:cNvSpPr txBox="1"/>
          <p:nvPr/>
        </p:nvSpPr>
        <p:spPr>
          <a:xfrm>
            <a:off x="838200" y="1738775"/>
            <a:ext cx="6030900" cy="35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 dirty="0">
                <a:solidFill>
                  <a:schemeClr val="dk1"/>
                </a:solidFill>
              </a:rPr>
              <a:t>Концепция :</a:t>
            </a:r>
            <a:r>
              <a:rPr lang="ru-RU" sz="1600" dirty="0">
                <a:solidFill>
                  <a:schemeClr val="dk1"/>
                </a:solidFill>
              </a:rPr>
              <a:t> Математические алгоритмы расчета движений полностью открыты и доступны для модификации, в отличие от закрытых промышленных контроллеров.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 dirty="0">
                <a:solidFill>
                  <a:schemeClr val="dk1"/>
                </a:solidFill>
              </a:rPr>
              <a:t>Прямая кинематика:</a:t>
            </a:r>
            <a:r>
              <a:rPr lang="ru-RU" sz="1600" dirty="0">
                <a:solidFill>
                  <a:schemeClr val="dk1"/>
                </a:solidFill>
              </a:rPr>
              <a:t> Реализация на базе матриц </a:t>
            </a:r>
            <a:r>
              <a:rPr lang="ru-RU" sz="1600" dirty="0" err="1">
                <a:solidFill>
                  <a:schemeClr val="dk1"/>
                </a:solidFill>
              </a:rPr>
              <a:t>Денавита-Хартенберга</a:t>
            </a:r>
            <a:r>
              <a:rPr lang="ru-RU" sz="1600" dirty="0">
                <a:solidFill>
                  <a:schemeClr val="dk1"/>
                </a:solidFill>
              </a:rPr>
              <a:t>. Обеспечивает наглядное изучение процесса пересчета углов суставов в 3D-координаты инструмента.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 dirty="0">
                <a:solidFill>
                  <a:schemeClr val="dk1"/>
                </a:solidFill>
              </a:rPr>
              <a:t>Обратная кинематика</a:t>
            </a:r>
            <a:r>
              <a:rPr lang="en-US" sz="1600" b="1" dirty="0">
                <a:solidFill>
                  <a:schemeClr val="dk1"/>
                </a:solidFill>
              </a:rPr>
              <a:t>:</a:t>
            </a:r>
            <a:r>
              <a:rPr lang="ru-RU" sz="1600" dirty="0">
                <a:solidFill>
                  <a:schemeClr val="dk1"/>
                </a:solidFill>
              </a:rPr>
              <a:t> Встроенный решатель методом демпфированных наименьших квадратов . Подходит для безопасного и простого решения студентами проблем мертвых зон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9</a:t>
            </a:r>
          </a:p>
        </p:txBody>
      </p:sp>
      <p:sp>
        <p:nvSpPr>
          <p:cNvPr id="316" name="Google Shape;316;p34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Система технического зрения</a:t>
            </a:r>
            <a:endParaRPr/>
          </a:p>
        </p:txBody>
      </p:sp>
      <p:pic>
        <p:nvPicPr>
          <p:cNvPr id="2" name="YTMP3GG_YouTube_Lerobot-Example-reCamera-with-lerobot-SO_Media_VlDrHc7C218_002_720p.mp4">
            <a:hlinkClick r:id="" action="ppaction://media"/>
            <a:extLst>
              <a:ext uri="{FF2B5EF4-FFF2-40B4-BE49-F238E27FC236}">
                <a16:creationId xmlns:a16="http://schemas.microsoft.com/office/drawing/2014/main" id="{E2D29B29-F265-1D2D-E77E-D100825744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8100"/>
          <a:stretch>
            <a:fillRect/>
          </a:stretch>
        </p:blipFill>
        <p:spPr>
          <a:xfrm>
            <a:off x="590250" y="1828799"/>
            <a:ext cx="4086974" cy="28069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D271A-46B8-1F92-5D75-C75F4255297C}"/>
              </a:ext>
            </a:extLst>
          </p:cNvPr>
          <p:cNvSpPr txBox="1"/>
          <p:nvPr/>
        </p:nvSpPr>
        <p:spPr>
          <a:xfrm>
            <a:off x="590250" y="4859079"/>
            <a:ext cx="414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Видео распознавания </a:t>
            </a:r>
            <a:r>
              <a:rPr lang="ru-RU" dirty="0" err="1">
                <a:solidFill>
                  <a:schemeClr val="dk1"/>
                </a:solidFill>
              </a:rPr>
              <a:t>ArUco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маркеров</a:t>
            </a:r>
            <a:r>
              <a:rPr lang="ru-RU" dirty="0"/>
              <a:t> </a:t>
            </a:r>
            <a:endParaRPr lang="ru-FI" dirty="0"/>
          </a:p>
        </p:txBody>
      </p:sp>
      <p:sp>
        <p:nvSpPr>
          <p:cNvPr id="7" name="Google Shape;317;p34">
            <a:extLst>
              <a:ext uri="{FF2B5EF4-FFF2-40B4-BE49-F238E27FC236}">
                <a16:creationId xmlns:a16="http://schemas.microsoft.com/office/drawing/2014/main" id="{849D3962-A1BF-4477-9CFB-8202E1E0F014}"/>
              </a:ext>
            </a:extLst>
          </p:cNvPr>
          <p:cNvSpPr txBox="1"/>
          <p:nvPr/>
        </p:nvSpPr>
        <p:spPr>
          <a:xfrm>
            <a:off x="4737150" y="1690675"/>
            <a:ext cx="6864600" cy="3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 dirty="0">
                <a:solidFill>
                  <a:schemeClr val="dk1"/>
                </a:solidFill>
              </a:rPr>
              <a:t>Доступность для компьютерных классов:</a:t>
            </a:r>
            <a:r>
              <a:rPr lang="ru-RU" sz="1600" dirty="0">
                <a:solidFill>
                  <a:schemeClr val="dk1"/>
                </a:solidFill>
              </a:rPr>
              <a:t> Базовый модуль построен на легких алгоритмах </a:t>
            </a:r>
            <a:r>
              <a:rPr lang="ru-RU" sz="1600" dirty="0" err="1">
                <a:solidFill>
                  <a:schemeClr val="dk1"/>
                </a:solidFill>
              </a:rPr>
              <a:t>OpenCV</a:t>
            </a:r>
            <a:r>
              <a:rPr lang="ru-RU" sz="1600" dirty="0">
                <a:solidFill>
                  <a:schemeClr val="dk1"/>
                </a:solidFill>
              </a:rPr>
              <a:t> (HSV-сегментация, </a:t>
            </a:r>
            <a:r>
              <a:rPr lang="ru-RU" sz="1600" dirty="0" err="1">
                <a:solidFill>
                  <a:schemeClr val="dk1"/>
                </a:solidFill>
              </a:rPr>
              <a:t>ArUco</a:t>
            </a:r>
            <a:r>
              <a:rPr lang="ru-RU" sz="1600" dirty="0">
                <a:solidFill>
                  <a:schemeClr val="dk1"/>
                </a:solidFill>
              </a:rPr>
              <a:t>). Это позволяет вузу проводить лабораторные работы на обычных ПК без закупки дорогостоящих видеокарт.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 dirty="0">
                <a:solidFill>
                  <a:schemeClr val="dk1"/>
                </a:solidFill>
              </a:rPr>
              <a:t>Практическая прикладная математика:</a:t>
            </a:r>
            <a:r>
              <a:rPr lang="ru-RU" sz="1600" dirty="0">
                <a:solidFill>
                  <a:schemeClr val="dk1"/>
                </a:solidFill>
              </a:rPr>
              <a:t> Студенты осваивают классическую задачу «Eye-</a:t>
            </a:r>
            <a:r>
              <a:rPr lang="ru-RU" sz="1600" dirty="0" err="1">
                <a:solidFill>
                  <a:schemeClr val="dk1"/>
                </a:solidFill>
              </a:rPr>
              <a:t>to</a:t>
            </a:r>
            <a:r>
              <a:rPr lang="ru-RU" sz="1600" dirty="0">
                <a:solidFill>
                  <a:schemeClr val="dk1"/>
                </a:solidFill>
              </a:rPr>
              <a:t>-</a:t>
            </a:r>
            <a:r>
              <a:rPr lang="ru-RU" sz="1600" dirty="0" err="1">
                <a:solidFill>
                  <a:schemeClr val="dk1"/>
                </a:solidFill>
              </a:rPr>
              <a:t>Hand</a:t>
            </a:r>
            <a:r>
              <a:rPr lang="ru-RU" sz="1600" dirty="0">
                <a:solidFill>
                  <a:schemeClr val="dk1"/>
                </a:solidFill>
              </a:rPr>
              <a:t>», самостоятельно программируя математический пересчет плоских координат с веб-камеры в физические координаты рабочей зоны робота.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 dirty="0">
                <a:solidFill>
                  <a:schemeClr val="dk1"/>
                </a:solidFill>
              </a:rPr>
              <a:t>Основы автономности:</a:t>
            </a:r>
            <a:r>
              <a:rPr lang="ru-RU" sz="1600" dirty="0">
                <a:solidFill>
                  <a:schemeClr val="dk1"/>
                </a:solidFill>
              </a:rPr>
              <a:t> Комплекс позволяет обучающимся перейти от «слепого» движения по жестким скриптам к созданию адаптивных систем, реагирующих на перемещение объектов в реальном времени.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10</a:t>
            </a:r>
          </a:p>
        </p:txBody>
      </p:sp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Web-интерфейс и REST API</a:t>
            </a:r>
            <a:endParaRPr b="1"/>
          </a:p>
        </p:txBody>
      </p:sp>
      <p:sp>
        <p:nvSpPr>
          <p:cNvPr id="7" name="Google Shape;326;p35">
            <a:extLst>
              <a:ext uri="{FF2B5EF4-FFF2-40B4-BE49-F238E27FC236}">
                <a16:creationId xmlns:a16="http://schemas.microsoft.com/office/drawing/2014/main" id="{6A71C379-F247-4C94-95DA-C6D51E24FDC9}"/>
              </a:ext>
            </a:extLst>
          </p:cNvPr>
          <p:cNvSpPr txBox="1"/>
          <p:nvPr/>
        </p:nvSpPr>
        <p:spPr>
          <a:xfrm>
            <a:off x="838200" y="1690675"/>
            <a:ext cx="3000000" cy="324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</a:rPr>
              <a:t>Кроссплатформенная доступность (</a:t>
            </a:r>
            <a:r>
              <a:rPr lang="ru-RU" sz="1600" b="1" dirty="0" err="1">
                <a:solidFill>
                  <a:schemeClr val="dk1"/>
                </a:solidFill>
              </a:rPr>
              <a:t>WebSockets</a:t>
            </a:r>
            <a:r>
              <a:rPr lang="ru-RU" sz="1600" b="1" dirty="0">
                <a:solidFill>
                  <a:schemeClr val="dk1"/>
                </a:solidFill>
              </a:rPr>
              <a:t>):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-RU" sz="1600" dirty="0">
                <a:solidFill>
                  <a:schemeClr val="dk1"/>
                </a:solidFill>
              </a:rPr>
              <a:t>Управление стендом осуществляется с любого устройства (смартфон, планшет) через браузер. Исключается необходимость установки сложного ПО на персональные компьютеры студентов в классе.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8" name="Google Shape;327;p35">
            <a:extLst>
              <a:ext uri="{FF2B5EF4-FFF2-40B4-BE49-F238E27FC236}">
                <a16:creationId xmlns:a16="http://schemas.microsoft.com/office/drawing/2014/main" id="{E0498F88-09A6-4EFF-8E93-C841CB58AB85}"/>
              </a:ext>
            </a:extLst>
          </p:cNvPr>
          <p:cNvSpPr txBox="1"/>
          <p:nvPr/>
        </p:nvSpPr>
        <p:spPr>
          <a:xfrm>
            <a:off x="4596000" y="1690675"/>
            <a:ext cx="3000000" cy="35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dk1"/>
                </a:solidFill>
              </a:rPr>
              <a:t>Распределенный доступ (REST API):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-RU" sz="1600" dirty="0">
                <a:solidFill>
                  <a:schemeClr val="dk1"/>
                </a:solidFill>
              </a:rPr>
              <a:t>Инфраструктура сервера позволяет целой учебной подгруппе одновременно подключаться к одному роботу, запрашивать высокочастотную телеметрию и тестировать свои алгоритмы со своих рабочих мест.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9" name="Google Shape;328;p35">
            <a:extLst>
              <a:ext uri="{FF2B5EF4-FFF2-40B4-BE49-F238E27FC236}">
                <a16:creationId xmlns:a16="http://schemas.microsoft.com/office/drawing/2014/main" id="{BA1B02EC-C0BC-4304-87EA-19C3FE5859B3}"/>
              </a:ext>
            </a:extLst>
          </p:cNvPr>
          <p:cNvSpPr txBox="1"/>
          <p:nvPr/>
        </p:nvSpPr>
        <p:spPr>
          <a:xfrm>
            <a:off x="8353800" y="1690675"/>
            <a:ext cx="3000000" cy="2963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dk1"/>
                </a:solidFill>
              </a:rPr>
              <a:t>Автодокументируемый код (Swagger/OpenAPI):</a:t>
            </a:r>
            <a:r>
              <a:rPr lang="ru-RU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Встроенная интерактивная документация служит готовым учебным пособием для студентов, изучающих принципы построения современных распределенных систем.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11</a:t>
            </a:r>
          </a:p>
        </p:txBody>
      </p:sp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1"/>
              <a:t>Web-интерфейс</a:t>
            </a:r>
            <a:endParaRPr b="1"/>
          </a:p>
        </p:txBody>
      </p:sp>
      <p:sp>
        <p:nvSpPr>
          <p:cNvPr id="339" name="Google Shape;339;p36"/>
          <p:cNvSpPr txBox="1"/>
          <p:nvPr/>
        </p:nvSpPr>
        <p:spPr>
          <a:xfrm>
            <a:off x="5848350" y="5760650"/>
            <a:ext cx="45015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dirty="0">
                <a:solidFill>
                  <a:schemeClr val="dk2"/>
                </a:solidFill>
              </a:rPr>
              <a:t>Архитектура </a:t>
            </a:r>
            <a:r>
              <a:rPr lang="ru-RU" sz="1700" dirty="0" err="1">
                <a:solidFill>
                  <a:schemeClr val="dk2"/>
                </a:solidFill>
              </a:rPr>
              <a:t>web</a:t>
            </a:r>
            <a:r>
              <a:rPr lang="ru-RU" sz="1700" dirty="0">
                <a:solidFill>
                  <a:schemeClr val="dk2"/>
                </a:solidFill>
              </a:rPr>
              <a:t>-приложения: </a:t>
            </a:r>
            <a:r>
              <a:rPr lang="ru-RU" sz="1700" dirty="0" err="1">
                <a:solidFill>
                  <a:schemeClr val="dk2"/>
                </a:solidFill>
              </a:rPr>
              <a:t>React</a:t>
            </a:r>
            <a:r>
              <a:rPr lang="ru-RU" sz="1700" dirty="0">
                <a:solidFill>
                  <a:schemeClr val="dk2"/>
                </a:solidFill>
              </a:rPr>
              <a:t> + </a:t>
            </a:r>
            <a:r>
              <a:rPr lang="ru-RU" sz="1700" dirty="0" err="1">
                <a:solidFill>
                  <a:schemeClr val="dk2"/>
                </a:solidFill>
              </a:rPr>
              <a:t>FastAPI</a:t>
            </a:r>
            <a:r>
              <a:rPr lang="ru-RU" sz="1700" dirty="0">
                <a:solidFill>
                  <a:schemeClr val="dk2"/>
                </a:solidFill>
              </a:rPr>
              <a:t> + </a:t>
            </a:r>
            <a:r>
              <a:rPr lang="ru-RU" sz="1700" dirty="0" err="1">
                <a:solidFill>
                  <a:schemeClr val="dk2"/>
                </a:solidFill>
              </a:rPr>
              <a:t>WebSocket</a:t>
            </a:r>
            <a:endParaRPr sz="1600" dirty="0">
              <a:solidFill>
                <a:schemeClr val="dk2"/>
              </a:solidFill>
            </a:endParaRPr>
          </a:p>
        </p:txBody>
      </p:sp>
      <p:pic>
        <p:nvPicPr>
          <p:cNvPr id="8" name="Google Shape;337;p36">
            <a:extLst>
              <a:ext uri="{FF2B5EF4-FFF2-40B4-BE49-F238E27FC236}">
                <a16:creationId xmlns:a16="http://schemas.microsoft.com/office/drawing/2014/main" id="{A022AF2E-F8FD-489D-AA3C-F5DC3BA135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290" b="39324"/>
          <a:stretch/>
        </p:blipFill>
        <p:spPr>
          <a:xfrm>
            <a:off x="5752049" y="1343025"/>
            <a:ext cx="5662005" cy="4386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web_arch_slide.png">
            <a:extLst>
              <a:ext uri="{FF2B5EF4-FFF2-40B4-BE49-F238E27FC236}">
                <a16:creationId xmlns:a16="http://schemas.microsoft.com/office/drawing/2014/main" id="{CD83B739-35DD-43F7-9296-C03A0E0D2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39934"/>
            <a:ext cx="4840732" cy="18890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12</a:t>
            </a:r>
          </a:p>
        </p:txBody>
      </p:sp>
      <p:sp>
        <p:nvSpPr>
          <p:cNvPr id="346" name="Google Shape;346;p37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Интеграция с экосистемой ROS2</a:t>
            </a:r>
            <a:endParaRPr sz="3600"/>
          </a:p>
        </p:txBody>
      </p:sp>
      <p:sp>
        <p:nvSpPr>
          <p:cNvPr id="347" name="Google Shape;347;p37"/>
          <p:cNvSpPr txBox="1"/>
          <p:nvPr/>
        </p:nvSpPr>
        <p:spPr>
          <a:xfrm>
            <a:off x="838200" y="1524542"/>
            <a:ext cx="3809557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b="1" dirty="0">
                <a:solidFill>
                  <a:schemeClr val="dk1"/>
                </a:solidFill>
              </a:rPr>
              <a:t>Пакет robot_control: узлы joint_state_publisher (публикация JointState), arm_commander (приём joint_cmd), vision_bridge (мост с OpenCV). URDF/xacro модель робота в resource/robot_control.urdf.</a:t>
            </a:r>
            <a:endParaRPr lang="ru-RU"/>
          </a:p>
        </p:txBody>
      </p:sp>
      <p:sp>
        <p:nvSpPr>
          <p:cNvPr id="348" name="Google Shape;348;p37"/>
          <p:cNvSpPr txBox="1"/>
          <p:nvPr/>
        </p:nvSpPr>
        <p:spPr>
          <a:xfrm>
            <a:off x="4544242" y="1524542"/>
            <a:ext cx="3809557" cy="1902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b="1" dirty="0">
                <a:solidFill>
                  <a:schemeClr val="dk1"/>
                </a:solidFill>
              </a:rPr>
              <a:t>Топики: /robot/joint_states (sensor_msgs/JointState), /robot/joint_cmd. ros2_control Hardware Interface bridge. ROS2 bag: синхронная запись Image + JointState для ML-датасетов.</a:t>
            </a:r>
            <a:endParaRPr lang="ru-RU"/>
          </a:p>
        </p:txBody>
      </p:sp>
      <p:sp>
        <p:nvSpPr>
          <p:cNvPr id="349" name="Google Shape;349;p37"/>
          <p:cNvSpPr txBox="1"/>
          <p:nvPr/>
        </p:nvSpPr>
        <p:spPr>
          <a:xfrm>
            <a:off x="8353799" y="1524542"/>
            <a:ext cx="3514371" cy="214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b="1" dirty="0">
                <a:solidFill>
                  <a:schemeClr val="dk1"/>
                </a:solidFill>
              </a:rPr>
              <a:t>Архитектура ROS2: пакет robot_control, MuJoCo bridge</a:t>
            </a:r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21D729-B606-42F5-80E2-0A503A347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60594"/>
            <a:ext cx="8877300" cy="26106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5" name="Google Shape;355;p3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56" name="Google Shape;356;p38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Спасибо за внимание </a:t>
            </a:r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5C4F2E1-2653-322F-06CE-0D531C4A38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14</a:t>
            </a:r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DCE7EA9-15E7-670F-0165-18C1263D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FI" dirty="0"/>
              <a:t>Визуализация в </a:t>
            </a:r>
            <a:r>
              <a:rPr lang="en-US" dirty="0" err="1"/>
              <a:t>mujoco</a:t>
            </a:r>
            <a:endParaRPr lang="ru-FI" dirty="0"/>
          </a:p>
        </p:txBody>
      </p:sp>
      <p:pic>
        <p:nvPicPr>
          <p:cNvPr id="6" name="show1.gif.mp4">
            <a:hlinkClick r:id="" action="ppaction://media"/>
            <a:extLst>
              <a:ext uri="{FF2B5EF4-FFF2-40B4-BE49-F238E27FC236}">
                <a16:creationId xmlns:a16="http://schemas.microsoft.com/office/drawing/2014/main" id="{034A2048-DD0F-0F23-A8B7-CB8DFAF5B2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35126" y="1564462"/>
            <a:ext cx="7458149" cy="37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8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8" name="Google Shape;218;p28"/>
          <p:cNvCxnSpPr/>
          <p:nvPr/>
        </p:nvCxnSpPr>
        <p:spPr>
          <a:xfrm>
            <a:off x="838200" y="1524000"/>
            <a:ext cx="105156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p28"/>
          <p:cNvSpPr txBox="1"/>
          <p:nvPr/>
        </p:nvSpPr>
        <p:spPr>
          <a:xfrm>
            <a:off x="838200" y="47625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ru-RU" sz="3060" b="1">
                <a:solidFill>
                  <a:srgbClr val="000000"/>
                </a:solidFill>
              </a:rPr>
              <a:t>Фундаментальный уровень: протоколы -&gt; кинематика -&gt; управление</a:t>
            </a:r>
          </a:p>
        </p:txBody>
      </p:sp>
      <p:sp>
        <p:nvSpPr>
          <p:cNvPr id="220" name="Google Shape;220;p28"/>
          <p:cNvSpPr txBox="1"/>
          <p:nvPr/>
        </p:nvSpPr>
        <p:spPr>
          <a:xfrm>
            <a:off x="838200" y="1666875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/>
            <a:r>
              <a:rPr lang="ru-RU" sz="1665">
                <a:solidFill>
                  <a:srgbClr val="333333"/>
                </a:solidFill>
              </a:rPr>
              <a:t>Архитектура ПО: HAL-драйвер Dynamixel (UART) -&gt; KinematicsService (DH/IK) -&gt; WebSocket/ROS2 bridge. DI Container (ленивая инициализация, singleton). BaseService (Template Method: init -&gt; start -&gt; stop). EventBus (Pub-Sub, weak references, priority).</a:t>
            </a:r>
            <a:endParaRPr lang="ru-RU"/>
          </a:p>
        </p:txBody>
      </p:sp>
      <p:grpSp>
        <p:nvGrpSpPr>
          <p:cNvPr id="221" name="Google Shape;221;p28"/>
          <p:cNvGrpSpPr/>
          <p:nvPr/>
        </p:nvGrpSpPr>
        <p:grpSpPr>
          <a:xfrm>
            <a:off x="838200" y="2286000"/>
            <a:ext cx="3333900" cy="3238500"/>
            <a:chOff x="0" y="0"/>
            <a:chExt cx="3333900" cy="3238500"/>
          </a:xfrm>
        </p:grpSpPr>
        <p:sp>
          <p:nvSpPr>
            <p:cNvPr id="222" name="Google Shape;222;p28"/>
            <p:cNvSpPr/>
            <p:nvPr/>
          </p:nvSpPr>
          <p:spPr>
            <a:xfrm>
              <a:off x="0" y="0"/>
              <a:ext cx="3333900" cy="3238500"/>
            </a:xfrm>
            <a:prstGeom prst="roundRect">
              <a:avLst>
                <a:gd name="adj" fmla="val 5882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8"/>
            <p:cNvSpPr txBox="1"/>
            <p:nvPr/>
          </p:nvSpPr>
          <p:spPr>
            <a:xfrm>
              <a:off x="190500" y="0"/>
              <a:ext cx="2952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000000"/>
                  </a:solidFill>
                </a:rPr>
                <a:t>Низкий уровень</a:t>
              </a:r>
              <a:endParaRPr sz="1600" b="1">
                <a:solidFill>
                  <a:srgbClr val="000000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Освоение полудуплексной связи UART/RS-485 (до 1 Мбод)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Опрос регистров приводов Dynamixel: позиция, ток, температура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Реализация Safety Clamping (экстренное торможение)</a:t>
              </a:r>
              <a:endParaRPr sz="1400">
                <a:solidFill>
                  <a:srgbClr val="333333"/>
                </a:solidFill>
              </a:endParaRPr>
            </a:p>
          </p:txBody>
        </p:sp>
      </p:grpSp>
      <p:grpSp>
        <p:nvGrpSpPr>
          <p:cNvPr id="224" name="Google Shape;224;p28"/>
          <p:cNvGrpSpPr/>
          <p:nvPr/>
        </p:nvGrpSpPr>
        <p:grpSpPr>
          <a:xfrm>
            <a:off x="8020050" y="2286000"/>
            <a:ext cx="3333900" cy="3238500"/>
            <a:chOff x="0" y="0"/>
            <a:chExt cx="3333900" cy="3238500"/>
          </a:xfrm>
        </p:grpSpPr>
        <p:sp>
          <p:nvSpPr>
            <p:cNvPr id="225" name="Google Shape;225;p28"/>
            <p:cNvSpPr/>
            <p:nvPr/>
          </p:nvSpPr>
          <p:spPr>
            <a:xfrm>
              <a:off x="0" y="0"/>
              <a:ext cx="3333900" cy="3238500"/>
            </a:xfrm>
            <a:prstGeom prst="roundRect">
              <a:avLst>
                <a:gd name="adj" fmla="val 5882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 txBox="1"/>
            <p:nvPr/>
          </p:nvSpPr>
          <p:spPr>
            <a:xfrm>
              <a:off x="190500" y="0"/>
              <a:ext cx="2952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000000"/>
                  </a:solidFill>
                </a:rPr>
                <a:t>Математика (ТММ)</a:t>
              </a:r>
              <a:endParaRPr sz="1600" b="1">
                <a:solidFill>
                  <a:srgbClr val="000000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FK: Построение матриц преобразований Денавита–Хартенберга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IK: Алгоритм демпфированных наименьших квадратов (DLS)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Обход сингулярностей при вычислении углов</a:t>
              </a:r>
              <a:endParaRPr sz="1400">
                <a:solidFill>
                  <a:srgbClr val="333333"/>
                </a:solidFill>
              </a:endParaRPr>
            </a:p>
          </p:txBody>
        </p:sp>
      </p:grpSp>
      <p:grpSp>
        <p:nvGrpSpPr>
          <p:cNvPr id="227" name="Google Shape;227;p28"/>
          <p:cNvGrpSpPr/>
          <p:nvPr/>
        </p:nvGrpSpPr>
        <p:grpSpPr>
          <a:xfrm>
            <a:off x="833450" y="5710250"/>
            <a:ext cx="8769300" cy="866700"/>
            <a:chOff x="-4750" y="-4750"/>
            <a:chExt cx="8769300" cy="866700"/>
          </a:xfrm>
        </p:grpSpPr>
        <p:pic>
          <p:nvPicPr>
            <p:cNvPr id="228" name="Google Shape;228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750" y="-4750"/>
              <a:ext cx="8769300" cy="8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8"/>
            <p:cNvSpPr txBox="1"/>
            <p:nvPr/>
          </p:nvSpPr>
          <p:spPr>
            <a:xfrm>
              <a:off x="157933" y="95263"/>
              <a:ext cx="8443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-RU" sz="1200">
                  <a:solidFill>
                    <a:srgbClr val="444444"/>
                  </a:solidFill>
                </a:rPr>
                <a:t>«На первом этапе стенд — прозрачная среда. Студенты сами программируют протоколы и IK-алгоритмы. Модуль безопасности гарантирует, что ошибки в расчетах не приведут к поломке оборудования».</a:t>
              </a:r>
              <a:endParaRPr sz="1200">
                <a:solidFill>
                  <a:srgbClr val="444444"/>
                </a:solidFill>
              </a:endParaRPr>
            </a:p>
          </p:txBody>
        </p:sp>
      </p:grpSp>
      <p:pic>
        <p:nvPicPr>
          <p:cNvPr id="230" name="Google Shape;230;p28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8"/>
          <p:cNvGrpSpPr/>
          <p:nvPr/>
        </p:nvGrpSpPr>
        <p:grpSpPr>
          <a:xfrm>
            <a:off x="4429125" y="2286000"/>
            <a:ext cx="3333900" cy="3238500"/>
            <a:chOff x="0" y="0"/>
            <a:chExt cx="3333900" cy="3238500"/>
          </a:xfrm>
        </p:grpSpPr>
        <p:sp>
          <p:nvSpPr>
            <p:cNvPr id="232" name="Google Shape;232;p28"/>
            <p:cNvSpPr/>
            <p:nvPr/>
          </p:nvSpPr>
          <p:spPr>
            <a:xfrm>
              <a:off x="0" y="0"/>
              <a:ext cx="3333900" cy="3238500"/>
            </a:xfrm>
            <a:prstGeom prst="roundRect">
              <a:avLst>
                <a:gd name="adj" fmla="val 5882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 txBox="1"/>
            <p:nvPr/>
          </p:nvSpPr>
          <p:spPr>
            <a:xfrm>
              <a:off x="190500" y="0"/>
              <a:ext cx="2952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000000"/>
                  </a:solidFill>
                </a:rPr>
                <a:t>Прикладной уровень</a:t>
              </a:r>
              <a:endParaRPr sz="1600" b="1">
                <a:solidFill>
                  <a:srgbClr val="000000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Dependency Injection и Event Bus для модульности ядра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Микросервисы: FastAPI для Web, интеграция в ROS2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Сбор датасетов для автономного интеллекта</a:t>
              </a:r>
              <a:endParaRPr sz="1400">
                <a:solidFill>
                  <a:srgbClr val="333333"/>
                </a:solidFill>
              </a:endParaRPr>
            </a:p>
          </p:txBody>
        </p:sp>
      </p:grpSp>
      <p:sp>
        <p:nvSpPr>
          <p:cNvPr id="234" name="Google Shape;234;p28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56437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/>
        </p:nvSpPr>
        <p:spPr>
          <a:xfrm>
            <a:off x="838200" y="47625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ru-RU" sz="2800" b="1">
                <a:solidFill>
                  <a:srgbClr val="000000"/>
                </a:solidFill>
              </a:rPr>
              <a:t>Data Engineering: Цифровые двойники и пайплайн данных</a:t>
            </a:r>
          </a:p>
        </p:txBody>
      </p:sp>
      <p:sp>
        <p:nvSpPr>
          <p:cNvPr id="246" name="Google Shape;246;p29"/>
          <p:cNvSpPr txBox="1"/>
          <p:nvPr/>
        </p:nvSpPr>
        <p:spPr>
          <a:xfrm>
            <a:off x="838200" y="133350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/>
            <a:r>
              <a:rPr lang="ru-RU" sz="1500">
                <a:solidFill>
                  <a:srgbClr val="333333"/>
                </a:solidFill>
              </a:rPr>
              <a:t>Пайплайн данных: ROS2 bag (Image + JointState) -&gt; синхронизация по временным меткам -&gt; экспорт HDF5/WebDataset. Цифровой двойник MuJoCo генерирует синтетические данные для augment-датасета. RL-среда: Gymnasium (18-dim observation, 7-dim action).</a:t>
            </a:r>
            <a:endParaRPr lang="ru-RU"/>
          </a:p>
        </p:txBody>
      </p:sp>
      <p:grpSp>
        <p:nvGrpSpPr>
          <p:cNvPr id="247" name="Google Shape;247;p29"/>
          <p:cNvGrpSpPr/>
          <p:nvPr/>
        </p:nvGrpSpPr>
        <p:grpSpPr>
          <a:xfrm>
            <a:off x="838200" y="1905000"/>
            <a:ext cx="5143500" cy="3429000"/>
            <a:chOff x="0" y="0"/>
            <a:chExt cx="5143500" cy="3429000"/>
          </a:xfrm>
        </p:grpSpPr>
        <p:sp>
          <p:nvSpPr>
            <p:cNvPr id="248" name="Google Shape;248;p29"/>
            <p:cNvSpPr/>
            <p:nvPr/>
          </p:nvSpPr>
          <p:spPr>
            <a:xfrm>
              <a:off x="0" y="0"/>
              <a:ext cx="5143500" cy="34290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9"/>
            <p:cNvSpPr txBox="1"/>
            <p:nvPr/>
          </p:nvSpPr>
          <p:spPr>
            <a:xfrm>
              <a:off x="190500" y="0"/>
              <a:ext cx="4762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 b="1">
                  <a:solidFill>
                    <a:srgbClr val="000000"/>
                  </a:solidFill>
                </a:rPr>
                <a:t>1. Цифровой двойник и MuJoCo</a:t>
              </a:r>
              <a:endParaRPr sz="2000" b="1">
                <a:solidFill>
                  <a:srgbClr val="000000"/>
                </a:solidFill>
              </a:endParaRPr>
            </a:p>
            <a:p>
              <a:pPr marL="457200" lvl="0" indent="-32385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Среда MuJoCo:</a:t>
              </a:r>
              <a:r>
                <a:rPr lang="ru-RU" sz="1500">
                  <a:solidFill>
                    <a:srgbClr val="333333"/>
                  </a:solidFill>
                </a:rPr>
                <a:t> Программная генерация точной MJCF-модели с Gym-интерфейсом.</a:t>
              </a:r>
              <a:endParaRPr sz="1500">
                <a:solidFill>
                  <a:srgbClr val="333333"/>
                </a:solidFill>
              </a:endParaRPr>
            </a:p>
            <a:p>
              <a:pPr marL="457200" lvl="0" indent="-32385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SimToRealMirror:</a:t>
              </a:r>
              <a:r>
                <a:rPr lang="ru-RU" sz="1500">
                  <a:solidFill>
                    <a:srgbClr val="333333"/>
                  </a:solidFill>
                </a:rPr>
                <a:t> Валидация траекторий в симуляции и перенос на реальный манипулятор в один клик.</a:t>
              </a:r>
              <a:endParaRPr sz="1500">
                <a:solidFill>
                  <a:srgbClr val="333333"/>
                </a:solidFill>
              </a:endParaRPr>
            </a:p>
          </p:txBody>
        </p:sp>
      </p:grpSp>
      <p:grpSp>
        <p:nvGrpSpPr>
          <p:cNvPr id="250" name="Google Shape;250;p29"/>
          <p:cNvGrpSpPr/>
          <p:nvPr/>
        </p:nvGrpSpPr>
        <p:grpSpPr>
          <a:xfrm>
            <a:off x="6191250" y="1905000"/>
            <a:ext cx="5143500" cy="3429000"/>
            <a:chOff x="0" y="0"/>
            <a:chExt cx="5143500" cy="3429000"/>
          </a:xfrm>
        </p:grpSpPr>
        <p:sp>
          <p:nvSpPr>
            <p:cNvPr id="251" name="Google Shape;251;p29"/>
            <p:cNvSpPr/>
            <p:nvPr/>
          </p:nvSpPr>
          <p:spPr>
            <a:xfrm>
              <a:off x="0" y="0"/>
              <a:ext cx="5143500" cy="34290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9"/>
            <p:cNvSpPr txBox="1"/>
            <p:nvPr/>
          </p:nvSpPr>
          <p:spPr>
            <a:xfrm>
              <a:off x="190500" y="0"/>
              <a:ext cx="4762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 b="1">
                  <a:solidFill>
                    <a:srgbClr val="000000"/>
                  </a:solidFill>
                </a:rPr>
                <a:t>2. Сбор и форматирование</a:t>
              </a:r>
              <a:endParaRPr sz="2000" b="1">
                <a:solidFill>
                  <a:srgbClr val="000000"/>
                </a:solidFill>
              </a:endParaRPr>
            </a:p>
            <a:p>
              <a:pPr marL="457200" lvl="0" indent="-32385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Телеоперация:</a:t>
              </a:r>
              <a:r>
                <a:rPr lang="ru-RU" sz="1500">
                  <a:solidFill>
                    <a:srgbClr val="333333"/>
                  </a:solidFill>
                </a:rPr>
                <a:t> Запись экспертных демонстраций через Leader-Follower.</a:t>
              </a:r>
              <a:endParaRPr sz="1500">
                <a:solidFill>
                  <a:srgbClr val="333333"/>
                </a:solidFill>
              </a:endParaRPr>
            </a:p>
            <a:p>
              <a:pPr marL="457200" lvl="0" indent="-32385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Мультимодальность:</a:t>
              </a:r>
              <a:r>
                <a:rPr lang="ru-RU" sz="1500">
                  <a:solidFill>
                    <a:srgbClr val="333333"/>
                  </a:solidFill>
                </a:rPr>
                <a:t> Синхронизация видео (MP4) и телеметрии суставов (Apache Parquet).</a:t>
              </a:r>
              <a:endParaRPr sz="1500">
                <a:solidFill>
                  <a:srgbClr val="333333"/>
                </a:solidFill>
              </a:endParaRPr>
            </a:p>
            <a:p>
              <a:pPr marL="457200" lvl="0" indent="-32385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Chunking:</a:t>
              </a:r>
              <a:r>
                <a:rPr lang="ru-RU" sz="1500">
                  <a:solidFill>
                    <a:srgbClr val="333333"/>
                  </a:solidFill>
                </a:rPr>
                <a:t> Оптимизация агрегации данных для снижения нагрузки на диски при обучении.</a:t>
              </a:r>
              <a:endParaRPr sz="1500">
                <a:solidFill>
                  <a:srgbClr val="333333"/>
                </a:solidFill>
              </a:endParaRPr>
            </a:p>
          </p:txBody>
        </p:sp>
      </p:grpSp>
      <p:sp>
        <p:nvSpPr>
          <p:cNvPr id="253" name="Google Shape;253;p29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65924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/>
        </p:nvSpPr>
        <p:spPr>
          <a:xfrm>
            <a:off x="838200" y="428625"/>
            <a:ext cx="100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ru-RU" sz="2831" b="1">
                <a:solidFill>
                  <a:srgbClr val="000000"/>
                </a:solidFill>
              </a:rPr>
              <a:t>Искусственный интеллект: от OpenCV к VLA-моделям</a:t>
            </a:r>
          </a:p>
        </p:txBody>
      </p:sp>
      <p:sp>
        <p:nvSpPr>
          <p:cNvPr id="265" name="Google Shape;265;p30"/>
          <p:cNvSpPr txBox="1"/>
          <p:nvPr/>
        </p:nvSpPr>
        <p:spPr>
          <a:xfrm>
            <a:off x="838200" y="1328419"/>
            <a:ext cx="10477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/>
            <a:r>
              <a:rPr lang="ru-RU" sz="1600">
                <a:solidFill>
                  <a:srgbClr val="333333"/>
                </a:solidFill>
              </a:rPr>
              <a:t>AIProvider (Strategy pattern): единый фасад для Ollama, LM Studio, OpenAI. VisionTrackerService: PID-регулятор + VLM-цикл. YOLO (PyTorch) для локального трекинга объектов. RL-агенты: DQN (discrete) и PPO (continuous). Среда RobotArmEnv (Gymnasium). Curriculum Learning. Обучение на датасетах ROS2 bag и синтетических данных MuJoCo.</a:t>
            </a:r>
            <a:endParaRPr lang="ru-RU"/>
          </a:p>
        </p:txBody>
      </p:sp>
      <p:grpSp>
        <p:nvGrpSpPr>
          <p:cNvPr id="266" name="Google Shape;266;p30"/>
          <p:cNvGrpSpPr/>
          <p:nvPr/>
        </p:nvGrpSpPr>
        <p:grpSpPr>
          <a:xfrm>
            <a:off x="838200" y="1776993"/>
            <a:ext cx="3429000" cy="3619500"/>
            <a:chOff x="0" y="0"/>
            <a:chExt cx="3429000" cy="3619500"/>
          </a:xfrm>
        </p:grpSpPr>
        <p:sp>
          <p:nvSpPr>
            <p:cNvPr id="267" name="Google Shape;267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0"/>
            <p:cNvSpPr txBox="1"/>
            <p:nvPr/>
          </p:nvSpPr>
          <p:spPr>
            <a:xfrm>
              <a:off x="190500" y="0"/>
              <a:ext cx="3048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900" b="1">
                  <a:solidFill>
                    <a:srgbClr val="000000"/>
                  </a:solidFill>
                </a:rPr>
                <a:t>1. Компьютерное зрение</a:t>
              </a:r>
              <a:endParaRPr sz="1900" b="1">
                <a:solidFill>
                  <a:srgbClr val="000000"/>
                </a:solidFill>
              </a:endParaRPr>
            </a:p>
            <a:p>
              <a:pPr marL="457200" lvl="0" indent="-32067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Детекция объектов:</a:t>
              </a:r>
              <a:r>
                <a:rPr lang="ru-RU" sz="1450">
                  <a:solidFill>
                    <a:srgbClr val="333333"/>
                  </a:solidFill>
                </a:rPr>
                <a:t> HSV-сегментация и ArUco-маркеры.</a:t>
              </a:r>
              <a:endParaRPr sz="1450">
                <a:solidFill>
                  <a:srgbClr val="333333"/>
                </a:solidFill>
              </a:endParaRPr>
            </a:p>
            <a:p>
              <a:pPr marL="457200" lvl="0" indent="-320675" algn="l" rtl="0">
                <a:spcBef>
                  <a:spcPts val="400"/>
                </a:spcBef>
                <a:spcAft>
                  <a:spcPts val="40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Eye-to-Hand:</a:t>
              </a:r>
              <a:r>
                <a:rPr lang="ru-RU" sz="1450">
                  <a:solidFill>
                    <a:srgbClr val="333333"/>
                  </a:solidFill>
                </a:rPr>
                <a:t> Трансформация 2D-координат камеры в 3D-пространство робота.</a:t>
              </a:r>
              <a:endParaRPr sz="1450">
                <a:solidFill>
                  <a:srgbClr val="333333"/>
                </a:solidFill>
              </a:endParaRPr>
            </a:p>
          </p:txBody>
        </p:sp>
      </p:grpSp>
      <p:grpSp>
        <p:nvGrpSpPr>
          <p:cNvPr id="269" name="Google Shape;269;p30"/>
          <p:cNvGrpSpPr/>
          <p:nvPr/>
        </p:nvGrpSpPr>
        <p:grpSpPr>
          <a:xfrm>
            <a:off x="4381500" y="1776993"/>
            <a:ext cx="3429000" cy="3619500"/>
            <a:chOff x="0" y="0"/>
            <a:chExt cx="3429000" cy="3619500"/>
          </a:xfrm>
        </p:grpSpPr>
        <p:sp>
          <p:nvSpPr>
            <p:cNvPr id="270" name="Google Shape;270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71" name="Google Shape;271;p30"/>
            <p:cNvSpPr txBox="1"/>
            <p:nvPr/>
          </p:nvSpPr>
          <p:spPr>
            <a:xfrm>
              <a:off x="190500" y="0"/>
              <a:ext cx="3048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900" b="1">
                  <a:solidFill>
                    <a:srgbClr val="000000"/>
                  </a:solidFill>
                </a:rPr>
                <a:t>2. Обучение с подкреплением</a:t>
              </a:r>
              <a:endParaRPr sz="1900" b="1">
                <a:solidFill>
                  <a:srgbClr val="000000"/>
                </a:solidFill>
              </a:endParaRPr>
            </a:p>
            <a:p>
              <a:pPr marL="457200" lvl="0" indent="-32067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RL-агенты:</a:t>
              </a:r>
              <a:r>
                <a:rPr lang="ru-RU" sz="1450">
                  <a:solidFill>
                    <a:srgbClr val="333333"/>
                  </a:solidFill>
                </a:rPr>
                <a:t> Тренировка PPO/SAC в среде MuJoCo.</a:t>
              </a:r>
              <a:endParaRPr sz="1450">
                <a:solidFill>
                  <a:srgbClr val="333333"/>
                </a:solidFill>
              </a:endParaRPr>
            </a:p>
            <a:p>
              <a:pPr marL="457200" lvl="0" indent="-320675" algn="l" rtl="0">
                <a:spcBef>
                  <a:spcPts val="400"/>
                </a:spcBef>
                <a:spcAft>
                  <a:spcPts val="40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HIL-SERL:</a:t>
              </a:r>
              <a:r>
                <a:rPr lang="ru-RU" sz="1450">
                  <a:solidFill>
                    <a:srgbClr val="333333"/>
                  </a:solidFill>
                </a:rPr>
                <a:t> Human-in-the-Loop для коррекции ошибок и дообучения классификаторов наград.</a:t>
              </a:r>
              <a:endParaRPr sz="1450">
                <a:solidFill>
                  <a:srgbClr val="333333"/>
                </a:solidFill>
              </a:endParaRPr>
            </a:p>
          </p:txBody>
        </p:sp>
      </p:grpSp>
      <p:grpSp>
        <p:nvGrpSpPr>
          <p:cNvPr id="272" name="Google Shape;272;p30"/>
          <p:cNvGrpSpPr/>
          <p:nvPr/>
        </p:nvGrpSpPr>
        <p:grpSpPr>
          <a:xfrm>
            <a:off x="7924800" y="1776993"/>
            <a:ext cx="3429000" cy="3619500"/>
            <a:chOff x="0" y="0"/>
            <a:chExt cx="3429000" cy="3619500"/>
          </a:xfrm>
        </p:grpSpPr>
        <p:sp>
          <p:nvSpPr>
            <p:cNvPr id="273" name="Google Shape;273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 txBox="1"/>
            <p:nvPr/>
          </p:nvSpPr>
          <p:spPr>
            <a:xfrm>
              <a:off x="190500" y="0"/>
              <a:ext cx="3048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900" b="1">
                  <a:solidFill>
                    <a:srgbClr val="000000"/>
                  </a:solidFill>
                </a:rPr>
                <a:t>3. Имитационное обучение</a:t>
              </a:r>
              <a:endParaRPr sz="1900" b="1">
                <a:solidFill>
                  <a:srgbClr val="000000"/>
                </a:solidFill>
              </a:endParaRPr>
            </a:p>
            <a:p>
              <a:pPr marL="457200" lvl="0" indent="-32067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Behavioral Cloning:</a:t>
              </a:r>
              <a:r>
                <a:rPr lang="ru-RU" sz="1450">
                  <a:solidFill>
                    <a:srgbClr val="333333"/>
                  </a:solidFill>
                </a:rPr>
                <a:t> Политики ACT и Diffusion на базе LeRobot.</a:t>
              </a:r>
              <a:endParaRPr sz="1450">
                <a:solidFill>
                  <a:srgbClr val="333333"/>
                </a:solidFill>
              </a:endParaRPr>
            </a:p>
            <a:p>
              <a:pPr marL="457200" lvl="0" indent="-320675" algn="l" rtl="0">
                <a:spcBef>
                  <a:spcPts val="400"/>
                </a:spcBef>
                <a:spcAft>
                  <a:spcPts val="40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VLA-модели:</a:t>
              </a:r>
              <a:r>
                <a:rPr lang="ru-RU" sz="1450">
                  <a:solidFill>
                    <a:srgbClr val="333333"/>
                  </a:solidFill>
                </a:rPr>
                <a:t> SmolVLA и π0. Управление через естественный язык и прямой видеопоток.</a:t>
              </a:r>
              <a:endParaRPr sz="1450">
                <a:solidFill>
                  <a:srgbClr val="333333"/>
                </a:solidFill>
              </a:endParaRPr>
            </a:p>
          </p:txBody>
        </p:sp>
      </p:grpSp>
      <p:grpSp>
        <p:nvGrpSpPr>
          <p:cNvPr id="275" name="Google Shape;275;p30"/>
          <p:cNvGrpSpPr/>
          <p:nvPr/>
        </p:nvGrpSpPr>
        <p:grpSpPr>
          <a:xfrm>
            <a:off x="838200" y="5620125"/>
            <a:ext cx="8833207" cy="1047300"/>
            <a:chOff x="0" y="238500"/>
            <a:chExt cx="6972300" cy="1047300"/>
          </a:xfrm>
        </p:grpSpPr>
        <p:sp>
          <p:nvSpPr>
            <p:cNvPr id="276" name="Google Shape;276;p30"/>
            <p:cNvSpPr/>
            <p:nvPr/>
          </p:nvSpPr>
          <p:spPr>
            <a:xfrm>
              <a:off x="0" y="238500"/>
              <a:ext cx="6972300" cy="1047300"/>
            </a:xfrm>
            <a:prstGeom prst="roundRect">
              <a:avLst>
                <a:gd name="adj" fmla="val 11111"/>
              </a:avLst>
            </a:prstGeom>
            <a:solidFill>
              <a:srgbClr val="F3F3F3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0"/>
            <p:cNvSpPr txBox="1"/>
            <p:nvPr/>
          </p:nvSpPr>
          <p:spPr>
            <a:xfrm>
              <a:off x="190500" y="354873"/>
              <a:ext cx="6591300" cy="81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-RU" sz="115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«Система совместима с библиотекой LeRobot от Hugging Face. Это позволяет студентам перейти от классического OpenCV к современному имитационному обучению и RL, разворачивая передовые VLA-модели, где робот понимает текстовые команды».</a:t>
              </a:r>
              <a:endParaRPr sz="1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30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59752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5C8A"/>
                </a:solidFill>
                <a:latin typeface="Calibri"/>
              </a:defRPr>
            </a:pPr>
            <a:r>
              <a:t>Desktop — архитектура приложения</a:t>
            </a:r>
          </a:p>
        </p:txBody>
      </p:sp>
      <p:pic>
        <p:nvPicPr>
          <p:cNvPr id="3" name="Picture 2" descr="desktop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0"/>
            <a:ext cx="116128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5212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Calibri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85340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7DD3C0"/>
                </a:solidFill>
                <a:latin typeface="Calibri"/>
              </a:defRPr>
            </a:pPr>
            <a:r>
              <a:t>Общая архитектура программного комплекса</a:t>
            </a:r>
          </a:p>
        </p:txBody>
      </p:sp>
      <p:pic>
        <p:nvPicPr>
          <p:cNvPr id="4" name="Picture 3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11247120" cy="63607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C8A"/>
                </a:solidFill>
                <a:latin typeface="Calibri"/>
              </a:defRPr>
            </a:pPr>
            <a:r>
              <a:t>Управление роботом и моторами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RobotService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MotorController: move_joint / get_state / scan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EventBus: position_changed / alarm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MotorMonitor: read_motor_data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MotorController: move_joint / get_state / scan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EventBus: position_changed / alarm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MotorMonitor: read_motor_data</a:t>
            </a:r>
          </a:p>
        </p:txBody>
      </p:sp>
      <p:pic>
        <p:nvPicPr>
          <p:cNvPr id="10" name="Picture 9" descr="robot_servi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83280"/>
            <a:ext cx="4846320" cy="1188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MotorController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Dynamixel Servos: Protocol 2.0 @ 1 Mbps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RobotService: API: move_joint / read_motor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MotorMonitor: polling @ 10 Hz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Dynamixel Servos: Protocol 2.0 @ 1 Mbps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RobotService: API: move_joint / read_motor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MotorMonitor: polling @ 10 Hz</a:t>
            </a:r>
          </a:p>
        </p:txBody>
      </p:sp>
      <p:pic>
        <p:nvPicPr>
          <p:cNvPr id="17" name="Picture 16" descr="motor_controll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383280"/>
            <a:ext cx="48463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C8A"/>
                </a:solidFill>
                <a:latin typeface="Calibri"/>
              </a:defRPr>
            </a:pPr>
            <a:r>
              <a:t>Кинематика и захват данных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KinematicsService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RobotKinematics6DOF: FK: angles -&gt; pose (DH)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InverseKinematics6DOF: IK: xyz -&gt; angles (DLS)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3D View Panel: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RobotKinematics6DOF: FK: angles -&gt; pose (DH)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InverseKinematics6DOF: IK: xyz -&gt; angles (DLS)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3D View Panel: visualization</a:t>
            </a:r>
          </a:p>
        </p:txBody>
      </p:sp>
      <p:pic>
        <p:nvPicPr>
          <p:cNvPr id="10" name="Picture 9" descr="kinematics_servi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83280"/>
            <a:ext cx="4846320" cy="1188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CameraService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OpenCV: cv2.VideoCapture 640x480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USB Camera: physical device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AI / Dataset services: get_frame() -&gt; RGB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OpenCV: cv2.VideoCapture 640x480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USB Camera: physical device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AI / Dataset services: get_frame() -&gt; RGB</a:t>
            </a:r>
          </a:p>
        </p:txBody>
      </p:sp>
      <p:pic>
        <p:nvPicPr>
          <p:cNvPr id="17" name="Picture 16" descr="camera_servi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383280"/>
            <a:ext cx="48463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C8A"/>
                </a:solidFill>
                <a:latin typeface="Calibri"/>
              </a:defRPr>
            </a:pPr>
            <a:r>
              <a:t>AI-интеграция и управление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AIProvider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Ollama: POST /api/chat base64 images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LM Studio / OpenAI: POST /v1/chat/completions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AI / VisionTracker: chat() process_frame()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Ollama: POST /api/chat base64 images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LM Studio / OpenAI: POST /v1/chat/completions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AI / VisionTracker: chat() process_frame()</a:t>
            </a:r>
          </a:p>
        </p:txBody>
      </p:sp>
      <p:pic>
        <p:nvPicPr>
          <p:cNvPr id="10" name="Picture 9" descr="ai_provid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83280"/>
            <a:ext cx="4846320" cy="1188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AIRobotController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AIProvider: process_frame chat+img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CameraService: get_frame RGB 640x480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RobotService: move_joint / move_xyz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AIProvider: process_frame chat+img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CameraService: get_frame RGB 640x480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RobotService: move_joint / move_xyz</a:t>
            </a:r>
          </a:p>
        </p:txBody>
      </p:sp>
      <p:pic>
        <p:nvPicPr>
          <p:cNvPr id="17" name="Picture 16" descr="ai_robot_controll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383280"/>
            <a:ext cx="48463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C8A"/>
                </a:solidFill>
                <a:latin typeface="Calibri"/>
              </a:defRPr>
            </a:pPr>
            <a:r>
              <a:t>Трекинг и детекция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VisionTracker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AIProvider: detect -&gt; bounding box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CameraService: get_frame()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RobotService: PID -&gt; move_joint()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AIProvider: detect -&gt; bounding box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CameraService: get_frame()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RobotService: PID -&gt; move_joint()</a:t>
            </a:r>
          </a:p>
        </p:txBody>
      </p:sp>
      <p:pic>
        <p:nvPicPr>
          <p:cNvPr id="10" name="Picture 9" descr="vision_track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83280"/>
            <a:ext cx="4846320" cy="1188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MLTracking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YOLOv8 / PyTorch: detect 30-60 FPS GPU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CameraService: get_frame() -&gt; RGB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YOLOv8 / PyTorch: detect 30-60 FPS GPU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CameraService: get_frame() -&gt; RGB</a:t>
            </a:r>
          </a:p>
        </p:txBody>
      </p:sp>
      <p:pic>
        <p:nvPicPr>
          <p:cNvPr id="17" name="Picture 16" descr="ml_tracking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383280"/>
            <a:ext cx="48463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C8A"/>
                </a:solidFill>
                <a:latin typeface="Calibri"/>
              </a:defRPr>
            </a:pPr>
            <a:r>
              <a:t>Программы и данные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ProgramService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ProgramExecutor: execute blocks async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MotorController: move_joint / wait / torque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BlockProgramming UI: get_program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ProgramExecutor: execute blocks async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MotorController: move_joint / wait / torque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BlockProgramming UI: get_program list</a:t>
            </a:r>
          </a:p>
        </p:txBody>
      </p:sp>
      <p:pic>
        <p:nvPicPr>
          <p:cNvPr id="10" name="Picture 9" descr="program_servi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83280"/>
            <a:ext cx="4846320" cy="1188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DatasetRecorder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RobotService: joint_angles / motor_load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CameraService: get_frame RGB 640x480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KinematicsService: tool_pose XYZ 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RobotService: joint_angles / motor_load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CameraService: get_frame RGB 640x480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KinematicsService: tool_pose XYZ mm</a:t>
            </a:r>
          </a:p>
        </p:txBody>
      </p:sp>
      <p:pic>
        <p:nvPicPr>
          <p:cNvPr id="17" name="Picture 16" descr="dataset_record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383280"/>
            <a:ext cx="48463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C8A"/>
                </a:solidFill>
                <a:latin typeface="Calibri"/>
              </a:defRPr>
            </a:pPr>
            <a:r>
              <a:t>Обучение и инференс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RLTraining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MuJoCo: step @ 10000fps reset render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Gymnasium Env: RobotArmEnv 18-dim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RobotService: sync_from / sync_to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MuJoCo: step @ 10000fps reset render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Gymnasium Env: RobotArmEnv 18-dim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RobotService: sync_from / sync_to</a:t>
            </a:r>
          </a:p>
        </p:txBody>
      </p:sp>
      <p:pic>
        <p:nvPicPr>
          <p:cNvPr id="10" name="Picture 9" descr="rl_train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83280"/>
            <a:ext cx="4846320" cy="1188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35040" y="640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713231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Calibri"/>
              </a:defRPr>
            </a:pPr>
            <a:r>
              <a:t>Inference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1143000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Hugging Face Hub: make_policy pretrained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CameraService: get_frame RGB 640x480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RobotService: move_to_position per joint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651760"/>
            <a:ext cx="4974336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2706624"/>
            <a:ext cx="47548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33333"/>
                </a:solidFill>
                <a:latin typeface="Calibri"/>
              </a:defRPr>
            </a:pPr>
            <a:r>
              <a:t>Связи: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85292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Hugging Face Hub: make_policy pretrained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CameraService: get_frame RGB 640x480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  <a:latin typeface="Calibri"/>
              </a:defRPr>
            </a:pPr>
            <a:r>
              <a:t>→ RobotService: move_to_position per joint</a:t>
            </a:r>
          </a:p>
        </p:txBody>
      </p:sp>
      <p:pic>
        <p:nvPicPr>
          <p:cNvPr id="17" name="Picture 16" descr="inference_servi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383280"/>
            <a:ext cx="48463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0" y="4892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8BB9860-D3F9-AFA5-BCEC-D23A14E5D6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26</a:t>
            </a:r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AB8E14A-D078-8FF5-6F84-B38DECBF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программного кода </a:t>
            </a:r>
            <a:endParaRPr lang="ru-FI" dirty="0"/>
          </a:p>
        </p:txBody>
      </p:sp>
      <p:pic>
        <p:nvPicPr>
          <p:cNvPr id="5" name="image3.png">
            <a:extLst>
              <a:ext uri="{FF2B5EF4-FFF2-40B4-BE49-F238E27FC236}">
                <a16:creationId xmlns:a16="http://schemas.microsoft.com/office/drawing/2014/main" id="{A092E610-86D7-88D5-0D2A-2DA0DA60948F}"/>
              </a:ext>
            </a:extLst>
          </p:cNvPr>
          <p:cNvPicPr/>
          <p:nvPr/>
        </p:nvPicPr>
        <p:blipFill>
          <a:blip r:embed="rId2"/>
          <a:srcRect t="2876"/>
          <a:stretch>
            <a:fillRect/>
          </a:stretch>
        </p:blipFill>
        <p:spPr>
          <a:xfrm>
            <a:off x="2708935" y="1539152"/>
            <a:ext cx="4980114" cy="465748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921399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DATASET RECORDER SERVICE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</a:defRPr>
            </a:pPr>
            <a:r>
              <a:t>Сервис записи датасетов — модуль для сбора тренировочных данных с реального робота.</a:t>
            </a:r>
            <a:br/>
            <a:br/>
            <a:r>
              <a:t>Источники данных:</a:t>
            </a:r>
            <a:br/>
            <a:r>
              <a:t>  • RobotService — углы суставов J1-J6, нагрузка (%), температура (°C), raw-позиции</a:t>
            </a:r>
            <a:br/>
            <a:r>
              <a:t>  • CameraService — RGB-кадры с камеры (640×480), захват через OpenCV</a:t>
            </a:r>
            <a:br/>
            <a:r>
              <a:t>  • KinematicsService — декартовы координаты инструмента (X, Y, Z мм)</a:t>
            </a:r>
            <a:br/>
            <a:br/>
            <a:r>
              <a:t>Форматы сохранения:</a:t>
            </a:r>
            <a:br/>
            <a:r>
              <a:t>  • VAMOS (custom) — episode_{idx}/metadata.json, states.json, frames/*.png, command.txt</a:t>
            </a:r>
            <a:br/>
            <a:r>
              <a:t>  • LeRobot (v2.1) — episodes/episode_{idx}.json, videos/observation.images.main/*.mp4, meta/</a:t>
            </a:r>
            <a:br/>
            <a:br/>
            <a:r>
              <a:t>Поток записи:</a:t>
            </a:r>
            <a:br/>
            <a:r>
              <a:t>  1. UI (DatasetPanel) → DatasetRecorderService → потоковый захват кадров</a:t>
            </a:r>
            <a:br/>
            <a:r>
              <a:t>  2. Каждый кадр: joint_angles[6] + tool_pose[3] + motor_load[6] + motor_temp[6] + camera_frame</a:t>
            </a:r>
            <a:br/>
            <a:r>
              <a:t>  3. Одновременная запись в оба формата (VAMOS + LeRobot) или выборочно</a:t>
            </a:r>
            <a:br/>
            <a:r>
              <a:t>  4. UI: Start/Stop/Pause, выбор FPS (5-60), preset задач, текст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RobotService</a:t>
            </a:r>
            <a:br/>
            <a:r>
              <a:t>J1-J6 angles</a:t>
            </a:r>
            <a:br/>
            <a:r>
              <a:t>Motor load/temp</a:t>
            </a:r>
            <a:br/>
            <a:r>
              <a:t>Raw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CameraService</a:t>
            </a:r>
            <a:br/>
            <a:r>
              <a:t>RGB frames</a:t>
            </a:r>
            <a:br/>
            <a:r>
              <a:t>640×480</a:t>
            </a:r>
            <a:br/>
            <a:r>
              <a:t>OpenCV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1089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KinematicsService</a:t>
            </a:r>
            <a:br/>
            <a:r>
              <a:t>Tool pose</a:t>
            </a:r>
            <a:br/>
            <a:r>
              <a:t>X, Y, Z (mm)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DD3C0"/>
                </a:solidFill>
              </a:defRPr>
            </a:pPr>
            <a:r>
              <a:t>DatasetRecorderService</a:t>
            </a:r>
            <a:br/>
            <a:br/>
            <a:r>
              <a:t>├ VAMOS Writer</a:t>
            </a:r>
            <a:br/>
            <a:r>
              <a:t>├ LeRobot Writer</a:t>
            </a:r>
            <a:br/>
            <a:r>
              <a:t>├ Frame Buffer</a:t>
            </a:r>
            <a:br/>
            <a:r>
              <a:t>├ State Buffer</a:t>
            </a:r>
            <a:br/>
            <a:r>
              <a:t>└ Record Loop</a:t>
            </a:r>
            <a:br/>
            <a:br/>
            <a:r>
              <a:t>(VAMOS + LeRobot)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94560"/>
                </a:solidFill>
              </a:defRPr>
            </a:pPr>
            <a:r>
              <a:t>VAMOS Format</a:t>
            </a:r>
            <a:br/>
            <a:r>
              <a:t>episode_{idx}/</a:t>
            </a:r>
            <a:br/>
            <a:r>
              <a:t>  metadata.json</a:t>
            </a:r>
            <a:br/>
            <a:r>
              <a:t>  states.json</a:t>
            </a:r>
            <a:br/>
            <a:r>
              <a:t>  frames/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114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94560"/>
                </a:solidFill>
              </a:defRPr>
            </a:pPr>
            <a:r>
              <a:t>LeRobot Format</a:t>
            </a:r>
            <a:br/>
            <a:r>
              <a:t>episodes/</a:t>
            </a:r>
            <a:br/>
            <a:r>
              <a:t>  episode_{idx}.json</a:t>
            </a:r>
            <a:br/>
            <a:r>
              <a:t>videos/ observation.images.main/</a:t>
            </a:r>
            <a:br/>
            <a:r>
              <a:t>  episode_{idx}.mp4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СБОР ДАННЫХ — VAMOS + LEROBOT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Вкладка Dataset (12-я вкладка интерфейса)</a:t>
            </a:r>
            <a:br/>
            <a:r>
              <a:t>  DatasetPanel → DatasetRecorderService → два формата параллельно</a:t>
            </a:r>
            <a:br/>
            <a:br/>
            <a:r>
              <a:t>Элементы управления:</a:t>
            </a:r>
            <a:br/>
            <a:r>
              <a:t>  • Чекбоксы: VAMOS ☑ / LeRobot ☑ — выбор формата</a:t>
            </a:r>
            <a:br/>
            <a:r>
              <a:t>  • FPS: 5-60 кадров/с (спинбокс)</a:t>
            </a:r>
            <a:br/>
            <a:r>
              <a:t>  • Task: текстовое имя задачи (pick_and_place, reach_target, push_object, ...)</a:t>
            </a:r>
            <a:br/>
            <a:r>
              <a:t>  • Command: естественно-языковая команда ("Pick up the red object")</a:t>
            </a:r>
            <a:br/>
            <a:r>
              <a:t>  • Preset Tasks: 6 быстрых кнопок (Pick &amp; Place, Reach Target, Push Object, Draw Circle, Grasp &amp; Hold, Screw Insertion)</a:t>
            </a:r>
            <a:br/>
            <a:r>
              <a:t>  • START RECORDING → STOP (красная), PAUSE/RESUME</a:t>
            </a:r>
            <a:br/>
            <a:br/>
            <a:r>
              <a:t>VAMOS (custom format):</a:t>
            </a:r>
            <a:br/>
            <a:r>
              <a:t>  datasets/vamos/episode_{idx}/</a:t>
            </a:r>
            <a:br/>
            <a:r>
              <a:t>    ├── metadata.json — индекс эпизода, задача, FPS, длительность, joint_names</a:t>
            </a:r>
            <a:br/>
            <a:r>
              <a:t>    ├── command.txt — текст команды (если задана)</a:t>
            </a:r>
            <a:br/>
            <a:r>
              <a:t>    ├── states.json — per-frame: timestamp, joint_angles[6], tool_pose[3], motor_load[6], motor_temp[6]</a:t>
            </a:r>
            <a:br/>
            <a:r>
              <a:t>    └── frames/ — кадры frame_{:06d}.png</a:t>
            </a:r>
            <a:br/>
            <a:br/>
            <a:r>
              <a:t>LeRobot (v2.1 compatible):</a:t>
            </a:r>
            <a:br/>
            <a:r>
              <a:t>  datasets/lerobot/</a:t>
            </a:r>
            <a:br/>
            <a:r>
              <a:t>    ├── meta/info.json — FPS, robot_type, features schema (observation.state, action, images)</a:t>
            </a:r>
            <a:br/>
            <a:r>
              <a:t>    ├── meta/tasks.jsonl — задача на каждый эпизод</a:t>
            </a:r>
            <a:br/>
            <a:r>
              <a:t>    ├── episodes/episode_{idx}.json — per-step: obs.state, action, timestamp, next.done</a:t>
            </a:r>
            <a:br/>
            <a:r>
              <a:t>    └── videos/observation.images.main/episode_{idx}.mp4 — H.264 видео всех кадров</a:t>
            </a:r>
            <a:br/>
            <a:br/>
            <a:r>
              <a:t>Поток кадра (30 FPS по умолчанию):</a:t>
            </a:r>
            <a:br/>
            <a:r>
              <a:t>  RobotService._read_joint_angles() + _read_tool_pose() + _read_motor_data() + CameraService.get_frame() → state dict + RGB frame → буфер → VAMOS (PNG+JSON) + LeRobot (MP4+JSON)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Сервисы app/ —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app/ — Service Architecture</a:t>
            </a:r>
            <a:br/>
            <a:r>
              <a:t>═══════════════════════════</a:t>
            </a:r>
            <a:br/>
            <a:br/>
            <a:r>
              <a:t>config/constants.py — единый конфиг</a:t>
            </a:r>
            <a:br/>
            <a:br/>
            <a:r>
              <a:t>core/ — DI Container + EventBus + BaseService + Interfaces</a:t>
            </a:r>
            <a:br/>
            <a:r>
              <a:t>  DIContainer — Dependency Injection (сервисы → контроллеры)</a:t>
            </a:r>
            <a:br/>
            <a:r>
              <a:t>  EventBus — Pub-Sub шина (connect, disconnect, alarm, position)</a:t>
            </a:r>
            <a:br/>
            <a:br/>
            <a:r>
              <a:t>controllers/ — MotorController (UART/RS-485) + MotorMonitor</a:t>
            </a:r>
            <a:br/>
            <a:br/>
            <a:r>
              <a:t>services/ — 9 сервисов:</a:t>
            </a:r>
            <a:br/>
            <a:r>
              <a:t>  RobotService — move_joint, get_state, torque</a:t>
            </a:r>
            <a:br/>
            <a:r>
              <a:t>  KinematicsService — FK (DH→XYZ) + IK (DLS)</a:t>
            </a:r>
            <a:br/>
            <a:r>
              <a:t>  CameraService — OpenCV захват (AVFoundation/DSHOW/V4L2)</a:t>
            </a:r>
            <a:br/>
            <a:r>
              <a:t>  VisionTrackerService — VLM трекинг (Ollama/LM Studio/OpenAI)</a:t>
            </a:r>
            <a:br/>
            <a:r>
              <a:t>  AIProvider + AI Robot Controller — Strategy: кадр→VLM→действие</a:t>
            </a:r>
            <a:br/>
            <a:r>
              <a:t>  ProgramService — управление программами</a:t>
            </a:r>
            <a:br/>
            <a:r>
              <a:t>  DatasetRecorder — запись VAMOS + LeRobot</a:t>
            </a:r>
            <a:br/>
            <a:r>
              <a:t>  RLTrainingService — DQN/PPO в Gymnasium</a:t>
            </a:r>
            <a:br/>
            <a:br/>
            <a:r>
              <a:t>models/ — Kinematics6DOF (DH params), IK6DOF (DLS), MotorData, RL agents</a:t>
            </a:r>
            <a:br/>
            <a:br/>
            <a:r>
              <a:t>views/ — 12 панелей CustomTkinter через DI + EventBus</a:t>
            </a:r>
            <a:br/>
            <a:br/>
            <a:r>
              <a:t>utils/ — ConfigManager + Logger + ProgramExecutor</a:t>
            </a:r>
            <a:br/>
            <a:br/>
            <a:r>
              <a:t>Связи: DI → сервисы → контроллеры/views; EventBus → все 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Сервисы web/ —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web/ — Web Architecture Detail</a:t>
            </a:r>
            <a:br/>
            <a:r>
              <a:t>════════════════════════</a:t>
            </a:r>
            <a:br/>
            <a:br/>
            <a:r>
              <a:t>Backend: FastAPI</a:t>
            </a:r>
            <a:br/>
            <a:r>
              <a:t>  main.py — CORS, app mounts</a:t>
            </a:r>
            <a:br/>
            <a:r>
              <a:t>  api/routes.py — REST: /api/login, /api/robot/state, /api/robot/move, /api/programs</a:t>
            </a:r>
            <a:br/>
            <a:r>
              <a:t>  api/auth.py — JWT (HS256, PyJWT)</a:t>
            </a:r>
            <a:br/>
            <a:r>
              <a:t>  api/websocket.py — WS /ws: joint_states@30Hz, camera frames (JPEG), alarms</a:t>
            </a:r>
            <a:br/>
            <a:r>
              <a:t>  config/ — настройки</a:t>
            </a:r>
            <a:br/>
            <a:r>
              <a:t>  core/ — общая логика</a:t>
            </a:r>
            <a:br/>
            <a:br/>
            <a:r>
              <a:t>Frontend: React 19 + TypeScript + Vite</a:t>
            </a:r>
            <a:br/>
            <a:r>
              <a:t>  Three.js — 3D через URDF</a:t>
            </a:r>
            <a:br/>
            <a:r>
              <a:t>  Blockly — визуальное программирование</a:t>
            </a:r>
            <a:br/>
            <a:r>
              <a:t>  Dashboard + Joystick — управление</a:t>
            </a:r>
            <a:br/>
            <a:br/>
            <a:r>
              <a:t>Связь: Browser → React → fetch/WS → FastAPI → robot_service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Сервисы ros2/ —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ros2/ — ROS2 Architecture Detail</a:t>
            </a:r>
            <a:br/>
            <a:r>
              <a:t>═════════════════════════════</a:t>
            </a:r>
            <a:br/>
            <a:br/>
            <a:r>
              <a:t>Пакет robot_control:</a:t>
            </a:r>
            <a:br/>
            <a:br/>
            <a:r>
              <a:t>Узлы:</a:t>
            </a:r>
            <a:br/>
            <a:r>
              <a:t>  robot_node.py — JointState publisher + cmd subscriber</a:t>
            </a:r>
            <a:br/>
            <a:r>
              <a:t>    Подписка: /robot_controls/cmd (Pose/JointState)</a:t>
            </a:r>
            <a:br/>
            <a:r>
              <a:t>    Публикация: /joint_states (sensor_msgs/JointState)</a:t>
            </a:r>
            <a:br/>
            <a:r>
              <a:t>    Сервис: /robot_controls/get_state, /robot_controls/stop</a:t>
            </a:r>
            <a:br/>
            <a:r>
              <a:t>    load_threshold — автостоп при превышении нагрузки</a:t>
            </a:r>
            <a:br/>
            <a:br/>
            <a:r>
              <a:t>  robot_node_v2.py — расширенный мониторинг load+temperature</a:t>
            </a:r>
            <a:br/>
            <a:br/>
            <a:r>
              <a:t>  hardware_interface.py — HAL Dynamixel (Protocol 2.0)</a:t>
            </a:r>
            <a:br/>
            <a:r>
              <a:t>    write_joint_positions() + read_joint_states() + get_all_motor_data()</a:t>
            </a:r>
            <a:br/>
            <a:br/>
            <a:r>
              <a:t>  ik_service_node.py — /ik_service/solve (XYZ → angles, DLS)</a:t>
            </a:r>
            <a:br/>
            <a:br/>
            <a:r>
              <a:t>  monitor_node.py — публикация temperature, load, connection</a:t>
            </a:r>
            <a:br/>
            <a:br/>
            <a:r>
              <a:t>  bag_recorder.py — запись /joint_states + /camera/image_raw → ROS2 bag</a:t>
            </a:r>
            <a:br/>
            <a:br/>
            <a:r>
              <a:t>  ros2_control_bridge.py — ros2_control HardwareInterface</a:t>
            </a:r>
            <a:br/>
            <a:br/>
            <a:r>
              <a:t>Launch: robot.launch, record_bag, playback_bag, gazebo, ros2_control</a:t>
            </a:r>
            <a:br/>
            <a:br/>
            <a:r>
              <a:t>Тесты: hw_interface, ik_node, motor_cache, position_math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Инференс LeRobot —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Inference — LeRobot Policy</a:t>
            </a:r>
            <a:br/>
            <a:r>
              <a:t>═══════════════════════</a:t>
            </a:r>
            <a:br/>
            <a:br/>
            <a:r>
              <a:t>Загрузка предобученных моделей ACT / Diffusion Policy / SmolVLA</a:t>
            </a:r>
            <a:br/>
            <a:r>
              <a:t>с Hugging Face Hub и выполнение инференса на локальном GPU.</a:t>
            </a:r>
            <a:br/>
            <a:br/>
            <a:r>
              <a:t>Поддерживаемые модели:</a:t>
            </a:r>
            <a:br/>
            <a:r>
              <a:t>  • lerobot/diffusion_pusht</a:t>
            </a:r>
            <a:br/>
            <a:r>
              <a:t>  • lerobot/act_aloha_sim_transfer_cube_human</a:t>
            </a:r>
            <a:br/>
            <a:r>
              <a:t>  • lerobot/act_aloha_mobile_cabinet</a:t>
            </a:r>
            <a:br/>
            <a:r>
              <a:t>  • lerobot/diffusion_policy-grasp</a:t>
            </a:r>
            <a:br/>
            <a:r>
              <a:t>  • lerobot/smolvla-aloha</a:t>
            </a:r>
            <a:br/>
            <a:br/>
            <a:r>
              <a:t>Поток инференса (30 FPS):</a:t>
            </a:r>
            <a:br/>
            <a:r>
              <a:t>  CameraService → RGB frame (640×480)</a:t>
            </a:r>
            <a:br/>
            <a:r>
              <a:t>  RobotService → joint_angles[6] (J1-J6 в градусах)</a:t>
            </a:r>
            <a:br/>
            <a:r>
              <a:t>  Preprocessor → policy.select_action() → action[6]</a:t>
            </a:r>
            <a:br/>
            <a:r>
              <a:t>  Postprocessor → MotorController → move_to_position()</a:t>
            </a:r>
            <a:br/>
            <a:br/>
            <a:r>
              <a:t>Device: CUDA (NVIDIA GPU) с TF32 + cuDNN benchmark</a:t>
            </a:r>
            <a:br/>
            <a:br/>
            <a:r>
              <a:t>Fine-tuning:</a:t>
            </a:r>
            <a:br/>
            <a:r>
              <a:t>  notebooks/training_lerobot.ipynb — шаблон дообучения</a:t>
            </a:r>
            <a:br/>
            <a:r>
              <a:t>  LAUNCH JUPYTER — запуск Jupyter Notebook сервера</a:t>
            </a:r>
            <a:br/>
            <a:r>
              <a:t>  Планируется: отдельный Jupyter worker для async-тренировки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rgbClr val="000000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2">
  <a:themeElements>
    <a:clrScheme name="Московский Политех">
      <a:dk1>
        <a:srgbClr val="000000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3802</Words>
  <Application>Microsoft Office PowerPoint</Application>
  <PresentationFormat>Широкоэкранный</PresentationFormat>
  <Paragraphs>310</Paragraphs>
  <Slides>31</Slides>
  <Notes>15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Arial</vt:lpstr>
      <vt:lpstr>Calibri</vt:lpstr>
      <vt:lpstr>DM Sans</vt:lpstr>
      <vt:lpstr>Verdana</vt:lpstr>
      <vt:lpstr>Тема2</vt:lpstr>
      <vt:lpstr>Тема2</vt:lpstr>
      <vt:lpstr>Разработка программного обеспечения учебного шестиосевого робота-манипулятора с использованием Dynamixel и технического зрения</vt:lpstr>
      <vt:lpstr>Презентация PowerPoint</vt:lpstr>
      <vt:lpstr>Проблематика и актуальность в образовательном процессе</vt:lpstr>
      <vt:lpstr>Анализ аналогов</vt:lpstr>
      <vt:lpstr>Презентация PowerPoint</vt:lpstr>
      <vt:lpstr>Интерфейс оператора</vt:lpstr>
      <vt:lpstr>Вычислительное ядро: Кинематика</vt:lpstr>
      <vt:lpstr>Система технического зрения</vt:lpstr>
      <vt:lpstr>Web-интерфейс и REST API</vt:lpstr>
      <vt:lpstr>Web-интерфейс</vt:lpstr>
      <vt:lpstr>Интеграция с экосистемой ROS2</vt:lpstr>
      <vt:lpstr>Спасибо за внимание </vt:lpstr>
      <vt:lpstr>Визуализация в mujoco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Архитектура программного кода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обеспечения учебного шестиосевого робота-манипулятора с использованием Dynamixel и технического зрения</dc:title>
  <cp:lastModifiedBy>Ляхов Александр</cp:lastModifiedBy>
  <cp:revision>8</cp:revision>
  <dcterms:modified xsi:type="dcterms:W3CDTF">2026-06-24T16:50:11Z</dcterms:modified>
</cp:coreProperties>
</file>