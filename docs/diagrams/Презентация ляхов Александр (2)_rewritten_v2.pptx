
<file path=[Content_Types].xml><?xml version="1.0" encoding="utf-8"?>
<Types xmlns="http://schemas.openxmlformats.org/package/2006/content-types">
  <Default Extension="gif" ContentType="image/gif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8" r:id="rId1"/>
    <p:sldMasterId id="2147483669" r:id="rId2"/>
  </p:sldMasterIdLst>
  <p:notesMasterIdLst>
    <p:notesMasterId r:id="rId35"/>
  </p:notesMasterIdLst>
  <p:sldIdLst>
    <p:sldId id="256" r:id="rId3"/>
    <p:sldId id="258" r:id="rId4"/>
    <p:sldId id="257" r:id="rId5"/>
    <p:sldId id="259" r:id="rId6"/>
    <p:sldId id="274" r:id="rId7"/>
    <p:sldId id="260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61" r:id="rId17"/>
    <p:sldId id="262" r:id="rId18"/>
    <p:sldId id="263" r:id="rId19"/>
    <p:sldId id="264" r:id="rId20"/>
    <p:sldId id="281" r:id="rId21"/>
    <p:sldId id="282" r:id="rId22"/>
    <p:sldId id="283" r:id="rId23"/>
    <p:sldId id="284" r:id="rId24"/>
    <p:sldId id="285" r:id="rId25"/>
    <p:sldId id="286" r:id="rId26"/>
    <p:sldId id="287" r:id="rId27"/>
    <p:sldId id="273" r:id="rId28"/>
    <p:sldId id="275" r:id="rId29"/>
    <p:sldId id="276" r:id="rId30"/>
    <p:sldId id="277" r:id="rId31"/>
    <p:sldId id="278" r:id="rId32"/>
    <p:sldId id="279" r:id="rId33"/>
    <p:sldId id="280" r:id="rId3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D275773-64A0-4169-8177-B0009E08A9DC}">
  <a:tblStyle styleId="{3D275773-64A0-4169-8177-B0009E08A9D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58"/>
  </p:normalViewPr>
  <p:slideViewPr>
    <p:cSldViewPr snapToGrid="0">
      <p:cViewPr varScale="1">
        <p:scale>
          <a:sx n="106" d="100"/>
          <a:sy n="106" d="100"/>
        </p:scale>
        <p:origin x="163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ede727246f_0_1466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g3ede727246f_0_1466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g3ede727246f_0_1466:notes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g3ede727246f_0_146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g3ede727246f_0_1466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g3ede727246f_0_146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ede727246f_0_1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g3ede727246f_0_11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g3ede727246f_0_114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e733b767c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e733b767cf_0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g3e733b767cf_0_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e71e28e146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e71e28e146_0_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g3e71e28e146_0_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6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e71e28e146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e71e28e146_0_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g3e71e28e146_0_6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e71e28e146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e71e28e146_0_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g3e71e28e146_0_4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e71e28e146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e71e28e146_0_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g3e71e28e146_0_5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e71e28e146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e71e28e146_0_8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g3e71e28e146_0_8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ed3324dd73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ed3324dd73_0_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g3ed3324dd73_0_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e71e28e146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e71e28e146_0_9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g3e71e28e146_0_9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12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2" name="Google Shape;35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13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ede727246f_0_506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g3ede727246f_0_506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g3ede727246f_0_506:notes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3" name="Google Shape;213;g3ede727246f_0_50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g3ede727246f_0_506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g3ede727246f_0_50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82190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ede727246f_0_683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g3ede727246f_0_683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g3ede727246f_0_683:notes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9" name="Google Shape;239;g3ede727246f_0_68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g3ede727246f_0_683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g3ede727246f_0_68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9166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ede727246f_0_919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g3ede727246f_0_919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g3ede727246f_0_919:notes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8" name="Google Shape;258;g3ede727246f_0_9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g3ede727246f_0_919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g3ede727246f_0_9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30944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e71e28e146_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e71e28e146_6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g3e71e28e146_6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794208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итульный слайд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"/>
          <p:cNvSpPr txBox="1">
            <a:spLocks noGrp="1"/>
          </p:cNvSpPr>
          <p:nvPr>
            <p:ph type="ctrTitle"/>
          </p:nvPr>
        </p:nvSpPr>
        <p:spPr>
          <a:xfrm>
            <a:off x="1039528" y="2001837"/>
            <a:ext cx="10087276" cy="150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ubTitle" idx="1"/>
          </p:nvPr>
        </p:nvSpPr>
        <p:spPr>
          <a:xfrm>
            <a:off x="1039528" y="4129238"/>
            <a:ext cx="10087276" cy="1128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22" name="Google Shape;22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7530" y="-100001"/>
            <a:ext cx="3006013" cy="2125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31778" y="5438319"/>
            <a:ext cx="2860213" cy="160887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" name="Google Shape;24;p2"/>
          <p:cNvCxnSpPr/>
          <p:nvPr/>
        </p:nvCxnSpPr>
        <p:spPr>
          <a:xfrm>
            <a:off x="4555671" y="1224644"/>
            <a:ext cx="7740000" cy="0"/>
          </a:xfrm>
          <a:prstGeom prst="straightConnector1">
            <a:avLst/>
          </a:prstGeom>
          <a:noFill/>
          <a:ln w="5715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" name="Google Shape;25;p2"/>
          <p:cNvCxnSpPr/>
          <p:nvPr/>
        </p:nvCxnSpPr>
        <p:spPr>
          <a:xfrm>
            <a:off x="-114300" y="6237515"/>
            <a:ext cx="9720000" cy="0"/>
          </a:xfrm>
          <a:prstGeom prst="straightConnector1">
            <a:avLst/>
          </a:prstGeom>
          <a:noFill/>
          <a:ln w="5715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6" name="Google Shape;26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7530" y="-100001"/>
            <a:ext cx="3006013" cy="21259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" name="Google Shape;27;p2"/>
          <p:cNvCxnSpPr/>
          <p:nvPr/>
        </p:nvCxnSpPr>
        <p:spPr>
          <a:xfrm>
            <a:off x="4555671" y="1224644"/>
            <a:ext cx="7740000" cy="0"/>
          </a:xfrm>
          <a:prstGeom prst="straightConnector1">
            <a:avLst/>
          </a:prstGeom>
          <a:noFill/>
          <a:ln w="5715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"/>
          <p:cNvSpPr txBox="1">
            <a:spLocks noGrp="1"/>
          </p:cNvSpPr>
          <p:nvPr>
            <p:ph type="body" idx="1"/>
          </p:nvPr>
        </p:nvSpPr>
        <p:spPr>
          <a:xfrm>
            <a:off x="838200" y="1959430"/>
            <a:ext cx="10281557" cy="3649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sldNum" idx="12"/>
          </p:nvPr>
        </p:nvSpPr>
        <p:spPr>
          <a:xfrm>
            <a:off x="10080171" y="5698671"/>
            <a:ext cx="1787979" cy="1047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2" name="Google Shape;32;p3"/>
          <p:cNvSpPr txBox="1">
            <a:spLocks noGrp="1"/>
          </p:cNvSpPr>
          <p:nvPr>
            <p:ph type="title"/>
          </p:nvPr>
        </p:nvSpPr>
        <p:spPr>
          <a:xfrm>
            <a:off x="838200" y="555171"/>
            <a:ext cx="8877300" cy="11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>
            <a:spLocks noGrp="1"/>
          </p:cNvSpPr>
          <p:nvPr>
            <p:ph type="title"/>
          </p:nvPr>
        </p:nvSpPr>
        <p:spPr>
          <a:xfrm>
            <a:off x="1058779" y="1286227"/>
            <a:ext cx="10087276" cy="2159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body" idx="1"/>
          </p:nvPr>
        </p:nvSpPr>
        <p:spPr>
          <a:xfrm>
            <a:off x="1058779" y="4165953"/>
            <a:ext cx="10087276" cy="144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9993084" y="5390016"/>
            <a:ext cx="1828800" cy="1331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title"/>
          </p:nvPr>
        </p:nvSpPr>
        <p:spPr>
          <a:xfrm>
            <a:off x="838200" y="555171"/>
            <a:ext cx="8877300" cy="11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1"/>
          </p:nvPr>
        </p:nvSpPr>
        <p:spPr>
          <a:xfrm>
            <a:off x="838199" y="1825625"/>
            <a:ext cx="5252357" cy="4109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3543300" cy="4109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>
            <a:spLocks noGrp="1"/>
          </p:cNvSpPr>
          <p:nvPr>
            <p:ph type="sldNum" idx="12"/>
          </p:nvPr>
        </p:nvSpPr>
        <p:spPr>
          <a:xfrm>
            <a:off x="10076358" y="5731329"/>
            <a:ext cx="1787978" cy="1071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1"/>
          </p:nvPr>
        </p:nvSpPr>
        <p:spPr>
          <a:xfrm>
            <a:off x="839788" y="1992085"/>
            <a:ext cx="4205741" cy="512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2"/>
          </p:nvPr>
        </p:nvSpPr>
        <p:spPr>
          <a:xfrm>
            <a:off x="839788" y="2702379"/>
            <a:ext cx="4205741" cy="3216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3"/>
          </p:nvPr>
        </p:nvSpPr>
        <p:spPr>
          <a:xfrm>
            <a:off x="5372100" y="1992085"/>
            <a:ext cx="4327071" cy="512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4"/>
          </p:nvPr>
        </p:nvSpPr>
        <p:spPr>
          <a:xfrm>
            <a:off x="5372100" y="2702379"/>
            <a:ext cx="4327071" cy="3216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8859383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10076358" y="5731329"/>
            <a:ext cx="1787978" cy="1071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838200" y="555171"/>
            <a:ext cx="8877300" cy="11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10076358" y="5731329"/>
            <a:ext cx="1787978" cy="1071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sldNum" idx="12"/>
          </p:nvPr>
        </p:nvSpPr>
        <p:spPr>
          <a:xfrm>
            <a:off x="10076358" y="5731329"/>
            <a:ext cx="1787978" cy="1071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526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66859" y="1281339"/>
            <a:ext cx="4898069" cy="4587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>
            <a:spLocks noGrp="1"/>
          </p:cNvSpPr>
          <p:nvPr>
            <p:ph type="sldNum" idx="12"/>
          </p:nvPr>
        </p:nvSpPr>
        <p:spPr>
          <a:xfrm>
            <a:off x="10076358" y="5731329"/>
            <a:ext cx="1787978" cy="1071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526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5183188" y="1273629"/>
            <a:ext cx="5823902" cy="4112089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328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3ede727246f_31_0)">
  <p:cSld name="Generated (g3ede727246f_31_0)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0182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итульный слайд" type="title">
  <p:cSld name="TITLE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>
            <a:spLocks noGrp="1"/>
          </p:cNvSpPr>
          <p:nvPr>
            <p:ph type="ctrTitle"/>
          </p:nvPr>
        </p:nvSpPr>
        <p:spPr>
          <a:xfrm>
            <a:off x="1039528" y="2001837"/>
            <a:ext cx="10087200" cy="15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subTitle" idx="1"/>
          </p:nvPr>
        </p:nvSpPr>
        <p:spPr>
          <a:xfrm>
            <a:off x="1039528" y="4129238"/>
            <a:ext cx="10087200" cy="11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82" name="Google Shape;82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7530" y="-100001"/>
            <a:ext cx="3006013" cy="2125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31778" y="5438319"/>
            <a:ext cx="2860214" cy="160887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4" name="Google Shape;84;p12"/>
          <p:cNvCxnSpPr/>
          <p:nvPr/>
        </p:nvCxnSpPr>
        <p:spPr>
          <a:xfrm>
            <a:off x="4555671" y="1224644"/>
            <a:ext cx="7740000" cy="0"/>
          </a:xfrm>
          <a:prstGeom prst="straightConnector1">
            <a:avLst/>
          </a:prstGeom>
          <a:noFill/>
          <a:ln w="5715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5" name="Google Shape;85;p12"/>
          <p:cNvCxnSpPr/>
          <p:nvPr/>
        </p:nvCxnSpPr>
        <p:spPr>
          <a:xfrm>
            <a:off x="-114300" y="6237515"/>
            <a:ext cx="9720000" cy="0"/>
          </a:xfrm>
          <a:prstGeom prst="straightConnector1">
            <a:avLst/>
          </a:prstGeom>
          <a:noFill/>
          <a:ln w="5715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86" name="Google Shape;86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7530" y="-100001"/>
            <a:ext cx="3006013" cy="21259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7" name="Google Shape;87;p12"/>
          <p:cNvCxnSpPr/>
          <p:nvPr/>
        </p:nvCxnSpPr>
        <p:spPr>
          <a:xfrm>
            <a:off x="4555671" y="1224644"/>
            <a:ext cx="7740000" cy="0"/>
          </a:xfrm>
          <a:prstGeom prst="straightConnector1">
            <a:avLst/>
          </a:prstGeom>
          <a:noFill/>
          <a:ln w="5715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>
            <a:spLocks noGrp="1"/>
          </p:cNvSpPr>
          <p:nvPr>
            <p:ph type="body" idx="1"/>
          </p:nvPr>
        </p:nvSpPr>
        <p:spPr>
          <a:xfrm>
            <a:off x="838200" y="1959430"/>
            <a:ext cx="10281600" cy="36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sldNum" idx="12"/>
          </p:nvPr>
        </p:nvSpPr>
        <p:spPr>
          <a:xfrm>
            <a:off x="10080171" y="5698671"/>
            <a:ext cx="1788000" cy="10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/>
          </p:nvPr>
        </p:nvSpPr>
        <p:spPr>
          <a:xfrm>
            <a:off x="838200" y="555171"/>
            <a:ext cx="8877300" cy="11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xfrm>
            <a:off x="1058779" y="1286227"/>
            <a:ext cx="10087200" cy="215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4"/>
          <p:cNvSpPr txBox="1">
            <a:spLocks noGrp="1"/>
          </p:cNvSpPr>
          <p:nvPr>
            <p:ph type="body" idx="1"/>
          </p:nvPr>
        </p:nvSpPr>
        <p:spPr>
          <a:xfrm>
            <a:off x="1058779" y="4165953"/>
            <a:ext cx="10087200" cy="14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>
            <a:spLocks noGrp="1"/>
          </p:cNvSpPr>
          <p:nvPr>
            <p:ph type="sldNum" idx="12"/>
          </p:nvPr>
        </p:nvSpPr>
        <p:spPr>
          <a:xfrm>
            <a:off x="9993084" y="5390016"/>
            <a:ext cx="1828800" cy="13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98" name="Google Shape;98;p15"/>
          <p:cNvSpPr txBox="1">
            <a:spLocks noGrp="1"/>
          </p:cNvSpPr>
          <p:nvPr>
            <p:ph type="title"/>
          </p:nvPr>
        </p:nvSpPr>
        <p:spPr>
          <a:xfrm>
            <a:off x="838200" y="555171"/>
            <a:ext cx="8877300" cy="11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5"/>
          <p:cNvSpPr txBox="1">
            <a:spLocks noGrp="1"/>
          </p:cNvSpPr>
          <p:nvPr>
            <p:ph type="body" idx="1"/>
          </p:nvPr>
        </p:nvSpPr>
        <p:spPr>
          <a:xfrm>
            <a:off x="838199" y="1825625"/>
            <a:ext cx="5252400" cy="41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1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3543300" cy="41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1" name="Google Shape;101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sldNum" idx="12"/>
          </p:nvPr>
        </p:nvSpPr>
        <p:spPr>
          <a:xfrm>
            <a:off x="10076358" y="5731329"/>
            <a:ext cx="1788000" cy="10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body" idx="1"/>
          </p:nvPr>
        </p:nvSpPr>
        <p:spPr>
          <a:xfrm>
            <a:off x="839788" y="1992085"/>
            <a:ext cx="4205700" cy="5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5" name="Google Shape;105;p16"/>
          <p:cNvSpPr txBox="1">
            <a:spLocks noGrp="1"/>
          </p:cNvSpPr>
          <p:nvPr>
            <p:ph type="body" idx="2"/>
          </p:nvPr>
        </p:nvSpPr>
        <p:spPr>
          <a:xfrm>
            <a:off x="839788" y="2702379"/>
            <a:ext cx="4205700" cy="32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16"/>
          <p:cNvSpPr txBox="1">
            <a:spLocks noGrp="1"/>
          </p:cNvSpPr>
          <p:nvPr>
            <p:ph type="body" idx="3"/>
          </p:nvPr>
        </p:nvSpPr>
        <p:spPr>
          <a:xfrm>
            <a:off x="5372100" y="1992085"/>
            <a:ext cx="4327200" cy="5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7" name="Google Shape;107;p16"/>
          <p:cNvSpPr txBox="1">
            <a:spLocks noGrp="1"/>
          </p:cNvSpPr>
          <p:nvPr>
            <p:ph type="body" idx="4"/>
          </p:nvPr>
        </p:nvSpPr>
        <p:spPr>
          <a:xfrm>
            <a:off x="5372100" y="2702379"/>
            <a:ext cx="4327200" cy="32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885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>
            <a:spLocks noGrp="1"/>
          </p:cNvSpPr>
          <p:nvPr>
            <p:ph type="sldNum" idx="12"/>
          </p:nvPr>
        </p:nvSpPr>
        <p:spPr>
          <a:xfrm>
            <a:off x="10076358" y="5731329"/>
            <a:ext cx="1788000" cy="10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12" name="Google Shape;112;p17"/>
          <p:cNvSpPr txBox="1">
            <a:spLocks noGrp="1"/>
          </p:cNvSpPr>
          <p:nvPr>
            <p:ph type="title"/>
          </p:nvPr>
        </p:nvSpPr>
        <p:spPr>
          <a:xfrm>
            <a:off x="838200" y="555171"/>
            <a:ext cx="8877300" cy="11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8"/>
          <p:cNvSpPr txBox="1">
            <a:spLocks noGrp="1"/>
          </p:cNvSpPr>
          <p:nvPr>
            <p:ph type="sldNum" idx="12"/>
          </p:nvPr>
        </p:nvSpPr>
        <p:spPr>
          <a:xfrm>
            <a:off x="10076358" y="5731329"/>
            <a:ext cx="1788000" cy="10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>
            <a:spLocks noGrp="1"/>
          </p:cNvSpPr>
          <p:nvPr>
            <p:ph type="sldNum" idx="12"/>
          </p:nvPr>
        </p:nvSpPr>
        <p:spPr>
          <a:xfrm>
            <a:off x="10076358" y="5731329"/>
            <a:ext cx="1788000" cy="10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19" name="Google Shape;119;p1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5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9"/>
          <p:cNvSpPr txBox="1">
            <a:spLocks noGrp="1"/>
          </p:cNvSpPr>
          <p:nvPr>
            <p:ph type="body" idx="1"/>
          </p:nvPr>
        </p:nvSpPr>
        <p:spPr>
          <a:xfrm>
            <a:off x="5166859" y="1281339"/>
            <a:ext cx="4898100" cy="45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22" name="Google Shape;122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>
            <a:spLocks noGrp="1"/>
          </p:cNvSpPr>
          <p:nvPr>
            <p:ph type="sldNum" idx="12"/>
          </p:nvPr>
        </p:nvSpPr>
        <p:spPr>
          <a:xfrm>
            <a:off x="10076358" y="5731329"/>
            <a:ext cx="1788000" cy="10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25" name="Google Shape;125;p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5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0"/>
          <p:cNvSpPr>
            <a:spLocks noGrp="1"/>
          </p:cNvSpPr>
          <p:nvPr>
            <p:ph type="pic" idx="2"/>
          </p:nvPr>
        </p:nvSpPr>
        <p:spPr>
          <a:xfrm>
            <a:off x="5183188" y="1273629"/>
            <a:ext cx="5823900" cy="4112100"/>
          </a:xfrm>
          <a:prstGeom prst="rect">
            <a:avLst/>
          </a:prstGeom>
          <a:noFill/>
          <a:ln>
            <a:noFill/>
          </a:ln>
        </p:spPr>
      </p:sp>
      <p:sp>
        <p:nvSpPr>
          <p:cNvPr id="127" name="Google Shape;127;p2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3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28" name="Google Shape;128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3ede9b6201f_13_0)">
  <p:cSld name="Generated (g3ede9b6201f_13_0)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 title="0"/>
          <p:cNvSpPr txBox="1">
            <a:spLocks noGrp="1"/>
          </p:cNvSpPr>
          <p:nvPr>
            <p:ph type="sldNum" idx="12"/>
          </p:nvPr>
        </p:nvSpPr>
        <p:spPr>
          <a:xfrm>
            <a:off x="10076358" y="5731329"/>
            <a:ext cx="1787978" cy="1071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9600" b="0" i="0" u="none" strike="noStrike" cap="none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9600" b="0" i="0" u="none" strike="noStrike" cap="none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9600" b="0" i="0" u="none" strike="noStrike" cap="none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9600" b="0" i="0" u="none" strike="noStrike" cap="none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9600" b="0" i="0" u="none" strike="noStrike" cap="none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9600" b="0" i="0" u="none" strike="noStrike" cap="none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9600" b="0" i="0" u="none" strike="noStrike" cap="none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9600" b="0" i="0" u="none" strike="noStrike" cap="none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9600" b="0" i="0" u="none" strike="noStrike" cap="none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959429"/>
            <a:ext cx="10281557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225768" y="200819"/>
            <a:ext cx="1489158" cy="1053193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"/>
          <p:cNvSpPr txBox="1">
            <a:spLocks noGrp="1"/>
          </p:cNvSpPr>
          <p:nvPr>
            <p:ph type="title"/>
          </p:nvPr>
        </p:nvSpPr>
        <p:spPr>
          <a:xfrm>
            <a:off x="838200" y="555171"/>
            <a:ext cx="8877300" cy="11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cxnSp>
        <p:nvCxnSpPr>
          <p:cNvPr id="15" name="Google Shape;15;p1"/>
          <p:cNvCxnSpPr/>
          <p:nvPr/>
        </p:nvCxnSpPr>
        <p:spPr>
          <a:xfrm>
            <a:off x="-57750" y="6286500"/>
            <a:ext cx="9612000" cy="0"/>
          </a:xfrm>
          <a:prstGeom prst="straightConnector1">
            <a:avLst/>
          </a:prstGeom>
          <a:noFill/>
          <a:ln w="3810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6;p1"/>
          <p:cNvCxnSpPr/>
          <p:nvPr/>
        </p:nvCxnSpPr>
        <p:spPr>
          <a:xfrm>
            <a:off x="10260531" y="1094014"/>
            <a:ext cx="1980000" cy="0"/>
          </a:xfrm>
          <a:prstGeom prst="straightConnector1">
            <a:avLst/>
          </a:prstGeom>
          <a:noFill/>
          <a:ln w="3810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7;p1"/>
          <p:cNvCxnSpPr/>
          <p:nvPr/>
        </p:nvCxnSpPr>
        <p:spPr>
          <a:xfrm>
            <a:off x="-57750" y="6286500"/>
            <a:ext cx="9612000" cy="0"/>
          </a:xfrm>
          <a:prstGeom prst="straightConnector1">
            <a:avLst/>
          </a:prstGeom>
          <a:noFill/>
          <a:ln w="3810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" name="Google Shape;18;p1"/>
          <p:cNvCxnSpPr/>
          <p:nvPr/>
        </p:nvCxnSpPr>
        <p:spPr>
          <a:xfrm>
            <a:off x="10260531" y="1094014"/>
            <a:ext cx="1980000" cy="0"/>
          </a:xfrm>
          <a:prstGeom prst="straightConnector1">
            <a:avLst/>
          </a:prstGeom>
          <a:noFill/>
          <a:ln w="3810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70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 title="0"/>
          <p:cNvSpPr txBox="1">
            <a:spLocks noGrp="1"/>
          </p:cNvSpPr>
          <p:nvPr>
            <p:ph type="sldNum" idx="12"/>
          </p:nvPr>
        </p:nvSpPr>
        <p:spPr>
          <a:xfrm>
            <a:off x="10076358" y="5731329"/>
            <a:ext cx="1788000" cy="10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9600" b="0" i="0" u="none" strike="noStrike" cap="none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9600" b="0" i="0" u="none" strike="noStrike" cap="none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9600" b="0" i="0" u="none" strike="noStrike" cap="none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9600" b="0" i="0" u="none" strike="noStrike" cap="none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9600" b="0" i="0" u="none" strike="noStrike" cap="none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9600" b="0" i="0" u="none" strike="noStrike" cap="none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9600" b="0" i="0" u="none" strike="noStrike" cap="none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9600" b="0" i="0" u="none" strike="noStrike" cap="none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9600" b="0" i="0" u="none" strike="noStrike" cap="none">
                <a:solidFill>
                  <a:srgbClr val="D0CEC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body" idx="1"/>
          </p:nvPr>
        </p:nvSpPr>
        <p:spPr>
          <a:xfrm>
            <a:off x="838200" y="1959429"/>
            <a:ext cx="1028160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pic>
        <p:nvPicPr>
          <p:cNvPr id="73" name="Google Shape;73;p11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225768" y="200819"/>
            <a:ext cx="1489158" cy="1053193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1"/>
          <p:cNvSpPr txBox="1">
            <a:spLocks noGrp="1"/>
          </p:cNvSpPr>
          <p:nvPr>
            <p:ph type="title"/>
          </p:nvPr>
        </p:nvSpPr>
        <p:spPr>
          <a:xfrm>
            <a:off x="838200" y="555171"/>
            <a:ext cx="8877300" cy="11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cxnSp>
        <p:nvCxnSpPr>
          <p:cNvPr id="75" name="Google Shape;75;p11"/>
          <p:cNvCxnSpPr/>
          <p:nvPr/>
        </p:nvCxnSpPr>
        <p:spPr>
          <a:xfrm>
            <a:off x="-57750" y="6286500"/>
            <a:ext cx="9612000" cy="0"/>
          </a:xfrm>
          <a:prstGeom prst="straightConnector1">
            <a:avLst/>
          </a:prstGeom>
          <a:noFill/>
          <a:ln w="3810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1"/>
          <p:cNvCxnSpPr/>
          <p:nvPr/>
        </p:nvCxnSpPr>
        <p:spPr>
          <a:xfrm>
            <a:off x="10260531" y="1094014"/>
            <a:ext cx="1980000" cy="0"/>
          </a:xfrm>
          <a:prstGeom prst="straightConnector1">
            <a:avLst/>
          </a:prstGeom>
          <a:noFill/>
          <a:ln w="3810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7" name="Google Shape;77;p11"/>
          <p:cNvCxnSpPr/>
          <p:nvPr/>
        </p:nvCxnSpPr>
        <p:spPr>
          <a:xfrm>
            <a:off x="-57750" y="6286500"/>
            <a:ext cx="9612000" cy="0"/>
          </a:xfrm>
          <a:prstGeom prst="straightConnector1">
            <a:avLst/>
          </a:prstGeom>
          <a:noFill/>
          <a:ln w="3810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8" name="Google Shape;78;p11"/>
          <p:cNvCxnSpPr/>
          <p:nvPr/>
        </p:nvCxnSpPr>
        <p:spPr>
          <a:xfrm>
            <a:off x="10260531" y="1094014"/>
            <a:ext cx="1980000" cy="0"/>
          </a:xfrm>
          <a:prstGeom prst="straightConnector1">
            <a:avLst/>
          </a:prstGeom>
          <a:noFill/>
          <a:ln w="3810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6" name="Google Shape;136;p23"/>
          <p:cNvCxnSpPr/>
          <p:nvPr/>
        </p:nvCxnSpPr>
        <p:spPr>
          <a:xfrm>
            <a:off x="0" y="0"/>
            <a:ext cx="914400" cy="0"/>
          </a:xfrm>
          <a:prstGeom prst="straightConnector1">
            <a:avLst/>
          </a:prstGeom>
          <a:noFill/>
          <a:ln w="9525" cap="flat" cmpd="sng">
            <a:solidFill>
              <a:srgbClr val="FBFFFF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37" name="Google Shape;137;p23"/>
          <p:cNvSpPr txBox="1">
            <a:spLocks noGrp="1"/>
          </p:cNvSpPr>
          <p:nvPr>
            <p:ph type="ctrTitle"/>
          </p:nvPr>
        </p:nvSpPr>
        <p:spPr>
          <a:xfrm>
            <a:off x="1039528" y="2001837"/>
            <a:ext cx="10087276" cy="150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ru-RU" sz="3000" dirty="0"/>
              <a:t>Разработка программного обеспечения учебного </a:t>
            </a:r>
            <a:r>
              <a:rPr lang="ru-RU" sz="3000" dirty="0" err="1"/>
              <a:t>шестиосевого</a:t>
            </a:r>
            <a:r>
              <a:rPr lang="ru-RU" sz="3000" dirty="0"/>
              <a:t> робота-манипулятора с использованием </a:t>
            </a:r>
            <a:r>
              <a:rPr lang="ru-RU" sz="3000" dirty="0" err="1"/>
              <a:t>Dynamixel</a:t>
            </a:r>
            <a:r>
              <a:rPr lang="ru-RU" sz="3000" dirty="0"/>
              <a:t> и технического зрения</a:t>
            </a:r>
            <a:endParaRPr sz="3000" dirty="0"/>
          </a:p>
        </p:txBody>
      </p:sp>
      <p:sp>
        <p:nvSpPr>
          <p:cNvPr id="138" name="Google Shape;138;p23"/>
          <p:cNvSpPr txBox="1"/>
          <p:nvPr/>
        </p:nvSpPr>
        <p:spPr>
          <a:xfrm>
            <a:off x="1958766" y="4163145"/>
            <a:ext cx="82488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Студент: Ляхов Александр Алексеевич</a:t>
            </a:r>
            <a:endParaRPr sz="2400" dirty="0">
              <a:solidFill>
                <a:schemeClr val="dk1"/>
              </a:solidFill>
              <a:latin typeface="+mj-lt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23"/>
          <p:cNvSpPr txBox="1"/>
          <p:nvPr/>
        </p:nvSpPr>
        <p:spPr>
          <a:xfrm>
            <a:off x="1971675" y="5605839"/>
            <a:ext cx="82488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Московский Политех, 2026</a:t>
            </a:r>
            <a:endParaRPr sz="1800" dirty="0">
              <a:solidFill>
                <a:schemeClr val="dk1"/>
              </a:solidFill>
              <a:latin typeface="+mj-lt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138;p23">
            <a:extLst>
              <a:ext uri="{FF2B5EF4-FFF2-40B4-BE49-F238E27FC236}">
                <a16:creationId xmlns:a16="http://schemas.microsoft.com/office/drawing/2014/main" id="{13609700-21DE-C65E-6960-941038AC326E}"/>
              </a:ext>
            </a:extLst>
          </p:cNvPr>
          <p:cNvSpPr txBox="1"/>
          <p:nvPr/>
        </p:nvSpPr>
        <p:spPr>
          <a:xfrm>
            <a:off x="1786270" y="4717143"/>
            <a:ext cx="843420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Руководитель</a:t>
            </a:r>
            <a:r>
              <a:rPr lang="en-US" sz="240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: </a:t>
            </a:r>
            <a:r>
              <a:rPr lang="ru-RU" sz="240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Идиатуллов</a:t>
            </a:r>
            <a:r>
              <a:rPr lang="ru-RU" sz="240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Тимур </a:t>
            </a:r>
            <a:r>
              <a:rPr lang="ru-RU" sz="240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Тофикович</a:t>
            </a:r>
            <a:r>
              <a:rPr lang="ru-RU" sz="240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к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.</a:t>
            </a:r>
            <a:r>
              <a:rPr lang="ru-RU" sz="240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т</a:t>
            </a:r>
            <a:r>
              <a:rPr lang="en-US" sz="240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.</a:t>
            </a:r>
            <a:r>
              <a:rPr lang="ru-RU" sz="240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н</a:t>
            </a:r>
            <a:r>
              <a:rPr lang="en-US" sz="240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, </a:t>
            </a:r>
            <a:r>
              <a:rPr lang="ru-RU" sz="240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доцент</a:t>
            </a:r>
            <a:endParaRPr sz="2400" dirty="0">
              <a:solidFill>
                <a:schemeClr val="dk1"/>
              </a:solidFill>
              <a:latin typeface="+mj-lt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6" name="Google Shape;166;p25"/>
          <p:cNvPicPr preferRelativeResize="0"/>
          <p:nvPr/>
        </p:nvPicPr>
        <p:blipFill rotWithShape="1">
          <a:blip r:embed="rId3">
            <a:alphaModFix/>
          </a:blip>
          <a:srcRect l="10" r="10"/>
          <a:stretch/>
        </p:blipFill>
        <p:spPr>
          <a:xfrm>
            <a:off x="10858500" y="190500"/>
            <a:ext cx="1143000" cy="80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5"/>
          <p:cNvSpPr txBox="1"/>
          <p:nvPr/>
        </p:nvSpPr>
        <p:spPr>
          <a:xfrm>
            <a:off x="838200" y="476250"/>
            <a:ext cx="104775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>
                <a:solidFill>
                  <a:srgbClr val="000000"/>
                </a:solidFill>
              </a:rPr>
              <a:t>Цели и задачи работы</a:t>
            </a:r>
            <a:endParaRPr sz="3600" b="1">
              <a:solidFill>
                <a:srgbClr val="000000"/>
              </a:solidFill>
            </a:endParaRPr>
          </a:p>
        </p:txBody>
      </p:sp>
      <p:sp>
        <p:nvSpPr>
          <p:cNvPr id="168" name="Google Shape;168;p25"/>
          <p:cNvSpPr/>
          <p:nvPr/>
        </p:nvSpPr>
        <p:spPr>
          <a:xfrm>
            <a:off x="838200" y="1333500"/>
            <a:ext cx="10515600" cy="1173978"/>
          </a:xfrm>
          <a:prstGeom prst="roundRect">
            <a:avLst>
              <a:gd name="adj" fmla="val 13636"/>
            </a:avLst>
          </a:prstGeom>
          <a:solidFill>
            <a:srgbClr val="F3F4F6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25"/>
          <p:cNvSpPr txBox="1"/>
          <p:nvPr/>
        </p:nvSpPr>
        <p:spPr>
          <a:xfrm>
            <a:off x="1047750" y="1476375"/>
            <a:ext cx="100965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ru-RU" sz="1530" b="1" dirty="0">
                <a:solidFill>
                  <a:srgbClr val="1F2937"/>
                </a:solidFill>
              </a:rPr>
              <a:t>Цель ВКР: Разработать программное обеспечение и архитектуру системы управления шестиосевым роботом-манипулятором, включающую HAL-драйвер сервоприводов Dynamixel, модули прямой/обратной кинематики, систему технического зрения, десктопный и web-интерфейсы, а также интеграцию с ROS2.</a:t>
            </a:r>
          </a:p>
        </p:txBody>
      </p:sp>
      <p:grpSp>
        <p:nvGrpSpPr>
          <p:cNvPr id="170" name="Google Shape;170;p25"/>
          <p:cNvGrpSpPr/>
          <p:nvPr/>
        </p:nvGrpSpPr>
        <p:grpSpPr>
          <a:xfrm>
            <a:off x="838200" y="2571750"/>
            <a:ext cx="2476500" cy="3062649"/>
            <a:chOff x="0" y="0"/>
            <a:chExt cx="2476500" cy="3238500"/>
          </a:xfrm>
        </p:grpSpPr>
        <p:sp>
          <p:nvSpPr>
            <p:cNvPr id="171" name="Google Shape;171;p25"/>
            <p:cNvSpPr/>
            <p:nvPr/>
          </p:nvSpPr>
          <p:spPr>
            <a:xfrm>
              <a:off x="0" y="0"/>
              <a:ext cx="2476500" cy="3238500"/>
            </a:xfrm>
            <a:prstGeom prst="roundRect">
              <a:avLst>
                <a:gd name="adj" fmla="val 5769"/>
              </a:avLst>
            </a:prstGeom>
            <a:solidFill>
              <a:srgbClr val="FFFFFF"/>
            </a:solidFill>
            <a:ln w="9525" cap="flat" cmpd="sng">
              <a:solidFill>
                <a:srgbClr val="E5E7E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5"/>
            <p:cNvSpPr/>
            <p:nvPr/>
          </p:nvSpPr>
          <p:spPr>
            <a:xfrm>
              <a:off x="0" y="0"/>
              <a:ext cx="2476500" cy="476400"/>
            </a:xfrm>
            <a:prstGeom prst="roundRect">
              <a:avLst>
                <a:gd name="adj" fmla="val 30000"/>
              </a:avLst>
            </a:prstGeom>
            <a:solidFill>
              <a:srgbClr val="C9DAF8">
                <a:alpha val="3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25"/>
            <p:cNvSpPr txBox="1"/>
            <p:nvPr/>
          </p:nvSpPr>
          <p:spPr>
            <a:xfrm>
              <a:off x="142875" y="142875"/>
              <a:ext cx="21909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500" b="1">
                  <a:solidFill>
                    <a:schemeClr val="dk1"/>
                  </a:solidFill>
                </a:rPr>
                <a:t>Анализ</a:t>
              </a:r>
              <a:endParaRPr sz="1500" b="1">
                <a:solidFill>
                  <a:schemeClr val="dk1"/>
                </a:solidFill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ru-RU">
                  <a:solidFill>
                    <a:srgbClr val="4B5563"/>
                  </a:solidFill>
                </a:rPr>
                <a:t>Выявить основные инфраструктурные барьеры и причины когнитивной перегрузки студентов при работе с ROS2 и закрытыми платформами.</a:t>
              </a:r>
              <a:endParaRPr>
                <a:solidFill>
                  <a:srgbClr val="4B5563"/>
                </a:solidFill>
              </a:endParaRPr>
            </a:p>
          </p:txBody>
        </p:sp>
      </p:grpSp>
      <p:grpSp>
        <p:nvGrpSpPr>
          <p:cNvPr id="174" name="Google Shape;174;p25"/>
          <p:cNvGrpSpPr/>
          <p:nvPr/>
        </p:nvGrpSpPr>
        <p:grpSpPr>
          <a:xfrm>
            <a:off x="3524250" y="2571750"/>
            <a:ext cx="2476500" cy="3062649"/>
            <a:chOff x="0" y="0"/>
            <a:chExt cx="2476500" cy="3238500"/>
          </a:xfrm>
        </p:grpSpPr>
        <p:sp>
          <p:nvSpPr>
            <p:cNvPr id="175" name="Google Shape;175;p25"/>
            <p:cNvSpPr/>
            <p:nvPr/>
          </p:nvSpPr>
          <p:spPr>
            <a:xfrm>
              <a:off x="0" y="0"/>
              <a:ext cx="2476500" cy="3238500"/>
            </a:xfrm>
            <a:prstGeom prst="roundRect">
              <a:avLst>
                <a:gd name="adj" fmla="val 5769"/>
              </a:avLst>
            </a:prstGeom>
            <a:solidFill>
              <a:srgbClr val="FFFFFF"/>
            </a:solidFill>
            <a:ln w="9525" cap="flat" cmpd="sng">
              <a:solidFill>
                <a:srgbClr val="E5E7E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25"/>
            <p:cNvSpPr/>
            <p:nvPr/>
          </p:nvSpPr>
          <p:spPr>
            <a:xfrm>
              <a:off x="0" y="0"/>
              <a:ext cx="2476500" cy="476400"/>
            </a:xfrm>
            <a:prstGeom prst="roundRect">
              <a:avLst>
                <a:gd name="adj" fmla="val 30000"/>
              </a:avLst>
            </a:prstGeom>
            <a:solidFill>
              <a:srgbClr val="C9DAF8">
                <a:alpha val="3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25"/>
            <p:cNvSpPr txBox="1"/>
            <p:nvPr/>
          </p:nvSpPr>
          <p:spPr>
            <a:xfrm>
              <a:off x="142875" y="142875"/>
              <a:ext cx="21909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500" b="1">
                  <a:solidFill>
                    <a:schemeClr val="dk1"/>
                  </a:solidFill>
                </a:rPr>
                <a:t>Проектирование</a:t>
              </a:r>
              <a:endParaRPr sz="1500" b="1">
                <a:solidFill>
                  <a:schemeClr val="dk1"/>
                </a:solidFill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ru-RU">
                  <a:solidFill>
                    <a:srgbClr val="4B5563"/>
                  </a:solidFill>
                </a:rPr>
                <a:t>Спроектировать вспомогательное ядро, надежно изолирующее сложную аппаратную логику для снижения порога входа обучающихся.</a:t>
              </a:r>
              <a:endParaRPr>
                <a:solidFill>
                  <a:srgbClr val="4B5563"/>
                </a:solidFill>
              </a:endParaRPr>
            </a:p>
          </p:txBody>
        </p:sp>
      </p:grpSp>
      <p:grpSp>
        <p:nvGrpSpPr>
          <p:cNvPr id="178" name="Google Shape;178;p25"/>
          <p:cNvGrpSpPr/>
          <p:nvPr/>
        </p:nvGrpSpPr>
        <p:grpSpPr>
          <a:xfrm>
            <a:off x="6210300" y="2571750"/>
            <a:ext cx="2476500" cy="3062649"/>
            <a:chOff x="0" y="0"/>
            <a:chExt cx="2476500" cy="3238500"/>
          </a:xfrm>
        </p:grpSpPr>
        <p:sp>
          <p:nvSpPr>
            <p:cNvPr id="179" name="Google Shape;179;p25"/>
            <p:cNvSpPr/>
            <p:nvPr/>
          </p:nvSpPr>
          <p:spPr>
            <a:xfrm>
              <a:off x="0" y="0"/>
              <a:ext cx="2476500" cy="3238500"/>
            </a:xfrm>
            <a:prstGeom prst="roundRect">
              <a:avLst>
                <a:gd name="adj" fmla="val 5769"/>
              </a:avLst>
            </a:prstGeom>
            <a:solidFill>
              <a:srgbClr val="FFFFFF"/>
            </a:solidFill>
            <a:ln w="9525" cap="flat" cmpd="sng">
              <a:solidFill>
                <a:srgbClr val="E5E7E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25"/>
            <p:cNvSpPr/>
            <p:nvPr/>
          </p:nvSpPr>
          <p:spPr>
            <a:xfrm>
              <a:off x="0" y="0"/>
              <a:ext cx="2476500" cy="476400"/>
            </a:xfrm>
            <a:prstGeom prst="roundRect">
              <a:avLst>
                <a:gd name="adj" fmla="val 30000"/>
              </a:avLst>
            </a:prstGeom>
            <a:solidFill>
              <a:srgbClr val="C9DAF8">
                <a:alpha val="3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25"/>
            <p:cNvSpPr txBox="1"/>
            <p:nvPr/>
          </p:nvSpPr>
          <p:spPr>
            <a:xfrm>
              <a:off x="142875" y="142875"/>
              <a:ext cx="21909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500" b="1" dirty="0">
                  <a:solidFill>
                    <a:schemeClr val="dk1"/>
                  </a:solidFill>
                </a:rPr>
                <a:t>Математическое ядро</a:t>
              </a:r>
              <a:endParaRPr sz="1500" b="1" dirty="0">
                <a:solidFill>
                  <a:schemeClr val="dk1"/>
                </a:solidFill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ru-RU" dirty="0">
                  <a:solidFill>
                    <a:srgbClr val="4B5563"/>
                  </a:solidFill>
                </a:rPr>
                <a:t>Разработать базовые модули для решения задач обратной кинематики и машинного зрения студентами.</a:t>
              </a:r>
              <a:endParaRPr dirty="0">
                <a:solidFill>
                  <a:srgbClr val="4B5563"/>
                </a:solidFill>
              </a:endParaRPr>
            </a:p>
          </p:txBody>
        </p:sp>
      </p:grpSp>
      <p:grpSp>
        <p:nvGrpSpPr>
          <p:cNvPr id="182" name="Google Shape;182;p25"/>
          <p:cNvGrpSpPr/>
          <p:nvPr/>
        </p:nvGrpSpPr>
        <p:grpSpPr>
          <a:xfrm>
            <a:off x="8896350" y="2571750"/>
            <a:ext cx="2476500" cy="3062649"/>
            <a:chOff x="0" y="0"/>
            <a:chExt cx="2476500" cy="3238500"/>
          </a:xfrm>
        </p:grpSpPr>
        <p:sp>
          <p:nvSpPr>
            <p:cNvPr id="183" name="Google Shape;183;p25"/>
            <p:cNvSpPr/>
            <p:nvPr/>
          </p:nvSpPr>
          <p:spPr>
            <a:xfrm>
              <a:off x="0" y="0"/>
              <a:ext cx="2476500" cy="3238500"/>
            </a:xfrm>
            <a:prstGeom prst="roundRect">
              <a:avLst>
                <a:gd name="adj" fmla="val 5769"/>
              </a:avLst>
            </a:prstGeom>
            <a:solidFill>
              <a:srgbClr val="FFFFFF"/>
            </a:solidFill>
            <a:ln w="9525" cap="flat" cmpd="sng">
              <a:solidFill>
                <a:srgbClr val="FCA5A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25"/>
            <p:cNvSpPr/>
            <p:nvPr/>
          </p:nvSpPr>
          <p:spPr>
            <a:xfrm>
              <a:off x="0" y="0"/>
              <a:ext cx="2476500" cy="476400"/>
            </a:xfrm>
            <a:prstGeom prst="roundRect">
              <a:avLst>
                <a:gd name="adj" fmla="val 30000"/>
              </a:avLst>
            </a:prstGeom>
            <a:solidFill>
              <a:srgbClr val="FEE2E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25"/>
            <p:cNvSpPr txBox="1"/>
            <p:nvPr/>
          </p:nvSpPr>
          <p:spPr>
            <a:xfrm>
              <a:off x="142875" y="142875"/>
              <a:ext cx="21909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500" b="1">
                  <a:solidFill>
                    <a:schemeClr val="dk1"/>
                  </a:solidFill>
                </a:rPr>
                <a:t>Верификация</a:t>
              </a:r>
              <a:endParaRPr sz="1500" b="1">
                <a:solidFill>
                  <a:schemeClr val="dk1"/>
                </a:solidFill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ru-RU">
                  <a:solidFill>
                    <a:srgbClr val="4B5563"/>
                  </a:solidFill>
                </a:rPr>
                <a:t>Разработать цифровой двойник для безопасного тестирования студенческих алгоритмов перед переносом на железо.</a:t>
              </a:r>
              <a:endParaRPr>
                <a:solidFill>
                  <a:srgbClr val="4B5563"/>
                </a:solidFill>
              </a:endParaRPr>
            </a:p>
          </p:txBody>
        </p:sp>
      </p:grpSp>
      <p:sp>
        <p:nvSpPr>
          <p:cNvPr id="186" name="Google Shape;186;p25"/>
          <p:cNvSpPr txBox="1">
            <a:spLocks noGrp="1"/>
          </p:cNvSpPr>
          <p:nvPr>
            <p:ph type="sldNum" idx="4294967295"/>
          </p:nvPr>
        </p:nvSpPr>
        <p:spPr>
          <a:xfrm>
            <a:off x="10080171" y="5698671"/>
            <a:ext cx="1788000" cy="1047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5" name="Google Shape;145;p24"/>
          <p:cNvCxnSpPr/>
          <p:nvPr/>
        </p:nvCxnSpPr>
        <p:spPr>
          <a:xfrm>
            <a:off x="0" y="0"/>
            <a:ext cx="914400" cy="0"/>
          </a:xfrm>
          <a:prstGeom prst="straightConnector1">
            <a:avLst/>
          </a:prstGeom>
          <a:noFill/>
          <a:ln w="9525" cap="flat" cmpd="sng">
            <a:solidFill>
              <a:srgbClr val="FBFFFF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46" name="Google Shape;146;p24"/>
          <p:cNvSpPr txBox="1">
            <a:spLocks noGrp="1"/>
          </p:cNvSpPr>
          <p:nvPr>
            <p:ph type="sldNum" idx="12"/>
          </p:nvPr>
        </p:nvSpPr>
        <p:spPr>
          <a:xfrm>
            <a:off x="10129157" y="5440362"/>
            <a:ext cx="1788000" cy="12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3</a:t>
            </a:r>
          </a:p>
        </p:txBody>
      </p:sp>
      <p:sp>
        <p:nvSpPr>
          <p:cNvPr id="147" name="Google Shape;147;p24"/>
          <p:cNvSpPr txBox="1">
            <a:spLocks noGrp="1"/>
          </p:cNvSpPr>
          <p:nvPr>
            <p:ph type="title"/>
          </p:nvPr>
        </p:nvSpPr>
        <p:spPr>
          <a:xfrm>
            <a:off x="838200" y="476250"/>
            <a:ext cx="8877300" cy="1135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 dirty="0">
                <a:solidFill>
                  <a:srgbClr val="000000"/>
                </a:solidFill>
              </a:rPr>
              <a:t>Проблематика и актуальность в образовательном процессе</a:t>
            </a:r>
            <a:endParaRPr sz="3600" b="1" dirty="0">
              <a:solidFill>
                <a:srgbClr val="000000"/>
              </a:solidFill>
            </a:endParaRPr>
          </a:p>
        </p:txBody>
      </p:sp>
      <p:sp>
        <p:nvSpPr>
          <p:cNvPr id="148" name="Google Shape;148;p24"/>
          <p:cNvSpPr/>
          <p:nvPr/>
        </p:nvSpPr>
        <p:spPr>
          <a:xfrm>
            <a:off x="8077200" y="1714476"/>
            <a:ext cx="3429000" cy="3379200"/>
          </a:xfrm>
          <a:prstGeom prst="roundRect">
            <a:avLst>
              <a:gd name="adj" fmla="val 5769"/>
            </a:avLst>
          </a:prstGeom>
          <a:solidFill>
            <a:srgbClr val="C9DAF8"/>
          </a:solidFill>
          <a:ln w="9525" cap="flat" cmpd="sng">
            <a:solidFill>
              <a:srgbClr val="FB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24"/>
          <p:cNvSpPr txBox="1"/>
          <p:nvPr/>
        </p:nvSpPr>
        <p:spPr>
          <a:xfrm>
            <a:off x="8220075" y="1857375"/>
            <a:ext cx="3143400" cy="246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chemeClr val="dk1"/>
                </a:solidFill>
              </a:rPr>
              <a:t>Ключевая задача</a:t>
            </a:r>
            <a:endParaRPr sz="1600" b="1">
              <a:solidFill>
                <a:schemeClr val="dk1"/>
              </a:solidFill>
            </a:endParaRPr>
          </a:p>
        </p:txBody>
      </p:sp>
      <p:sp>
        <p:nvSpPr>
          <p:cNvPr id="150" name="Google Shape;150;p24"/>
          <p:cNvSpPr txBox="1"/>
          <p:nvPr/>
        </p:nvSpPr>
        <p:spPr>
          <a:xfrm>
            <a:off x="8220075" y="2286000"/>
            <a:ext cx="3143400" cy="2385268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dk1"/>
                </a:solidFill>
              </a:rPr>
              <a:t>Разработать учебный комплекс с открытой архитектурой , подходящий для простого и безопасного решения студентами задач:</a:t>
            </a:r>
            <a:endParaRPr dirty="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ru-RU" dirty="0">
                <a:solidFill>
                  <a:schemeClr val="dk1"/>
                </a:solidFill>
              </a:rPr>
              <a:t>обратной кинематики</a:t>
            </a:r>
            <a:endParaRPr dirty="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ru-RU" dirty="0">
                <a:solidFill>
                  <a:schemeClr val="dk1"/>
                </a:solidFill>
              </a:rPr>
              <a:t>машинного зрения</a:t>
            </a:r>
            <a:endParaRPr dirty="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ru-RU" dirty="0">
                <a:solidFill>
                  <a:schemeClr val="dk1"/>
                </a:solidFill>
              </a:rPr>
              <a:t>обучение моделей машинного обучения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dk1"/>
                </a:solidFill>
              </a:rPr>
              <a:t>Без отвлечения на аппаратную отладку.</a:t>
            </a:r>
            <a:endParaRPr dirty="0">
              <a:solidFill>
                <a:schemeClr val="dk1"/>
              </a:solidFill>
            </a:endParaRPr>
          </a:p>
        </p:txBody>
      </p:sp>
      <p:grpSp>
        <p:nvGrpSpPr>
          <p:cNvPr id="151" name="Google Shape;151;p24"/>
          <p:cNvGrpSpPr/>
          <p:nvPr/>
        </p:nvGrpSpPr>
        <p:grpSpPr>
          <a:xfrm>
            <a:off x="838200" y="1714481"/>
            <a:ext cx="3429000" cy="3379184"/>
            <a:chOff x="838200" y="1714500"/>
            <a:chExt cx="3429000" cy="2476500"/>
          </a:xfrm>
        </p:grpSpPr>
        <p:sp>
          <p:nvSpPr>
            <p:cNvPr id="152" name="Google Shape;152;p24"/>
            <p:cNvSpPr/>
            <p:nvPr/>
          </p:nvSpPr>
          <p:spPr>
            <a:xfrm>
              <a:off x="838200" y="1714500"/>
              <a:ext cx="3429000" cy="2476500"/>
            </a:xfrm>
            <a:prstGeom prst="roundRect">
              <a:avLst>
                <a:gd name="adj" fmla="val 5769"/>
              </a:avLst>
            </a:prstGeom>
            <a:solidFill>
              <a:srgbClr val="F3F4F6"/>
            </a:solidFill>
            <a:ln w="9525" cap="flat" cmpd="sng">
              <a:solidFill>
                <a:srgbClr val="E5E7E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24"/>
            <p:cNvSpPr txBox="1"/>
            <p:nvPr/>
          </p:nvSpPr>
          <p:spPr>
            <a:xfrm>
              <a:off x="981075" y="1857375"/>
              <a:ext cx="31434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600" b="1">
                  <a:solidFill>
                    <a:srgbClr val="1F2937"/>
                  </a:solidFill>
                </a:rPr>
                <a:t>Текущая ситуация: Структурные разделения</a:t>
              </a:r>
              <a:endParaRPr sz="1600" b="1">
                <a:solidFill>
                  <a:srgbClr val="1F2937"/>
                </a:solidFill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ru-RU" b="1">
                  <a:solidFill>
                    <a:srgbClr val="374151"/>
                  </a:solidFill>
                </a:rPr>
                <a:t>Образовательные наборы:</a:t>
              </a:r>
              <a:endParaRPr b="1">
                <a:solidFill>
                  <a:srgbClr val="374151"/>
                </a:solidFill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ru-RU" sz="1300">
                  <a:solidFill>
                    <a:srgbClr val="4B5563"/>
                  </a:solidFill>
                </a:rPr>
                <a:t>«Закрытые» системы, не позволяющие студентам глубоко модифицировать алгоритмы технического зрения и кинематики.</a:t>
              </a:r>
              <a:endParaRPr sz="1300">
                <a:solidFill>
                  <a:srgbClr val="4B5563"/>
                </a:solidFill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ru-RU" b="1">
                  <a:solidFill>
                    <a:srgbClr val="374151"/>
                  </a:solidFill>
                </a:rPr>
                <a:t>Промышленные комплексы (ROS2):</a:t>
              </a:r>
              <a:endParaRPr b="1">
                <a:solidFill>
                  <a:srgbClr val="374151"/>
                </a:solidFill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ru-RU" sz="1300">
                  <a:solidFill>
                    <a:srgbClr val="4B5563"/>
                  </a:solidFill>
                </a:rPr>
                <a:t>Высокий инфраструктурный барьер. Требуют недель на настройку среды.</a:t>
              </a:r>
              <a:endParaRPr sz="1300">
                <a:solidFill>
                  <a:srgbClr val="4B5563"/>
                </a:solidFill>
              </a:endParaRPr>
            </a:p>
          </p:txBody>
        </p:sp>
      </p:grpSp>
      <p:grpSp>
        <p:nvGrpSpPr>
          <p:cNvPr id="154" name="Google Shape;154;p24"/>
          <p:cNvGrpSpPr/>
          <p:nvPr/>
        </p:nvGrpSpPr>
        <p:grpSpPr>
          <a:xfrm>
            <a:off x="4457700" y="1714514"/>
            <a:ext cx="3429000" cy="3379184"/>
            <a:chOff x="4457700" y="1714500"/>
            <a:chExt cx="3429000" cy="2476500"/>
          </a:xfrm>
        </p:grpSpPr>
        <p:sp>
          <p:nvSpPr>
            <p:cNvPr id="155" name="Google Shape;155;p24"/>
            <p:cNvSpPr/>
            <p:nvPr/>
          </p:nvSpPr>
          <p:spPr>
            <a:xfrm>
              <a:off x="4457700" y="1714500"/>
              <a:ext cx="3429000" cy="2476500"/>
            </a:xfrm>
            <a:prstGeom prst="roundRect">
              <a:avLst>
                <a:gd name="adj" fmla="val 5769"/>
              </a:avLst>
            </a:prstGeom>
            <a:solidFill>
              <a:srgbClr val="FEF2F2"/>
            </a:solidFill>
            <a:ln w="9525" cap="flat" cmpd="sng">
              <a:solidFill>
                <a:srgbClr val="FEE2E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24"/>
            <p:cNvSpPr txBox="1"/>
            <p:nvPr/>
          </p:nvSpPr>
          <p:spPr>
            <a:xfrm>
              <a:off x="4600575" y="1857375"/>
              <a:ext cx="31434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600" b="1">
                  <a:solidFill>
                    <a:schemeClr val="dk1"/>
                  </a:solidFill>
                </a:rPr>
                <a:t>Проблема обучения: Когнитивная перегрузка</a:t>
              </a:r>
              <a:endParaRPr sz="1600" b="1">
                <a:solidFill>
                  <a:schemeClr val="dk1"/>
                </a:solidFill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ru-RU" b="1">
                  <a:solidFill>
                    <a:schemeClr val="dk1"/>
                  </a:solidFill>
                </a:rPr>
                <a:t>Разрыв между теорией и практикой:</a:t>
              </a:r>
              <a:endParaRPr b="1">
                <a:solidFill>
                  <a:schemeClr val="dk1"/>
                </a:solidFill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ru-RU">
                  <a:solidFill>
                    <a:schemeClr val="dk1"/>
                  </a:solidFill>
                </a:rPr>
                <a:t>Студенты вынуждены тратить учебное время на отладку низкоуровневого обмена данными (драйверы, протоколы) вместо изучения высокоуровневых алгоритмов.</a:t>
              </a:r>
              <a:endParaRPr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6"/>
          <p:cNvSpPr txBox="1">
            <a:spLocks noGrp="1"/>
          </p:cNvSpPr>
          <p:nvPr>
            <p:ph type="sldNum" idx="12"/>
          </p:nvPr>
        </p:nvSpPr>
        <p:spPr>
          <a:xfrm>
            <a:off x="10080171" y="5698671"/>
            <a:ext cx="1788000" cy="1047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>4</a:t>
            </a:r>
          </a:p>
        </p:txBody>
      </p:sp>
      <p:sp>
        <p:nvSpPr>
          <p:cNvPr id="193" name="Google Shape;193;p26"/>
          <p:cNvSpPr txBox="1">
            <a:spLocks noGrp="1"/>
          </p:cNvSpPr>
          <p:nvPr>
            <p:ph type="title"/>
          </p:nvPr>
        </p:nvSpPr>
        <p:spPr>
          <a:xfrm>
            <a:off x="838200" y="555171"/>
            <a:ext cx="8877300" cy="1135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/>
              <a:t>Анализ аналогов</a:t>
            </a:r>
            <a:endParaRPr/>
          </a:p>
        </p:txBody>
      </p:sp>
      <p:graphicFrame>
        <p:nvGraphicFramePr>
          <p:cNvPr id="194" name="Google Shape;194;p26"/>
          <p:cNvGraphicFramePr/>
          <p:nvPr>
            <p:extLst>
              <p:ext uri="{D42A27DB-BD31-4B8C-83A1-F6EECF244321}">
                <p14:modId xmlns:p14="http://schemas.microsoft.com/office/powerpoint/2010/main" val="3535364400"/>
              </p:ext>
            </p:extLst>
          </p:nvPr>
        </p:nvGraphicFramePr>
        <p:xfrm>
          <a:off x="952500" y="1690675"/>
          <a:ext cx="10287000" cy="3169800"/>
        </p:xfrm>
        <a:graphic>
          <a:graphicData uri="http://schemas.openxmlformats.org/drawingml/2006/table">
            <a:tbl>
              <a:tblPr>
                <a:noFill/>
                <a:tableStyleId>{3D275773-64A0-4169-8177-B0009E08A9DC}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6225">
                <a:tc>
                  <a:txBody>
                    <a:bodyPr/>
                    <a:lstStyle/>
                    <a:p>
                      <a:r>
                        <a:t>Платформа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Сложность старта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Интеграция зрения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Real-time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Открытость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25">
                <a:tc>
                  <a:txBody>
                    <a:bodyPr/>
                    <a:lstStyle/>
                    <a:p>
                      <a:r>
                        <a:t>ROS2 / MoveIt 2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Высокая (1-2 нед.)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Пакетная (CV Bridge)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Ограниченно (DDS)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Открытая (BSD)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25">
                <a:tc>
                  <a:txBody>
                    <a:bodyPr/>
                    <a:lstStyle/>
                    <a:p>
                      <a:r>
                        <a:t>LeRobot / SO-100 (HF)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Средняя (часы)</a:t>
                      </a: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Через ML-модели</a:t>
                      </a: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Нет (GPU)</a:t>
                      </a: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Открытая (Apache 2)</a:t>
                      </a: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25">
                <a:tc>
                  <a:txBody>
                    <a:bodyPr/>
                    <a:lstStyle/>
                    <a:p>
                      <a:r>
                        <a:t>FANUC RoboGuide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Высокая (сертиф.)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iRVision (проприет.)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Да (+/-1%)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Закрытая (комм.)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25">
                <a:tc>
                  <a:txBody>
                    <a:bodyPr/>
                    <a:lstStyle/>
                    <a:p>
                      <a:r>
                        <a:t>ABB RobotStudio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Высокая (обучение)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Встроенная 2D/3D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Да (+/-2%)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Закрытая (платн.)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25">
                <a:tc>
                  <a:txBody>
                    <a:bodyPr/>
                    <a:lstStyle/>
                    <a:p>
                      <a:r>
                        <a:t>RoboDK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Средняя (Python API)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Через внешние SDK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Приближ. (+/-10%)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Полуоткрытая ($)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3246642"/>
                  </a:ext>
                </a:extLst>
              </a:tr>
              <a:tr h="396225">
                <a:tc>
                  <a:txBody>
                    <a:bodyPr/>
                    <a:lstStyle/>
                    <a:p>
                      <a:r>
                        <a:t>NVIDIA Isaac Sim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Высокая (GPU, USD)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AI-native (CV+ML)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Да (PhysX 5)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Открытая (беспл.)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5771098"/>
                  </a:ext>
                </a:extLst>
              </a:tr>
              <a:tr h="396225">
                <a:tc>
                  <a:txBody>
                    <a:bodyPr/>
                    <a:lstStyle/>
                    <a:p>
                      <a:r>
                        <a:t>Разрабатываемое ПО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Низкая (1 час)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Встроенная (VLM+CV)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Да (3-15 ms)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Полная (Open Source)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946265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6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2E"/>
                </a:solidFill>
              </a:defRPr>
            </a:pPr>
            <a:r>
              <a:t>Аппаратная платформа: Dynamixel</a:t>
            </a:r>
          </a:p>
          <a:p>
            <a:pPr>
              <a:spcBef>
                <a:spcPts val="600"/>
              </a:spcBef>
              <a:defRPr sz="1400">
                <a:solidFill>
                  <a:srgbClr val="666666"/>
                </a:solidFill>
              </a:defRPr>
            </a:pPr>
            <a:r>
              <a:t>Выбор сервоприводов для учебного робота-манипулятора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64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70C0"/>
                </a:solidFill>
              </a:defRPr>
            </a:pPr>
            <a:r>
              <a:t>6 DOF на Dynamixel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21600"/>
            <a:ext cx="660000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Шесть степеней свободы на сервоприводах Dynamixel с обратной связью. Индустриальный стандарт образовательной робототехники.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21600"/>
            <a:ext cx="64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70C0"/>
                </a:solidFill>
              </a:defRPr>
            </a:pPr>
            <a:r>
              <a:t>Надёжность и точность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71600"/>
            <a:ext cx="660000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Встроенный PID-регулятор, 12-битный магнитный энкодер, повторяемость &lt; 0.5°.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71600"/>
            <a:ext cx="64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70C0"/>
                </a:solidFill>
              </a:defRPr>
            </a:pPr>
            <a:r>
              <a:t>Экосистема ROS2 + SDK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21600"/>
            <a:ext cx="660000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Поддержка ROS2, MoveIt 2, Python SDK (DynamixelSDK). Готовые драйверы для Gazebo и MuJoCo.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21600"/>
            <a:ext cx="64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70C0"/>
                </a:solidFill>
              </a:defRPr>
            </a:pPr>
            <a:r>
              <a:t>Протокол UART @ 1 Mbps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71600"/>
            <a:ext cx="660000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Прямое управление с задержкой 3-15 ms для замкнутого цикла зрение -&gt; мотор.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0000" y="1371600"/>
            <a:ext cx="42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70C0"/>
                </a:solidFill>
              </a:defRPr>
            </a:pPr>
            <a:r>
              <a:t>Характеристики Dynamixel: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00000" y="1700000"/>
            <a:ext cx="4200000" cy="3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</a:defRPr>
            </a:pPr>
            <a:r>
              <a:t>  Степени свободы: 6 (5 осей + gripper)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</a:defRPr>
            </a:pPr>
            <a:r>
              <a:t>  Разрешение: 0.088° (4096 шагов/оборот)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</a:defRPr>
            </a:pPr>
            <a:r>
              <a:t>  Скорость: до 3400 step/s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</a:defRPr>
            </a:pPr>
            <a:r>
              <a:t>  Момент: 0.3-2.0 N.m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</a:defRPr>
            </a:pPr>
            <a:r>
              <a:t>  Питание: 7.4-12 V DC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</a:defRPr>
            </a:pPr>
            <a:r>
              <a:t>  Интерфейс: UART/RS-485 Half-Duplex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</a:defRPr>
            </a:pPr>
            <a:r>
              <a:t>  Протокол: Dynamixel Protocol 2.0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</a:defRPr>
            </a:pPr>
            <a:r>
              <a:t>  PID: встроенный регулятор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</a:defRPr>
            </a:pPr>
            <a:r>
              <a:t>  Повторяемость: &lt; 0.5°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</a:defRPr>
            </a:pPr>
            <a:r>
              <a:t>  Фреймворки: ROS2, MoveIt 2, MuJoCo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</a:defRPr>
            </a:pPr>
            <a:r>
              <a:t>  Документация: ROBOTIS e-Manual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600000"/>
            <a:ext cx="112776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i="1">
                <a:solidFill>
                  <a:srgbClr val="0070C0"/>
                </a:solidFill>
              </a:defRPr>
            </a:pPr>
            <a:r>
              <a:t>Dynamixel — оптимальный выбор для учебных и исследовательских проектов по робототехнике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7"/>
          <p:cNvSpPr txBox="1">
            <a:spLocks noGrp="1"/>
          </p:cNvSpPr>
          <p:nvPr>
            <p:ph type="sldNum" idx="12"/>
          </p:nvPr>
        </p:nvSpPr>
        <p:spPr>
          <a:xfrm>
            <a:off x="10080171" y="5698671"/>
            <a:ext cx="1788000" cy="1047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>6</a:t>
            </a:r>
          </a:p>
        </p:txBody>
      </p:sp>
      <p:sp>
        <p:nvSpPr>
          <p:cNvPr id="201" name="Google Shape;201;p27"/>
          <p:cNvSpPr txBox="1">
            <a:spLocks noGrp="1"/>
          </p:cNvSpPr>
          <p:nvPr>
            <p:ph type="title"/>
          </p:nvPr>
        </p:nvSpPr>
        <p:spPr>
          <a:xfrm>
            <a:off x="838200" y="555171"/>
            <a:ext cx="8877300" cy="1135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/>
              <a:t>Управление приводами Dynamixel</a:t>
            </a:r>
            <a:endParaRPr/>
          </a:p>
        </p:txBody>
      </p:sp>
      <p:sp>
        <p:nvSpPr>
          <p:cNvPr id="208" name="Google Shape;208;p27"/>
          <p:cNvSpPr txBox="1"/>
          <p:nvPr/>
        </p:nvSpPr>
        <p:spPr>
          <a:xfrm>
            <a:off x="5173875" y="1652700"/>
            <a:ext cx="6360600" cy="363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ru-RU" sz="1600" dirty="0">
                <a:solidFill>
                  <a:schemeClr val="dk1"/>
                </a:solidFill>
              </a:rPr>
              <a:t>Архитектура HAL (Hardware Abstraction Layer): Разработан единый C++ интерфейс управления сервоприводами, инкапсулирующий протокол UART Half-duplex на физическом уровне. Драйвер Dynamixel реализует чтение позиции, тока, температуры и напряжения в реальном времени.</a:t>
            </a:r>
          </a:p>
          <a:p>
            <a:r>
              <a:rPr lang="ru-RU" sz="1600" dirty="0">
                <a:solidFill>
                  <a:schemeClr val="dk1"/>
                </a:solidFill>
              </a:rPr>
              <a:t>Программная защита: Реализован мониторинг температуры на программном уровне — при превышении 70°C сервоприводы автоматически блокируются. Дополнительно внедрён механизм ограничения углов на основе кинематической модели для предотвращения самоповреждения в сингулярных точках.</a:t>
            </a:r>
          </a:p>
          <a:p>
            <a:r>
              <a:rPr lang="ru-RU" sz="1600" dirty="0">
                <a:solidFill>
                  <a:schemeClr val="dk1"/>
                </a:solidFill>
              </a:rPr>
              <a:t>Поток телеметрии: Данные с шины UART собираются в выделенном потоке (std::thread) с частотой 100 Гц и публикуются через коллбэк-интерфейс для потребителей (GUI, WebSocket, ROS2).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2"/>
          <p:cNvSpPr txBox="1">
            <a:spLocks noGrp="1"/>
          </p:cNvSpPr>
          <p:nvPr>
            <p:ph type="sldNum" idx="12"/>
          </p:nvPr>
        </p:nvSpPr>
        <p:spPr>
          <a:xfrm>
            <a:off x="10080171" y="5698671"/>
            <a:ext cx="1788000" cy="1047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>7</a:t>
            </a:r>
          </a:p>
        </p:txBody>
      </p:sp>
      <p:sp>
        <p:nvSpPr>
          <p:cNvPr id="298" name="Google Shape;298;p32"/>
          <p:cNvSpPr txBox="1">
            <a:spLocks noGrp="1"/>
          </p:cNvSpPr>
          <p:nvPr>
            <p:ph type="title"/>
          </p:nvPr>
        </p:nvSpPr>
        <p:spPr>
          <a:xfrm>
            <a:off x="838200" y="555171"/>
            <a:ext cx="8877300" cy="1135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 dirty="0"/>
              <a:t>Интерфейс оператора</a:t>
            </a:r>
            <a:endParaRPr dirty="0"/>
          </a:p>
        </p:txBody>
      </p:sp>
      <p:pic>
        <p:nvPicPr>
          <p:cNvPr id="400" name="Screenshot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519831" y="1794024"/>
            <a:ext cx="4904924" cy="3269949"/>
          </a:xfrm>
          <a:prstGeom prst="rect">
            <a:avLst/>
          </a:prstGeom>
        </p:spPr>
      </p:pic>
      <p:sp>
        <p:nvSpPr>
          <p:cNvPr id="300" name="Google Shape;300;p32"/>
          <p:cNvSpPr txBox="1"/>
          <p:nvPr/>
        </p:nvSpPr>
        <p:spPr>
          <a:xfrm>
            <a:off x="-7651079" y="2100174"/>
            <a:ext cx="5906700" cy="41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/>
            <a:r>
              <a:rPr lang="ru-RU" sz="1600" b="1" dirty="0">
                <a:solidFill>
                  <a:schemeClr val="dk1"/>
                </a:solidFill>
              </a:rPr>
              <a:t>Стек GUI: PyQt5, архитектура MVC. 9 панелей: </a:t>
            </a:r>
            <a:r>
              <a:rPr lang="ru-RU" sz="1600" b="1" dirty="0" err="1">
                <a:solidFill>
                  <a:schemeClr val="dk1"/>
                </a:solidFill>
              </a:rPr>
              <a:t>Dashboard</a:t>
            </a:r>
            <a:r>
              <a:rPr lang="ru-RU" sz="1600" b="1" dirty="0">
                <a:solidFill>
                  <a:schemeClr val="dk1"/>
                </a:solidFill>
              </a:rPr>
              <a:t>, </a:t>
            </a:r>
            <a:r>
              <a:rPr lang="ru-RU" sz="1600" b="1" dirty="0" err="1">
                <a:solidFill>
                  <a:schemeClr val="dk1"/>
                </a:solidFill>
              </a:rPr>
              <a:t>Jog</a:t>
            </a:r>
            <a:r>
              <a:rPr lang="ru-RU" sz="1600" b="1" dirty="0">
                <a:solidFill>
                  <a:schemeClr val="dk1"/>
                </a:solidFill>
              </a:rPr>
              <a:t>, 3D </a:t>
            </a:r>
            <a:r>
              <a:rPr lang="ru-RU" sz="1600" b="1" dirty="0" err="1">
                <a:solidFill>
                  <a:schemeClr val="dk1"/>
                </a:solidFill>
              </a:rPr>
              <a:t>View</a:t>
            </a:r>
            <a:r>
              <a:rPr lang="ru-RU" sz="1600" b="1" dirty="0">
                <a:solidFill>
                  <a:schemeClr val="dk1"/>
                </a:solidFill>
              </a:rPr>
              <a:t>, </a:t>
            </a:r>
            <a:r>
              <a:rPr lang="ru-RU" sz="1600" b="1" dirty="0" err="1">
                <a:solidFill>
                  <a:schemeClr val="dk1"/>
                </a:solidFill>
              </a:rPr>
              <a:t>Registers</a:t>
            </a:r>
            <a:r>
              <a:rPr lang="ru-RU" sz="1600" b="1" dirty="0">
                <a:solidFill>
                  <a:schemeClr val="dk1"/>
                </a:solidFill>
              </a:rPr>
              <a:t>, </a:t>
            </a:r>
            <a:r>
              <a:rPr lang="ru-RU" sz="1600" b="1" dirty="0" err="1">
                <a:solidFill>
                  <a:schemeClr val="dk1"/>
                </a:solidFill>
              </a:rPr>
              <a:t>Teach</a:t>
            </a:r>
            <a:r>
              <a:rPr lang="ru-RU" sz="1600" b="1" dirty="0">
                <a:solidFill>
                  <a:schemeClr val="dk1"/>
                </a:solidFill>
              </a:rPr>
              <a:t>, </a:t>
            </a:r>
            <a:r>
              <a:rPr lang="ru-RU" sz="1600" b="1" dirty="0" err="1">
                <a:solidFill>
                  <a:schemeClr val="dk1"/>
                </a:solidFill>
              </a:rPr>
              <a:t>Program</a:t>
            </a:r>
            <a:r>
              <a:rPr lang="ru-RU" sz="1600" b="1" dirty="0">
                <a:solidFill>
                  <a:schemeClr val="dk1"/>
                </a:solidFill>
              </a:rPr>
              <a:t>, </a:t>
            </a:r>
            <a:r>
              <a:rPr lang="ru-RU" sz="1600" b="1" dirty="0" err="1">
                <a:solidFill>
                  <a:schemeClr val="dk1"/>
                </a:solidFill>
              </a:rPr>
              <a:t>Setup</a:t>
            </a:r>
            <a:r>
              <a:rPr lang="ru-RU" sz="1600" b="1" dirty="0">
                <a:solidFill>
                  <a:schemeClr val="dk1"/>
                </a:solidFill>
              </a:rPr>
              <a:t>, XYZ, </a:t>
            </a:r>
            <a:r>
              <a:rPr lang="ru-RU" sz="1600" b="1" dirty="0" err="1">
                <a:solidFill>
                  <a:schemeClr val="dk1"/>
                </a:solidFill>
              </a:rPr>
              <a:t>Alarms</a:t>
            </a:r>
            <a:r>
              <a:rPr lang="ru-RU" sz="1600" b="1" dirty="0">
                <a:solidFill>
                  <a:schemeClr val="dk1"/>
                </a:solidFill>
              </a:rPr>
              <a:t>. Связь UI с сервисами через </a:t>
            </a:r>
            <a:r>
              <a:rPr lang="ru-RU" sz="1600" b="1" dirty="0" err="1">
                <a:solidFill>
                  <a:schemeClr val="dk1"/>
                </a:solidFill>
              </a:rPr>
              <a:t>EventBus</a:t>
            </a:r>
            <a:r>
              <a:rPr lang="ru-RU" sz="1600" b="1" dirty="0">
                <a:solidFill>
                  <a:schemeClr val="dk1"/>
                </a:solidFill>
              </a:rPr>
              <a:t> (</a:t>
            </a:r>
            <a:r>
              <a:rPr lang="ru-RU" sz="1600" b="1" dirty="0" err="1">
                <a:solidFill>
                  <a:schemeClr val="dk1"/>
                </a:solidFill>
              </a:rPr>
              <a:t>Pub-Sub</a:t>
            </a:r>
            <a:r>
              <a:rPr lang="ru-RU" sz="1600" b="1" dirty="0">
                <a:solidFill>
                  <a:schemeClr val="dk1"/>
                </a:solidFill>
              </a:rPr>
              <a:t>).</a:t>
            </a:r>
            <a:endParaRPr lang="ru-RU" dirty="0"/>
          </a:p>
          <a:p>
            <a:pPr marL="0" lvl="0" indent="0" algn="l" rtl="0"/>
            <a:r>
              <a:rPr lang="ru-RU" sz="1600" b="1" dirty="0">
                <a:solidFill>
                  <a:schemeClr val="dk1"/>
                </a:solidFill>
              </a:rPr>
              <a:t>3D-визуализация: </a:t>
            </a:r>
            <a:r>
              <a:rPr lang="ru-RU" sz="1600" b="1" dirty="0" err="1">
                <a:solidFill>
                  <a:schemeClr val="dk1"/>
                </a:solidFill>
              </a:rPr>
              <a:t>OpenGL</a:t>
            </a:r>
            <a:r>
              <a:rPr lang="ru-RU" sz="1600" b="1" dirty="0">
                <a:solidFill>
                  <a:schemeClr val="dk1"/>
                </a:solidFill>
              </a:rPr>
              <a:t>, DH-параметры, 60 FPS. Синхронизация с RobotKinematics6DOF в реальном времени. Отображение TCP и промежуточных систем координат.</a:t>
            </a:r>
            <a:endParaRPr lang="ru-RU" dirty="0"/>
          </a:p>
          <a:p>
            <a:pPr marL="0" lvl="0" indent="0" algn="l" rtl="0"/>
            <a:r>
              <a:rPr lang="ru-RU" sz="1600" b="1" dirty="0">
                <a:solidFill>
                  <a:schemeClr val="dk1"/>
                </a:solidFill>
              </a:rPr>
              <a:t>Телеметрия: асинхронный </a:t>
            </a:r>
            <a:r>
              <a:rPr lang="ru-RU" sz="1600" b="1" dirty="0" err="1">
                <a:solidFill>
                  <a:schemeClr val="dk1"/>
                </a:solidFill>
              </a:rPr>
              <a:t>polling</a:t>
            </a:r>
            <a:r>
              <a:rPr lang="ru-RU" sz="1600" b="1" dirty="0">
                <a:solidFill>
                  <a:schemeClr val="dk1"/>
                </a:solidFill>
              </a:rPr>
              <a:t> моторов 100 Гц (</a:t>
            </a:r>
            <a:r>
              <a:rPr lang="ru-RU" sz="1600" b="1" dirty="0" err="1">
                <a:solidFill>
                  <a:schemeClr val="dk1"/>
                </a:solidFill>
              </a:rPr>
              <a:t>std</a:t>
            </a:r>
            <a:r>
              <a:rPr lang="ru-RU" sz="1600" b="1" dirty="0">
                <a:solidFill>
                  <a:schemeClr val="dk1"/>
                </a:solidFill>
              </a:rPr>
              <a:t>::</a:t>
            </a:r>
            <a:r>
              <a:rPr lang="ru-RU" sz="1600" b="1" dirty="0" err="1">
                <a:solidFill>
                  <a:schemeClr val="dk1"/>
                </a:solidFill>
              </a:rPr>
              <a:t>thread</a:t>
            </a:r>
            <a:r>
              <a:rPr lang="ru-RU" sz="1600" b="1" dirty="0">
                <a:solidFill>
                  <a:schemeClr val="dk1"/>
                </a:solidFill>
              </a:rPr>
              <a:t>). Графики тока, температуры, напряжения. Экспорт логов в CSV и ROS2 </a:t>
            </a:r>
            <a:r>
              <a:rPr lang="ru-RU" sz="1600" b="1" dirty="0" err="1">
                <a:solidFill>
                  <a:schemeClr val="dk1"/>
                </a:solidFill>
              </a:rPr>
              <a:t>bag</a:t>
            </a:r>
            <a:r>
              <a:rPr lang="ru-RU" sz="1600" b="1" dirty="0">
                <a:solidFill>
                  <a:schemeClr val="dk1"/>
                </a:solidFill>
              </a:rPr>
              <a:t>.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32C972A-98BF-4E37-A65F-F8A1EC0D0D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781" y="1898336"/>
            <a:ext cx="6372050" cy="306132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3"/>
          <p:cNvSpPr txBox="1">
            <a:spLocks noGrp="1"/>
          </p:cNvSpPr>
          <p:nvPr>
            <p:ph type="sldNum" idx="12"/>
          </p:nvPr>
        </p:nvSpPr>
        <p:spPr>
          <a:xfrm>
            <a:off x="10080171" y="5698671"/>
            <a:ext cx="1788000" cy="1047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>8</a:t>
            </a:r>
          </a:p>
        </p:txBody>
      </p:sp>
      <p:sp>
        <p:nvSpPr>
          <p:cNvPr id="307" name="Google Shape;307;p33"/>
          <p:cNvSpPr txBox="1">
            <a:spLocks noGrp="1"/>
          </p:cNvSpPr>
          <p:nvPr>
            <p:ph type="title"/>
          </p:nvPr>
        </p:nvSpPr>
        <p:spPr>
          <a:xfrm>
            <a:off x="838200" y="555175"/>
            <a:ext cx="8877300" cy="1135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/>
              <a:t>Вычислительное ядро: Кинематика</a:t>
            </a:r>
            <a:endParaRPr b="1"/>
          </a:p>
        </p:txBody>
      </p:sp>
      <p:sp>
        <p:nvSpPr>
          <p:cNvPr id="308" name="Google Shape;308;p33"/>
          <p:cNvSpPr txBox="1"/>
          <p:nvPr/>
        </p:nvSpPr>
        <p:spPr>
          <a:xfrm>
            <a:off x="838200" y="1738775"/>
            <a:ext cx="6030900" cy="3582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/>
            <a:r>
              <a:rPr lang="ru-RU" sz="1600" b="1" dirty="0">
                <a:solidFill>
                  <a:schemeClr val="dk1"/>
                </a:solidFill>
              </a:rPr>
              <a:t>Архитектура: класс RobotKinematics6DOF (Python + numpy). DH-параметры в JSON-конфигурации. Длины звеньев: L0=19, L1=104, L2=95, L3=34, L4=35, L5=0 мм. 6 степеней свободы.</a:t>
            </a:r>
            <a:endParaRPr lang="ru-RU"/>
          </a:p>
          <a:p>
            <a:pPr marL="0" lvl="0" indent="0" algn="l" rtl="0"/>
            <a:r>
              <a:rPr lang="ru-RU" sz="1600" b="1" dirty="0">
                <a:solidFill>
                  <a:schemeClr val="dk1"/>
                </a:solidFill>
              </a:rPr>
              <a:t>Прямая кинематика (FK): однородные матрицы 4x4 на основе модифицированных DH-параметров. Расчёт TCP и всех промежуточных систем координат.</a:t>
            </a:r>
            <a:endParaRPr lang="ru-RU"/>
          </a:p>
          <a:p>
            <a:pPr marL="0" lvl="0" indent="0" algn="l" rtl="0"/>
            <a:r>
              <a:rPr lang="ru-RU" sz="1600" b="1" dirty="0">
                <a:solidFill>
                  <a:schemeClr val="dk1"/>
                </a:solidFill>
              </a:rPr>
              <a:t>Обратная кинематика (IK): метод демпфированных наименьших квадратов (DLS) с адаптивным коэффициентом демпфирования. Проверка достижимости, обнаружение сингулярностей. Итерационный решатель.</a:t>
            </a:r>
            <a:endParaRPr lang="ru-RU"/>
          </a:p>
        </p:txBody>
      </p:sp>
      <p:pic>
        <p:nvPicPr>
          <p:cNvPr id="309" name="Google Shape;309;p33" title="video-3d-kinimatic.gif"/>
          <p:cNvPicPr preferRelativeResize="0"/>
          <p:nvPr/>
        </p:nvPicPr>
        <p:blipFill rotWithShape="1">
          <a:blip r:embed="rId3">
            <a:alphaModFix/>
          </a:blip>
          <a:srcRect r="23354"/>
          <a:stretch/>
        </p:blipFill>
        <p:spPr>
          <a:xfrm>
            <a:off x="7036122" y="1655850"/>
            <a:ext cx="4832051" cy="354630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650F0EA-E025-80F1-9AAB-99A5768DEECC}"/>
              </a:ext>
            </a:extLst>
          </p:cNvPr>
          <p:cNvSpPr txBox="1"/>
          <p:nvPr/>
        </p:nvSpPr>
        <p:spPr>
          <a:xfrm>
            <a:off x="7036121" y="5202150"/>
            <a:ext cx="48320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Интерфейс вычислительного ядра кинематики</a:t>
            </a:r>
            <a:endParaRPr lang="ru-FI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4"/>
          <p:cNvSpPr txBox="1">
            <a:spLocks noGrp="1"/>
          </p:cNvSpPr>
          <p:nvPr>
            <p:ph type="sldNum" idx="12"/>
          </p:nvPr>
        </p:nvSpPr>
        <p:spPr>
          <a:xfrm>
            <a:off x="10080171" y="5698671"/>
            <a:ext cx="1788000" cy="1047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>9</a:t>
            </a:r>
          </a:p>
        </p:txBody>
      </p:sp>
      <p:sp>
        <p:nvSpPr>
          <p:cNvPr id="316" name="Google Shape;316;p34"/>
          <p:cNvSpPr txBox="1">
            <a:spLocks noGrp="1"/>
          </p:cNvSpPr>
          <p:nvPr>
            <p:ph type="title"/>
          </p:nvPr>
        </p:nvSpPr>
        <p:spPr>
          <a:xfrm>
            <a:off x="838200" y="555171"/>
            <a:ext cx="8877300" cy="1135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/>
              <a:t>Система технического зрения</a:t>
            </a:r>
            <a:endParaRPr/>
          </a:p>
        </p:txBody>
      </p:sp>
      <p:sp>
        <p:nvSpPr>
          <p:cNvPr id="317" name="Google Shape;317;p34"/>
          <p:cNvSpPr txBox="1"/>
          <p:nvPr/>
        </p:nvSpPr>
        <p:spPr>
          <a:xfrm>
            <a:off x="4737150" y="1690675"/>
            <a:ext cx="6864600" cy="3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/>
            <a:r>
              <a:rPr lang="ru-RU" sz="1600" b="1" dirty="0">
                <a:solidFill>
                  <a:schemeClr val="dk1"/>
                </a:solidFill>
              </a:rPr>
              <a:t>Архитектура: модуль VisionEngine (OpenCV). Пайплайн: захват кадра (VideoCapture) -&gt; детекция ArUco -&gt; расчёт позы (solvePnP) -&gt; трекинг.</a:t>
            </a:r>
            <a:endParaRPr lang="ru-RU"/>
          </a:p>
          <a:p>
            <a:pPr marL="0" lvl="0" indent="0" algn="l" rtl="0"/>
            <a:r>
              <a:rPr lang="ru-RU" sz="1600" b="1" dirty="0">
                <a:solidFill>
                  <a:schemeClr val="dk1"/>
                </a:solidFill>
              </a:rPr>
              <a:t>Eye-to-Hand: калибровка камеры по методике Чжэна (шахматная доска). Матрица гомографии для пересчёта пиксельных -&gt; физических координат. Погрешность позиционирования &lt; 2 мм (зона 400x300 мм).</a:t>
            </a:r>
            <a:endParaRPr lang="ru-RU"/>
          </a:p>
          <a:p>
            <a:pPr marL="0" lvl="0" indent="0" algn="l" rtl="0"/>
            <a:r>
              <a:rPr lang="ru-RU" sz="1600" b="1" dirty="0">
                <a:solidFill>
                  <a:schemeClr val="dk1"/>
                </a:solidFill>
              </a:rPr>
              <a:t>Интеграция: VisionTrackerService (PID + VLM), AIProvider (Strategy pattern: Ollama/LM Studio/OpenAI). Поток: кадр -&gt; промпт -&gt; управление.</a:t>
            </a:r>
            <a:endParaRPr lang="ru-RU"/>
          </a:p>
        </p:txBody>
      </p:sp>
      <p:pic>
        <p:nvPicPr>
          <p:cNvPr id="2" name="YTMP3GG_YouTube_Lerobot-Example-reCamera-with-lerobot-SO_Media_VlDrHc7C218_002_720p.mp4">
            <a:hlinkClick r:id="" action="ppaction://media"/>
            <a:extLst>
              <a:ext uri="{FF2B5EF4-FFF2-40B4-BE49-F238E27FC236}">
                <a16:creationId xmlns:a16="http://schemas.microsoft.com/office/drawing/2014/main" id="{E2D29B29-F265-1D2D-E77E-D100825744D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18100"/>
          <a:stretch>
            <a:fillRect/>
          </a:stretch>
        </p:blipFill>
        <p:spPr>
          <a:xfrm>
            <a:off x="590250" y="1828799"/>
            <a:ext cx="4086974" cy="280699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05D271A-46B8-1F92-5D75-C75F4255297C}"/>
              </a:ext>
            </a:extLst>
          </p:cNvPr>
          <p:cNvSpPr txBox="1"/>
          <p:nvPr/>
        </p:nvSpPr>
        <p:spPr>
          <a:xfrm>
            <a:off x="590250" y="4859079"/>
            <a:ext cx="4146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Видео распознавания </a:t>
            </a:r>
            <a:r>
              <a:rPr lang="ru-RU" dirty="0" err="1">
                <a:solidFill>
                  <a:schemeClr val="dk1"/>
                </a:solidFill>
              </a:rPr>
              <a:t>ArUco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ru-RU" dirty="0">
                <a:solidFill>
                  <a:schemeClr val="dk1"/>
                </a:solidFill>
              </a:rPr>
              <a:t>маркеров</a:t>
            </a:r>
            <a:r>
              <a:rPr lang="ru-RU" dirty="0"/>
              <a:t> </a:t>
            </a:r>
            <a:endParaRPr lang="ru-FI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377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5"/>
          <p:cNvSpPr txBox="1">
            <a:spLocks noGrp="1"/>
          </p:cNvSpPr>
          <p:nvPr>
            <p:ph type="sldNum" idx="12"/>
          </p:nvPr>
        </p:nvSpPr>
        <p:spPr>
          <a:xfrm>
            <a:off x="10080171" y="5698671"/>
            <a:ext cx="1788000" cy="1047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>10</a:t>
            </a:r>
          </a:p>
        </p:txBody>
      </p:sp>
      <p:sp>
        <p:nvSpPr>
          <p:cNvPr id="325" name="Google Shape;325;p35"/>
          <p:cNvSpPr txBox="1">
            <a:spLocks noGrp="1"/>
          </p:cNvSpPr>
          <p:nvPr>
            <p:ph type="title"/>
          </p:nvPr>
        </p:nvSpPr>
        <p:spPr>
          <a:xfrm>
            <a:off x="838200" y="555171"/>
            <a:ext cx="8877300" cy="1135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/>
              <a:t>Web-интерфейс и REST API</a:t>
            </a:r>
            <a:endParaRPr b="1"/>
          </a:p>
        </p:txBody>
      </p:sp>
      <p:sp>
        <p:nvSpPr>
          <p:cNvPr id="326" name="Google Shape;326;p35"/>
          <p:cNvSpPr txBox="1"/>
          <p:nvPr/>
        </p:nvSpPr>
        <p:spPr>
          <a:xfrm>
            <a:off x="838200" y="1690675"/>
            <a:ext cx="3000000" cy="3247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/>
            <a:r>
              <a:rPr lang="ru-RU" sz="1600" b="1" dirty="0">
                <a:solidFill>
                  <a:schemeClr val="dk1"/>
                </a:solidFill>
              </a:rPr>
              <a:t>Стек: FastAPI (Python), React 19 + TypeScript + Vite (frontend). REST API, WebSocket, UDP broadcast. Docker Compose (API :8000 + frontend :3000).</a:t>
            </a:r>
            <a:endParaRPr lang="ru-RU"/>
          </a:p>
        </p:txBody>
      </p:sp>
      <p:sp>
        <p:nvSpPr>
          <p:cNvPr id="327" name="Google Shape;327;p35"/>
          <p:cNvSpPr txBox="1"/>
          <p:nvPr/>
        </p:nvSpPr>
        <p:spPr>
          <a:xfrm>
            <a:off x="4596000" y="1690675"/>
            <a:ext cx="3000000" cy="3530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/>
            <a:r>
              <a:rPr lang="ru-RU" sz="1600" b="1" dirty="0">
                <a:solidFill>
                  <a:schemeClr val="dk1"/>
                </a:solidFill>
              </a:rPr>
              <a:t>REST endpoints: GET /api/status, POST /api/connect|disconnect, POST /api/move|stop, POST /api/ik, POST /api/ml/start|stop. WebSocket /ws — двунаправленная телеметрия (50 мс). UDP broadcast позиций на 0.0.0.0:5005.</a:t>
            </a:r>
            <a:endParaRPr lang="ru-RU"/>
          </a:p>
        </p:txBody>
      </p:sp>
      <p:sp>
        <p:nvSpPr>
          <p:cNvPr id="328" name="Google Shape;328;p35"/>
          <p:cNvSpPr txBox="1"/>
          <p:nvPr/>
        </p:nvSpPr>
        <p:spPr>
          <a:xfrm>
            <a:off x="8353800" y="1690675"/>
            <a:ext cx="3000000" cy="2963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/>
            <a:r>
              <a:rPr lang="ru-RU" sz="1600" b="1">
                <a:solidFill>
                  <a:schemeClr val="dk1"/>
                </a:solidFill>
              </a:rPr>
              <a:t>Аутентификация: JWT + API-токены. Два режима: с авторизацией (POST /auth/login) и без (--no-auth для отладки). Swagger/OpenAPI 3.0 — автодокументация всех endpoints.</a:t>
            </a:r>
            <a:endParaRPr lang="ru-RU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6"/>
          <p:cNvSpPr txBox="1">
            <a:spLocks noGrp="1"/>
          </p:cNvSpPr>
          <p:nvPr>
            <p:ph type="sldNum" idx="12"/>
          </p:nvPr>
        </p:nvSpPr>
        <p:spPr>
          <a:xfrm>
            <a:off x="10080171" y="5698671"/>
            <a:ext cx="1788000" cy="1047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>11</a:t>
            </a:r>
          </a:p>
        </p:txBody>
      </p:sp>
      <p:sp>
        <p:nvSpPr>
          <p:cNvPr id="335" name="Google Shape;335;p36"/>
          <p:cNvSpPr txBox="1">
            <a:spLocks noGrp="1"/>
          </p:cNvSpPr>
          <p:nvPr>
            <p:ph type="title"/>
          </p:nvPr>
        </p:nvSpPr>
        <p:spPr>
          <a:xfrm>
            <a:off x="838200" y="555171"/>
            <a:ext cx="8877300" cy="1135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600" b="1"/>
              <a:t>Web-интерфейс</a:t>
            </a:r>
            <a:endParaRPr b="1"/>
          </a:p>
        </p:txBody>
      </p:sp>
      <p:pic>
        <p:nvPicPr>
          <p:cNvPr id="336" name="Google Shape;33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655" y="1603513"/>
            <a:ext cx="4285226" cy="3783299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6"/>
          <p:cNvSpPr txBox="1"/>
          <p:nvPr/>
        </p:nvSpPr>
        <p:spPr>
          <a:xfrm>
            <a:off x="447655" y="5386812"/>
            <a:ext cx="4656978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 dirty="0">
                <a:solidFill>
                  <a:schemeClr val="dk2"/>
                </a:solidFill>
              </a:rPr>
              <a:t>Веб интерфейс для базового управления</a:t>
            </a:r>
            <a:endParaRPr sz="1600" dirty="0">
              <a:solidFill>
                <a:schemeClr val="dk2"/>
              </a:solidFill>
            </a:endParaRPr>
          </a:p>
        </p:txBody>
      </p:sp>
      <p:sp>
        <p:nvSpPr>
          <p:cNvPr id="339" name="Google Shape;339;p36"/>
          <p:cNvSpPr txBox="1"/>
          <p:nvPr/>
        </p:nvSpPr>
        <p:spPr>
          <a:xfrm>
            <a:off x="5574452" y="5432457"/>
            <a:ext cx="40359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 dirty="0">
                <a:solidFill>
                  <a:schemeClr val="dk2"/>
                </a:solidFill>
              </a:rPr>
              <a:t>Архитектура </a:t>
            </a:r>
            <a:r>
              <a:rPr lang="ru-RU" sz="1700" dirty="0" err="1">
                <a:solidFill>
                  <a:schemeClr val="dk2"/>
                </a:solidFill>
              </a:rPr>
              <a:t>web</a:t>
            </a:r>
            <a:r>
              <a:rPr lang="ru-RU" sz="1700" dirty="0">
                <a:solidFill>
                  <a:schemeClr val="dk2"/>
                </a:solidFill>
              </a:rPr>
              <a:t>-приложения: </a:t>
            </a:r>
            <a:r>
              <a:rPr lang="ru-RU" sz="1700" dirty="0" err="1">
                <a:solidFill>
                  <a:schemeClr val="dk2"/>
                </a:solidFill>
              </a:rPr>
              <a:t>React</a:t>
            </a:r>
            <a:r>
              <a:rPr lang="ru-RU" sz="1700" dirty="0">
                <a:solidFill>
                  <a:schemeClr val="dk2"/>
                </a:solidFill>
              </a:rPr>
              <a:t> + </a:t>
            </a:r>
            <a:r>
              <a:rPr lang="ru-RU" sz="1700" dirty="0" err="1">
                <a:solidFill>
                  <a:schemeClr val="dk2"/>
                </a:solidFill>
              </a:rPr>
              <a:t>FastAPI</a:t>
            </a:r>
            <a:r>
              <a:rPr lang="ru-RU" sz="1700" dirty="0">
                <a:solidFill>
                  <a:schemeClr val="dk2"/>
                </a:solidFill>
              </a:rPr>
              <a:t> + </a:t>
            </a:r>
            <a:r>
              <a:rPr lang="ru-RU" sz="1700" dirty="0" err="1">
                <a:solidFill>
                  <a:schemeClr val="dk2"/>
                </a:solidFill>
              </a:rPr>
              <a:t>WebSocket</a:t>
            </a:r>
            <a:endParaRPr sz="1600" dirty="0">
              <a:solidFill>
                <a:schemeClr val="dk2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5545C61-28FB-45E6-9FB1-6EF0E23A5B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6872" y="2267098"/>
            <a:ext cx="6947473" cy="311971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7"/>
          <p:cNvSpPr txBox="1">
            <a:spLocks noGrp="1"/>
          </p:cNvSpPr>
          <p:nvPr>
            <p:ph type="sldNum" idx="12"/>
          </p:nvPr>
        </p:nvSpPr>
        <p:spPr>
          <a:xfrm>
            <a:off x="10080171" y="5698671"/>
            <a:ext cx="1788000" cy="1047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>12</a:t>
            </a:r>
          </a:p>
        </p:txBody>
      </p:sp>
      <p:sp>
        <p:nvSpPr>
          <p:cNvPr id="346" name="Google Shape;346;p37"/>
          <p:cNvSpPr txBox="1">
            <a:spLocks noGrp="1"/>
          </p:cNvSpPr>
          <p:nvPr>
            <p:ph type="title"/>
          </p:nvPr>
        </p:nvSpPr>
        <p:spPr>
          <a:xfrm>
            <a:off x="838200" y="555171"/>
            <a:ext cx="8877300" cy="1135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/>
              <a:t>Интеграция с экосистемой ROS2</a:t>
            </a:r>
            <a:endParaRPr sz="3600"/>
          </a:p>
        </p:txBody>
      </p:sp>
      <p:sp>
        <p:nvSpPr>
          <p:cNvPr id="347" name="Google Shape;347;p37"/>
          <p:cNvSpPr txBox="1"/>
          <p:nvPr/>
        </p:nvSpPr>
        <p:spPr>
          <a:xfrm>
            <a:off x="838200" y="1524542"/>
            <a:ext cx="3809557" cy="190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/>
            <a:r>
              <a:rPr lang="ru-RU" b="1" dirty="0">
                <a:solidFill>
                  <a:schemeClr val="dk1"/>
                </a:solidFill>
              </a:rPr>
              <a:t>Пакет robot_control: узлы joint_state_publisher (публикация JointState), arm_commander (приём joint_cmd), vision_bridge (мост с OpenCV). URDF/xacro модель робота в resource/robot_control.urdf.</a:t>
            </a:r>
            <a:endParaRPr lang="ru-RU"/>
          </a:p>
        </p:txBody>
      </p:sp>
      <p:sp>
        <p:nvSpPr>
          <p:cNvPr id="348" name="Google Shape;348;p37"/>
          <p:cNvSpPr txBox="1"/>
          <p:nvPr/>
        </p:nvSpPr>
        <p:spPr>
          <a:xfrm>
            <a:off x="4544242" y="1524542"/>
            <a:ext cx="3809557" cy="1902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/>
            <a:r>
              <a:rPr lang="ru-RU" b="1" dirty="0">
                <a:solidFill>
                  <a:schemeClr val="dk1"/>
                </a:solidFill>
              </a:rPr>
              <a:t>Топики: /robot/joint_states (sensor_msgs/JointState), /robot/joint_cmd. ros2_control Hardware Interface bridge. ROS2 bag: синхронная запись Image + JointState для ML-датасетов.</a:t>
            </a:r>
            <a:endParaRPr lang="ru-RU"/>
          </a:p>
        </p:txBody>
      </p:sp>
      <p:sp>
        <p:nvSpPr>
          <p:cNvPr id="349" name="Google Shape;349;p37"/>
          <p:cNvSpPr txBox="1"/>
          <p:nvPr/>
        </p:nvSpPr>
        <p:spPr>
          <a:xfrm>
            <a:off x="8353799" y="1524542"/>
            <a:ext cx="3514371" cy="2149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/>
            <a:r>
              <a:rPr lang="ru-RU" b="1" dirty="0">
                <a:solidFill>
                  <a:schemeClr val="dk1"/>
                </a:solidFill>
              </a:rPr>
              <a:t>Архитектура ROS2: пакет robot_control, MuJoCo bridge</a:t>
            </a:r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28E5652-D2A9-44D4-84A5-ABE253DDB6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091593"/>
            <a:ext cx="9251792" cy="272073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5" name="Google Shape;355;p38"/>
          <p:cNvCxnSpPr/>
          <p:nvPr/>
        </p:nvCxnSpPr>
        <p:spPr>
          <a:xfrm>
            <a:off x="0" y="0"/>
            <a:ext cx="914400" cy="0"/>
          </a:xfrm>
          <a:prstGeom prst="straightConnector1">
            <a:avLst/>
          </a:prstGeom>
          <a:noFill/>
          <a:ln w="9525" cap="flat" cmpd="sng">
            <a:solidFill>
              <a:srgbClr val="FBFFFF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56" name="Google Shape;356;p38"/>
          <p:cNvSpPr txBox="1">
            <a:spLocks noGrp="1"/>
          </p:cNvSpPr>
          <p:nvPr>
            <p:ph type="ctrTitle"/>
          </p:nvPr>
        </p:nvSpPr>
        <p:spPr>
          <a:xfrm>
            <a:off x="1039528" y="2001837"/>
            <a:ext cx="10087276" cy="150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ru-RU"/>
              <a:t>Спасибо за внимание </a:t>
            </a:r>
            <a:endParaRPr/>
          </a:p>
        </p:txBody>
      </p:sp>
      <p:sp>
        <p:nvSpPr>
          <p:cNvPr id="357" name="Google Shape;357;p38"/>
          <p:cNvSpPr txBox="1">
            <a:spLocks noGrp="1"/>
          </p:cNvSpPr>
          <p:nvPr>
            <p:ph type="subTitle" idx="1"/>
          </p:nvPr>
        </p:nvSpPr>
        <p:spPr>
          <a:xfrm>
            <a:off x="1039528" y="4129238"/>
            <a:ext cx="10087276" cy="1128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5C4F2E1-2653-322F-06CE-0D531C4A38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14</a:t>
            </a:r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DCE7EA9-15E7-670F-0165-18C1263D5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FI" dirty="0"/>
              <a:t>Визуализация в </a:t>
            </a:r>
            <a:r>
              <a:rPr lang="en-US" dirty="0" err="1"/>
              <a:t>mujoco</a:t>
            </a:r>
            <a:endParaRPr lang="ru-FI" dirty="0"/>
          </a:p>
        </p:txBody>
      </p:sp>
      <p:pic>
        <p:nvPicPr>
          <p:cNvPr id="6" name="show1.gif.mp4">
            <a:hlinkClick r:id="" action="ppaction://media"/>
            <a:extLst>
              <a:ext uri="{FF2B5EF4-FFF2-40B4-BE49-F238E27FC236}">
                <a16:creationId xmlns:a16="http://schemas.microsoft.com/office/drawing/2014/main" id="{034A2048-DD0F-0F23-A8B7-CB8DFAF5B22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935126" y="1564462"/>
            <a:ext cx="7458149" cy="372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784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1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18" name="Google Shape;218;p28"/>
          <p:cNvCxnSpPr/>
          <p:nvPr/>
        </p:nvCxnSpPr>
        <p:spPr>
          <a:xfrm>
            <a:off x="838200" y="1524000"/>
            <a:ext cx="10515600" cy="0"/>
          </a:xfrm>
          <a:prstGeom prst="straightConnector1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9" name="Google Shape;219;p28"/>
          <p:cNvSpPr txBox="1"/>
          <p:nvPr/>
        </p:nvSpPr>
        <p:spPr>
          <a:xfrm>
            <a:off x="838200" y="476250"/>
            <a:ext cx="95250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ru-RU" sz="3060" b="1">
                <a:solidFill>
                  <a:srgbClr val="000000"/>
                </a:solidFill>
              </a:rPr>
              <a:t>Фундаментальный уровень: протоколы -&gt; кинематика -&gt; управление</a:t>
            </a:r>
          </a:p>
        </p:txBody>
      </p:sp>
      <p:sp>
        <p:nvSpPr>
          <p:cNvPr id="220" name="Google Shape;220;p28"/>
          <p:cNvSpPr txBox="1"/>
          <p:nvPr/>
        </p:nvSpPr>
        <p:spPr>
          <a:xfrm>
            <a:off x="838200" y="1666875"/>
            <a:ext cx="104775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/>
            <a:r>
              <a:rPr lang="ru-RU" sz="1665">
                <a:solidFill>
                  <a:srgbClr val="333333"/>
                </a:solidFill>
              </a:rPr>
              <a:t>Архитектура ПО: HAL-драйвер Dynamixel (UART) -&gt; KinematicsService (DH/IK) -&gt; WebSocket/ROS2 bridge. DI Container (ленивая инициализация, singleton). BaseService (Template Method: init -&gt; start -&gt; stop). EventBus (Pub-Sub, weak references, priority).</a:t>
            </a:r>
            <a:endParaRPr lang="ru-RU"/>
          </a:p>
        </p:txBody>
      </p:sp>
      <p:grpSp>
        <p:nvGrpSpPr>
          <p:cNvPr id="221" name="Google Shape;221;p28"/>
          <p:cNvGrpSpPr/>
          <p:nvPr/>
        </p:nvGrpSpPr>
        <p:grpSpPr>
          <a:xfrm>
            <a:off x="838200" y="2286000"/>
            <a:ext cx="3333900" cy="3238500"/>
            <a:chOff x="0" y="0"/>
            <a:chExt cx="3333900" cy="3238500"/>
          </a:xfrm>
        </p:grpSpPr>
        <p:sp>
          <p:nvSpPr>
            <p:cNvPr id="222" name="Google Shape;222;p28"/>
            <p:cNvSpPr/>
            <p:nvPr/>
          </p:nvSpPr>
          <p:spPr>
            <a:xfrm>
              <a:off x="0" y="0"/>
              <a:ext cx="3333900" cy="3238500"/>
            </a:xfrm>
            <a:prstGeom prst="roundRect">
              <a:avLst>
                <a:gd name="adj" fmla="val 5882"/>
              </a:avLst>
            </a:prstGeom>
            <a:solidFill>
              <a:srgbClr val="CFE2F3"/>
            </a:solidFill>
            <a:ln w="9525" cap="flat" cmpd="sng">
              <a:solidFill>
                <a:srgbClr val="17161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28"/>
            <p:cNvSpPr txBox="1"/>
            <p:nvPr/>
          </p:nvSpPr>
          <p:spPr>
            <a:xfrm>
              <a:off x="190500" y="0"/>
              <a:ext cx="29529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600" b="1">
                  <a:solidFill>
                    <a:srgbClr val="000000"/>
                  </a:solidFill>
                </a:rPr>
                <a:t>Низкий уровень</a:t>
              </a:r>
              <a:endParaRPr sz="1600" b="1">
                <a:solidFill>
                  <a:srgbClr val="000000"/>
                </a:solidFill>
              </a:endParaRPr>
            </a:p>
            <a:p>
              <a:pPr marL="457200" lvl="0" indent="-317500" algn="l" rtl="0">
                <a:spcBef>
                  <a:spcPts val="600"/>
                </a:spcBef>
                <a:spcAft>
                  <a:spcPts val="0"/>
                </a:spcAft>
                <a:buClr>
                  <a:srgbClr val="333333"/>
                </a:buClr>
                <a:buSzPts val="1400"/>
                <a:buFont typeface="Arial"/>
                <a:buChar char="●"/>
              </a:pPr>
              <a:r>
                <a:rPr lang="ru-RU" sz="1400">
                  <a:solidFill>
                    <a:srgbClr val="333333"/>
                  </a:solidFill>
                </a:rPr>
                <a:t>Освоение полудуплексной связи UART/RS-485 (до 1 Мбод)</a:t>
              </a:r>
              <a:endParaRPr sz="1400">
                <a:solidFill>
                  <a:srgbClr val="333333"/>
                </a:solidFill>
              </a:endParaRPr>
            </a:p>
            <a:p>
              <a:pPr marL="457200" lvl="0" indent="-317500" algn="l" rtl="0">
                <a:spcBef>
                  <a:spcPts val="450"/>
                </a:spcBef>
                <a:spcAft>
                  <a:spcPts val="0"/>
                </a:spcAft>
                <a:buClr>
                  <a:srgbClr val="333333"/>
                </a:buClr>
                <a:buSzPts val="1400"/>
                <a:buFont typeface="Arial"/>
                <a:buChar char="●"/>
              </a:pPr>
              <a:r>
                <a:rPr lang="ru-RU" sz="1400">
                  <a:solidFill>
                    <a:srgbClr val="333333"/>
                  </a:solidFill>
                </a:rPr>
                <a:t>Опрос регистров приводов Dynamixel: позиция, ток, температура</a:t>
              </a:r>
              <a:endParaRPr sz="1400">
                <a:solidFill>
                  <a:srgbClr val="333333"/>
                </a:solidFill>
              </a:endParaRPr>
            </a:p>
            <a:p>
              <a:pPr marL="457200" lvl="0" indent="-317500" algn="l" rtl="0">
                <a:spcBef>
                  <a:spcPts val="450"/>
                </a:spcBef>
                <a:spcAft>
                  <a:spcPts val="450"/>
                </a:spcAft>
                <a:buClr>
                  <a:srgbClr val="333333"/>
                </a:buClr>
                <a:buSzPts val="1400"/>
                <a:buFont typeface="Arial"/>
                <a:buChar char="●"/>
              </a:pPr>
              <a:r>
                <a:rPr lang="ru-RU" sz="1400">
                  <a:solidFill>
                    <a:srgbClr val="333333"/>
                  </a:solidFill>
                </a:rPr>
                <a:t>Реализация Safety Clamping (экстренное торможение)</a:t>
              </a:r>
              <a:endParaRPr sz="1400">
                <a:solidFill>
                  <a:srgbClr val="333333"/>
                </a:solidFill>
              </a:endParaRPr>
            </a:p>
          </p:txBody>
        </p:sp>
      </p:grpSp>
      <p:grpSp>
        <p:nvGrpSpPr>
          <p:cNvPr id="224" name="Google Shape;224;p28"/>
          <p:cNvGrpSpPr/>
          <p:nvPr/>
        </p:nvGrpSpPr>
        <p:grpSpPr>
          <a:xfrm>
            <a:off x="8020050" y="2286000"/>
            <a:ext cx="3333900" cy="3238500"/>
            <a:chOff x="0" y="0"/>
            <a:chExt cx="3333900" cy="3238500"/>
          </a:xfrm>
        </p:grpSpPr>
        <p:sp>
          <p:nvSpPr>
            <p:cNvPr id="225" name="Google Shape;225;p28"/>
            <p:cNvSpPr/>
            <p:nvPr/>
          </p:nvSpPr>
          <p:spPr>
            <a:xfrm>
              <a:off x="0" y="0"/>
              <a:ext cx="3333900" cy="3238500"/>
            </a:xfrm>
            <a:prstGeom prst="roundRect">
              <a:avLst>
                <a:gd name="adj" fmla="val 5882"/>
              </a:avLst>
            </a:prstGeom>
            <a:solidFill>
              <a:srgbClr val="CFE2F3"/>
            </a:solidFill>
            <a:ln w="9525" cap="flat" cmpd="sng">
              <a:solidFill>
                <a:srgbClr val="17161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28"/>
            <p:cNvSpPr txBox="1"/>
            <p:nvPr/>
          </p:nvSpPr>
          <p:spPr>
            <a:xfrm>
              <a:off x="190500" y="0"/>
              <a:ext cx="29529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600" b="1">
                  <a:solidFill>
                    <a:srgbClr val="000000"/>
                  </a:solidFill>
                </a:rPr>
                <a:t>Математика (ТММ)</a:t>
              </a:r>
              <a:endParaRPr sz="1600" b="1">
                <a:solidFill>
                  <a:srgbClr val="000000"/>
                </a:solidFill>
              </a:endParaRPr>
            </a:p>
            <a:p>
              <a:pPr marL="457200" lvl="0" indent="-317500" algn="l" rtl="0">
                <a:spcBef>
                  <a:spcPts val="600"/>
                </a:spcBef>
                <a:spcAft>
                  <a:spcPts val="0"/>
                </a:spcAft>
                <a:buClr>
                  <a:srgbClr val="333333"/>
                </a:buClr>
                <a:buSzPts val="1400"/>
                <a:buFont typeface="Arial"/>
                <a:buChar char="●"/>
              </a:pPr>
              <a:r>
                <a:rPr lang="ru-RU" sz="1400">
                  <a:solidFill>
                    <a:srgbClr val="333333"/>
                  </a:solidFill>
                </a:rPr>
                <a:t>FK: Построение матриц преобразований Денавита–Хартенберга</a:t>
              </a:r>
              <a:endParaRPr sz="1400">
                <a:solidFill>
                  <a:srgbClr val="333333"/>
                </a:solidFill>
              </a:endParaRPr>
            </a:p>
            <a:p>
              <a:pPr marL="457200" lvl="0" indent="-317500" algn="l" rtl="0">
                <a:spcBef>
                  <a:spcPts val="450"/>
                </a:spcBef>
                <a:spcAft>
                  <a:spcPts val="0"/>
                </a:spcAft>
                <a:buClr>
                  <a:srgbClr val="333333"/>
                </a:buClr>
                <a:buSzPts val="1400"/>
                <a:buFont typeface="Arial"/>
                <a:buChar char="●"/>
              </a:pPr>
              <a:r>
                <a:rPr lang="ru-RU" sz="1400">
                  <a:solidFill>
                    <a:srgbClr val="333333"/>
                  </a:solidFill>
                </a:rPr>
                <a:t>IK: Алгоритм демпфированных наименьших квадратов (DLS)</a:t>
              </a:r>
              <a:endParaRPr sz="1400">
                <a:solidFill>
                  <a:srgbClr val="333333"/>
                </a:solidFill>
              </a:endParaRPr>
            </a:p>
            <a:p>
              <a:pPr marL="457200" lvl="0" indent="-317500" algn="l" rtl="0">
                <a:spcBef>
                  <a:spcPts val="450"/>
                </a:spcBef>
                <a:spcAft>
                  <a:spcPts val="450"/>
                </a:spcAft>
                <a:buClr>
                  <a:srgbClr val="333333"/>
                </a:buClr>
                <a:buSzPts val="1400"/>
                <a:buFont typeface="Arial"/>
                <a:buChar char="●"/>
              </a:pPr>
              <a:r>
                <a:rPr lang="ru-RU" sz="1400">
                  <a:solidFill>
                    <a:srgbClr val="333333"/>
                  </a:solidFill>
                </a:rPr>
                <a:t>Обход сингулярностей при вычислении углов</a:t>
              </a:r>
              <a:endParaRPr sz="1400">
                <a:solidFill>
                  <a:srgbClr val="333333"/>
                </a:solidFill>
              </a:endParaRPr>
            </a:p>
          </p:txBody>
        </p:sp>
      </p:grpSp>
      <p:grpSp>
        <p:nvGrpSpPr>
          <p:cNvPr id="227" name="Google Shape;227;p28"/>
          <p:cNvGrpSpPr/>
          <p:nvPr/>
        </p:nvGrpSpPr>
        <p:grpSpPr>
          <a:xfrm>
            <a:off x="833450" y="5710250"/>
            <a:ext cx="8769300" cy="866700"/>
            <a:chOff x="-4750" y="-4750"/>
            <a:chExt cx="8769300" cy="866700"/>
          </a:xfrm>
        </p:grpSpPr>
        <p:pic>
          <p:nvPicPr>
            <p:cNvPr id="228" name="Google Shape;228;p2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4750" y="-4750"/>
              <a:ext cx="8769300" cy="866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9" name="Google Shape;229;p28"/>
            <p:cNvSpPr txBox="1"/>
            <p:nvPr/>
          </p:nvSpPr>
          <p:spPr>
            <a:xfrm>
              <a:off x="157933" y="95263"/>
              <a:ext cx="84438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ru-RU" sz="1200">
                  <a:solidFill>
                    <a:srgbClr val="444444"/>
                  </a:solidFill>
                </a:rPr>
                <a:t>«На первом этапе стенд — прозрачная среда. Студенты сами программируют протоколы и IK-алгоритмы. Модуль безопасности гарантирует, что ошибки в расчетах не приведут к поломке оборудования».</a:t>
              </a:r>
              <a:endParaRPr sz="1200">
                <a:solidFill>
                  <a:srgbClr val="444444"/>
                </a:solidFill>
              </a:endParaRPr>
            </a:p>
          </p:txBody>
        </p:sp>
      </p:grpSp>
      <p:pic>
        <p:nvPicPr>
          <p:cNvPr id="230" name="Google Shape;230;p28"/>
          <p:cNvPicPr preferRelativeResize="0"/>
          <p:nvPr/>
        </p:nvPicPr>
        <p:blipFill rotWithShape="1">
          <a:blip r:embed="rId4">
            <a:alphaModFix/>
          </a:blip>
          <a:srcRect l="10" r="10"/>
          <a:stretch/>
        </p:blipFill>
        <p:spPr>
          <a:xfrm>
            <a:off x="10858500" y="190500"/>
            <a:ext cx="1143000" cy="809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1" name="Google Shape;231;p28"/>
          <p:cNvGrpSpPr/>
          <p:nvPr/>
        </p:nvGrpSpPr>
        <p:grpSpPr>
          <a:xfrm>
            <a:off x="4429125" y="2286000"/>
            <a:ext cx="3333900" cy="3238500"/>
            <a:chOff x="0" y="0"/>
            <a:chExt cx="3333900" cy="3238500"/>
          </a:xfrm>
        </p:grpSpPr>
        <p:sp>
          <p:nvSpPr>
            <p:cNvPr id="232" name="Google Shape;232;p28"/>
            <p:cNvSpPr/>
            <p:nvPr/>
          </p:nvSpPr>
          <p:spPr>
            <a:xfrm>
              <a:off x="0" y="0"/>
              <a:ext cx="3333900" cy="3238500"/>
            </a:xfrm>
            <a:prstGeom prst="roundRect">
              <a:avLst>
                <a:gd name="adj" fmla="val 5882"/>
              </a:avLst>
            </a:prstGeom>
            <a:solidFill>
              <a:srgbClr val="CFE2F3"/>
            </a:solidFill>
            <a:ln w="9525" cap="flat" cmpd="sng">
              <a:solidFill>
                <a:srgbClr val="17161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28"/>
            <p:cNvSpPr txBox="1"/>
            <p:nvPr/>
          </p:nvSpPr>
          <p:spPr>
            <a:xfrm>
              <a:off x="190500" y="0"/>
              <a:ext cx="29529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600" b="1">
                  <a:solidFill>
                    <a:srgbClr val="000000"/>
                  </a:solidFill>
                </a:rPr>
                <a:t>Прикладной уровень</a:t>
              </a:r>
              <a:endParaRPr sz="1600" b="1">
                <a:solidFill>
                  <a:srgbClr val="000000"/>
                </a:solidFill>
              </a:endParaRPr>
            </a:p>
            <a:p>
              <a:pPr marL="457200" lvl="0" indent="-317500" algn="l" rtl="0">
                <a:spcBef>
                  <a:spcPts val="600"/>
                </a:spcBef>
                <a:spcAft>
                  <a:spcPts val="0"/>
                </a:spcAft>
                <a:buClr>
                  <a:srgbClr val="333333"/>
                </a:buClr>
                <a:buSzPts val="1400"/>
                <a:buFont typeface="Arial"/>
                <a:buChar char="●"/>
              </a:pPr>
              <a:r>
                <a:rPr lang="ru-RU" sz="1400">
                  <a:solidFill>
                    <a:srgbClr val="333333"/>
                  </a:solidFill>
                </a:rPr>
                <a:t>Dependency Injection и Event Bus для модульности ядра</a:t>
              </a:r>
              <a:endParaRPr sz="1400">
                <a:solidFill>
                  <a:srgbClr val="333333"/>
                </a:solidFill>
              </a:endParaRPr>
            </a:p>
            <a:p>
              <a:pPr marL="457200" lvl="0" indent="-317500" algn="l" rtl="0">
                <a:spcBef>
                  <a:spcPts val="450"/>
                </a:spcBef>
                <a:spcAft>
                  <a:spcPts val="0"/>
                </a:spcAft>
                <a:buClr>
                  <a:srgbClr val="333333"/>
                </a:buClr>
                <a:buSzPts val="1400"/>
                <a:buFont typeface="Arial"/>
                <a:buChar char="●"/>
              </a:pPr>
              <a:r>
                <a:rPr lang="ru-RU" sz="1400">
                  <a:solidFill>
                    <a:srgbClr val="333333"/>
                  </a:solidFill>
                </a:rPr>
                <a:t>Микросервисы: FastAPI для Web, интеграция в ROS2</a:t>
              </a:r>
              <a:endParaRPr sz="1400">
                <a:solidFill>
                  <a:srgbClr val="333333"/>
                </a:solidFill>
              </a:endParaRPr>
            </a:p>
            <a:p>
              <a:pPr marL="457200" lvl="0" indent="-317500" algn="l" rtl="0">
                <a:spcBef>
                  <a:spcPts val="450"/>
                </a:spcBef>
                <a:spcAft>
                  <a:spcPts val="450"/>
                </a:spcAft>
                <a:buClr>
                  <a:srgbClr val="333333"/>
                </a:buClr>
                <a:buSzPts val="1400"/>
                <a:buFont typeface="Arial"/>
                <a:buChar char="●"/>
              </a:pPr>
              <a:r>
                <a:rPr lang="ru-RU" sz="1400">
                  <a:solidFill>
                    <a:srgbClr val="333333"/>
                  </a:solidFill>
                </a:rPr>
                <a:t>Сбор датасетов для автономного интеллекта</a:t>
              </a:r>
              <a:endParaRPr sz="1400">
                <a:solidFill>
                  <a:srgbClr val="333333"/>
                </a:solidFill>
              </a:endParaRPr>
            </a:p>
          </p:txBody>
        </p:sp>
      </p:grpSp>
      <p:sp>
        <p:nvSpPr>
          <p:cNvPr id="234" name="Google Shape;234;p28"/>
          <p:cNvSpPr txBox="1">
            <a:spLocks noGrp="1"/>
          </p:cNvSpPr>
          <p:nvPr>
            <p:ph type="sldNum" idx="4294967295"/>
          </p:nvPr>
        </p:nvSpPr>
        <p:spPr>
          <a:xfrm>
            <a:off x="10080171" y="5698671"/>
            <a:ext cx="1788000" cy="1047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7564379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4" name="Google Shape;244;p29"/>
          <p:cNvPicPr preferRelativeResize="0"/>
          <p:nvPr/>
        </p:nvPicPr>
        <p:blipFill rotWithShape="1">
          <a:blip r:embed="rId3">
            <a:alphaModFix/>
          </a:blip>
          <a:srcRect l="10" r="10"/>
          <a:stretch/>
        </p:blipFill>
        <p:spPr>
          <a:xfrm>
            <a:off x="10858500" y="190500"/>
            <a:ext cx="1143000" cy="80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9"/>
          <p:cNvSpPr txBox="1"/>
          <p:nvPr/>
        </p:nvSpPr>
        <p:spPr>
          <a:xfrm>
            <a:off x="838200" y="476250"/>
            <a:ext cx="9525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ru-RU" sz="2800" b="1">
                <a:solidFill>
                  <a:srgbClr val="000000"/>
                </a:solidFill>
              </a:rPr>
              <a:t>Data Engineering: Цифровые двойники и пайплайн данных</a:t>
            </a:r>
          </a:p>
        </p:txBody>
      </p:sp>
      <p:sp>
        <p:nvSpPr>
          <p:cNvPr id="246" name="Google Shape;246;p29"/>
          <p:cNvSpPr txBox="1"/>
          <p:nvPr/>
        </p:nvSpPr>
        <p:spPr>
          <a:xfrm>
            <a:off x="838200" y="1333500"/>
            <a:ext cx="104775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/>
            <a:r>
              <a:rPr lang="ru-RU" sz="1500">
                <a:solidFill>
                  <a:srgbClr val="333333"/>
                </a:solidFill>
              </a:rPr>
              <a:t>Пайплайн данных: ROS2 bag (Image + JointState) -&gt; синхронизация по временным меткам -&gt; экспорт HDF5/WebDataset. Цифровой двойник MuJoCo генерирует синтетические данные для augment-датасета. RL-среда: Gymnasium (18-dim observation, 7-dim action).</a:t>
            </a:r>
            <a:endParaRPr lang="ru-RU"/>
          </a:p>
        </p:txBody>
      </p:sp>
      <p:grpSp>
        <p:nvGrpSpPr>
          <p:cNvPr id="247" name="Google Shape;247;p29"/>
          <p:cNvGrpSpPr/>
          <p:nvPr/>
        </p:nvGrpSpPr>
        <p:grpSpPr>
          <a:xfrm>
            <a:off x="838200" y="1905000"/>
            <a:ext cx="5143500" cy="3429000"/>
            <a:chOff x="0" y="0"/>
            <a:chExt cx="5143500" cy="3429000"/>
          </a:xfrm>
        </p:grpSpPr>
        <p:sp>
          <p:nvSpPr>
            <p:cNvPr id="248" name="Google Shape;248;p29"/>
            <p:cNvSpPr/>
            <p:nvPr/>
          </p:nvSpPr>
          <p:spPr>
            <a:xfrm>
              <a:off x="0" y="0"/>
              <a:ext cx="5143500" cy="3429000"/>
            </a:xfrm>
            <a:prstGeom prst="roundRect">
              <a:avLst>
                <a:gd name="adj" fmla="val 5555"/>
              </a:avLst>
            </a:prstGeom>
            <a:solidFill>
              <a:srgbClr val="CFE2F3"/>
            </a:solidFill>
            <a:ln w="9525" cap="flat" cmpd="sng">
              <a:solidFill>
                <a:srgbClr val="17161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29"/>
            <p:cNvSpPr txBox="1"/>
            <p:nvPr/>
          </p:nvSpPr>
          <p:spPr>
            <a:xfrm>
              <a:off x="190500" y="0"/>
              <a:ext cx="47625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000" b="1">
                  <a:solidFill>
                    <a:srgbClr val="000000"/>
                  </a:solidFill>
                </a:rPr>
                <a:t>1. Цифровой двойник и MuJoCo</a:t>
              </a:r>
              <a:endParaRPr sz="2000" b="1">
                <a:solidFill>
                  <a:srgbClr val="000000"/>
                </a:solidFill>
              </a:endParaRPr>
            </a:p>
            <a:p>
              <a:pPr marL="457200" lvl="0" indent="-323850" algn="l" rtl="0">
                <a:spcBef>
                  <a:spcPts val="750"/>
                </a:spcBef>
                <a:spcAft>
                  <a:spcPts val="0"/>
                </a:spcAft>
                <a:buClr>
                  <a:srgbClr val="333333"/>
                </a:buClr>
                <a:buSzPts val="1500"/>
                <a:buFont typeface="DM Sans"/>
                <a:buChar char="●"/>
              </a:pPr>
              <a:r>
                <a:rPr lang="ru-RU" sz="1500" b="1">
                  <a:solidFill>
                    <a:srgbClr val="000000"/>
                  </a:solidFill>
                </a:rPr>
                <a:t>Среда MuJoCo:</a:t>
              </a:r>
              <a:r>
                <a:rPr lang="ru-RU" sz="1500">
                  <a:solidFill>
                    <a:srgbClr val="333333"/>
                  </a:solidFill>
                </a:rPr>
                <a:t> Программная генерация точной MJCF-модели с Gym-интерфейсом.</a:t>
              </a:r>
              <a:endParaRPr sz="1500">
                <a:solidFill>
                  <a:srgbClr val="333333"/>
                </a:solidFill>
              </a:endParaRPr>
            </a:p>
            <a:p>
              <a:pPr marL="457200" lvl="0" indent="-323850" algn="l" rtl="0">
                <a:spcBef>
                  <a:spcPts val="450"/>
                </a:spcBef>
                <a:spcAft>
                  <a:spcPts val="450"/>
                </a:spcAft>
                <a:buClr>
                  <a:srgbClr val="333333"/>
                </a:buClr>
                <a:buSzPts val="1500"/>
                <a:buFont typeface="DM Sans"/>
                <a:buChar char="●"/>
              </a:pPr>
              <a:r>
                <a:rPr lang="ru-RU" sz="1500" b="1">
                  <a:solidFill>
                    <a:srgbClr val="000000"/>
                  </a:solidFill>
                </a:rPr>
                <a:t>SimToRealMirror:</a:t>
              </a:r>
              <a:r>
                <a:rPr lang="ru-RU" sz="1500">
                  <a:solidFill>
                    <a:srgbClr val="333333"/>
                  </a:solidFill>
                </a:rPr>
                <a:t> Валидация траекторий в симуляции и перенос на реальный манипулятор в один клик.</a:t>
              </a:r>
              <a:endParaRPr sz="1500">
                <a:solidFill>
                  <a:srgbClr val="333333"/>
                </a:solidFill>
              </a:endParaRPr>
            </a:p>
          </p:txBody>
        </p:sp>
      </p:grpSp>
      <p:grpSp>
        <p:nvGrpSpPr>
          <p:cNvPr id="250" name="Google Shape;250;p29"/>
          <p:cNvGrpSpPr/>
          <p:nvPr/>
        </p:nvGrpSpPr>
        <p:grpSpPr>
          <a:xfrm>
            <a:off x="6191250" y="1905000"/>
            <a:ext cx="5143500" cy="3429000"/>
            <a:chOff x="0" y="0"/>
            <a:chExt cx="5143500" cy="3429000"/>
          </a:xfrm>
        </p:grpSpPr>
        <p:sp>
          <p:nvSpPr>
            <p:cNvPr id="251" name="Google Shape;251;p29"/>
            <p:cNvSpPr/>
            <p:nvPr/>
          </p:nvSpPr>
          <p:spPr>
            <a:xfrm>
              <a:off x="0" y="0"/>
              <a:ext cx="5143500" cy="3429000"/>
            </a:xfrm>
            <a:prstGeom prst="roundRect">
              <a:avLst>
                <a:gd name="adj" fmla="val 5555"/>
              </a:avLst>
            </a:prstGeom>
            <a:solidFill>
              <a:srgbClr val="CFE2F3"/>
            </a:solidFill>
            <a:ln w="9525" cap="flat" cmpd="sng">
              <a:solidFill>
                <a:srgbClr val="17161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29"/>
            <p:cNvSpPr txBox="1"/>
            <p:nvPr/>
          </p:nvSpPr>
          <p:spPr>
            <a:xfrm>
              <a:off x="190500" y="0"/>
              <a:ext cx="47625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2000" b="1">
                  <a:solidFill>
                    <a:srgbClr val="000000"/>
                  </a:solidFill>
                </a:rPr>
                <a:t>2. Сбор и форматирование</a:t>
              </a:r>
              <a:endParaRPr sz="2000" b="1">
                <a:solidFill>
                  <a:srgbClr val="000000"/>
                </a:solidFill>
              </a:endParaRPr>
            </a:p>
            <a:p>
              <a:pPr marL="457200" lvl="0" indent="-323850" algn="l" rtl="0">
                <a:spcBef>
                  <a:spcPts val="750"/>
                </a:spcBef>
                <a:spcAft>
                  <a:spcPts val="0"/>
                </a:spcAft>
                <a:buClr>
                  <a:srgbClr val="333333"/>
                </a:buClr>
                <a:buSzPts val="1500"/>
                <a:buFont typeface="DM Sans"/>
                <a:buChar char="●"/>
              </a:pPr>
              <a:r>
                <a:rPr lang="ru-RU" sz="1500" b="1">
                  <a:solidFill>
                    <a:srgbClr val="000000"/>
                  </a:solidFill>
                </a:rPr>
                <a:t>Телеоперация:</a:t>
              </a:r>
              <a:r>
                <a:rPr lang="ru-RU" sz="1500">
                  <a:solidFill>
                    <a:srgbClr val="333333"/>
                  </a:solidFill>
                </a:rPr>
                <a:t> Запись экспертных демонстраций через Leader-Follower.</a:t>
              </a:r>
              <a:endParaRPr sz="1500">
                <a:solidFill>
                  <a:srgbClr val="333333"/>
                </a:solidFill>
              </a:endParaRPr>
            </a:p>
            <a:p>
              <a:pPr marL="457200" lvl="0" indent="-323850" algn="l" rtl="0">
                <a:spcBef>
                  <a:spcPts val="450"/>
                </a:spcBef>
                <a:spcAft>
                  <a:spcPts val="0"/>
                </a:spcAft>
                <a:buClr>
                  <a:srgbClr val="333333"/>
                </a:buClr>
                <a:buSzPts val="1500"/>
                <a:buFont typeface="DM Sans"/>
                <a:buChar char="●"/>
              </a:pPr>
              <a:r>
                <a:rPr lang="ru-RU" sz="1500" b="1">
                  <a:solidFill>
                    <a:srgbClr val="000000"/>
                  </a:solidFill>
                </a:rPr>
                <a:t>Мультимодальность:</a:t>
              </a:r>
              <a:r>
                <a:rPr lang="ru-RU" sz="1500">
                  <a:solidFill>
                    <a:srgbClr val="333333"/>
                  </a:solidFill>
                </a:rPr>
                <a:t> Синхронизация видео (MP4) и телеметрии суставов (Apache Parquet).</a:t>
              </a:r>
              <a:endParaRPr sz="1500">
                <a:solidFill>
                  <a:srgbClr val="333333"/>
                </a:solidFill>
              </a:endParaRPr>
            </a:p>
            <a:p>
              <a:pPr marL="457200" lvl="0" indent="-323850" algn="l" rtl="0">
                <a:spcBef>
                  <a:spcPts val="450"/>
                </a:spcBef>
                <a:spcAft>
                  <a:spcPts val="450"/>
                </a:spcAft>
                <a:buClr>
                  <a:srgbClr val="333333"/>
                </a:buClr>
                <a:buSzPts val="1500"/>
                <a:buFont typeface="DM Sans"/>
                <a:buChar char="●"/>
              </a:pPr>
              <a:r>
                <a:rPr lang="ru-RU" sz="1500" b="1">
                  <a:solidFill>
                    <a:srgbClr val="000000"/>
                  </a:solidFill>
                </a:rPr>
                <a:t>Chunking:</a:t>
              </a:r>
              <a:r>
                <a:rPr lang="ru-RU" sz="1500">
                  <a:solidFill>
                    <a:srgbClr val="333333"/>
                  </a:solidFill>
                </a:rPr>
                <a:t> Оптимизация агрегации данных для снижения нагрузки на диски при обучении.</a:t>
              </a:r>
              <a:endParaRPr sz="1500">
                <a:solidFill>
                  <a:srgbClr val="333333"/>
                </a:solidFill>
              </a:endParaRPr>
            </a:p>
          </p:txBody>
        </p:sp>
      </p:grpSp>
      <p:sp>
        <p:nvSpPr>
          <p:cNvPr id="253" name="Google Shape;253;p29"/>
          <p:cNvSpPr txBox="1">
            <a:spLocks noGrp="1"/>
          </p:cNvSpPr>
          <p:nvPr>
            <p:ph type="sldNum" idx="4294967295"/>
          </p:nvPr>
        </p:nvSpPr>
        <p:spPr>
          <a:xfrm>
            <a:off x="10080171" y="5698671"/>
            <a:ext cx="1788000" cy="1047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3659246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3" name="Google Shape;263;p30"/>
          <p:cNvPicPr preferRelativeResize="0"/>
          <p:nvPr/>
        </p:nvPicPr>
        <p:blipFill rotWithShape="1">
          <a:blip r:embed="rId3">
            <a:alphaModFix/>
          </a:blip>
          <a:srcRect l="10" r="10"/>
          <a:stretch/>
        </p:blipFill>
        <p:spPr>
          <a:xfrm>
            <a:off x="10858500" y="190500"/>
            <a:ext cx="1143000" cy="80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30"/>
          <p:cNvSpPr txBox="1"/>
          <p:nvPr/>
        </p:nvSpPr>
        <p:spPr>
          <a:xfrm>
            <a:off x="838200" y="428625"/>
            <a:ext cx="100014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ru-RU" sz="2831" b="1">
                <a:solidFill>
                  <a:srgbClr val="000000"/>
                </a:solidFill>
              </a:rPr>
              <a:t>Искусственный интеллект: от OpenCV к VLA-моделям</a:t>
            </a:r>
          </a:p>
        </p:txBody>
      </p:sp>
      <p:sp>
        <p:nvSpPr>
          <p:cNvPr id="265" name="Google Shape;265;p30"/>
          <p:cNvSpPr txBox="1"/>
          <p:nvPr/>
        </p:nvSpPr>
        <p:spPr>
          <a:xfrm>
            <a:off x="838200" y="1328419"/>
            <a:ext cx="104775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/>
            <a:r>
              <a:rPr lang="ru-RU" sz="1600">
                <a:solidFill>
                  <a:srgbClr val="333333"/>
                </a:solidFill>
              </a:rPr>
              <a:t>AIProvider (Strategy pattern): единый фасад для Ollama, LM Studio, OpenAI. VisionTrackerService: PID-регулятор + VLM-цикл. YOLO (PyTorch) для локального трекинга объектов. RL-агенты: DQN (discrete) и PPO (continuous). Среда RobotArmEnv (Gymnasium). Curriculum Learning. Обучение на датасетах ROS2 bag и синтетических данных MuJoCo.</a:t>
            </a:r>
            <a:endParaRPr lang="ru-RU"/>
          </a:p>
        </p:txBody>
      </p:sp>
      <p:grpSp>
        <p:nvGrpSpPr>
          <p:cNvPr id="266" name="Google Shape;266;p30"/>
          <p:cNvGrpSpPr/>
          <p:nvPr/>
        </p:nvGrpSpPr>
        <p:grpSpPr>
          <a:xfrm>
            <a:off x="838200" y="1776993"/>
            <a:ext cx="3429000" cy="3619500"/>
            <a:chOff x="0" y="0"/>
            <a:chExt cx="3429000" cy="3619500"/>
          </a:xfrm>
        </p:grpSpPr>
        <p:sp>
          <p:nvSpPr>
            <p:cNvPr id="267" name="Google Shape;267;p30"/>
            <p:cNvSpPr/>
            <p:nvPr/>
          </p:nvSpPr>
          <p:spPr>
            <a:xfrm>
              <a:off x="0" y="0"/>
              <a:ext cx="3429000" cy="3619500"/>
            </a:xfrm>
            <a:prstGeom prst="roundRect">
              <a:avLst>
                <a:gd name="adj" fmla="val 5555"/>
              </a:avLst>
            </a:prstGeom>
            <a:solidFill>
              <a:srgbClr val="CFE2F3"/>
            </a:solidFill>
            <a:ln w="9525" cap="flat" cmpd="sng">
              <a:solidFill>
                <a:srgbClr val="17161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30"/>
            <p:cNvSpPr txBox="1"/>
            <p:nvPr/>
          </p:nvSpPr>
          <p:spPr>
            <a:xfrm>
              <a:off x="190500" y="0"/>
              <a:ext cx="3048000" cy="342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900" b="1">
                  <a:solidFill>
                    <a:srgbClr val="000000"/>
                  </a:solidFill>
                </a:rPr>
                <a:t>1. Компьютерное зрение</a:t>
              </a:r>
              <a:endParaRPr sz="1900" b="1">
                <a:solidFill>
                  <a:srgbClr val="000000"/>
                </a:solidFill>
              </a:endParaRPr>
            </a:p>
            <a:p>
              <a:pPr marL="457200" lvl="0" indent="-320675" algn="l" rtl="0">
                <a:spcBef>
                  <a:spcPts val="600"/>
                </a:spcBef>
                <a:spcAft>
                  <a:spcPts val="0"/>
                </a:spcAft>
                <a:buClr>
                  <a:srgbClr val="333333"/>
                </a:buClr>
                <a:buSzPts val="1450"/>
                <a:buFont typeface="DM Sans"/>
                <a:buChar char="●"/>
              </a:pPr>
              <a:r>
                <a:rPr lang="ru-RU" sz="1450" b="1">
                  <a:solidFill>
                    <a:srgbClr val="000000"/>
                  </a:solidFill>
                </a:rPr>
                <a:t>Детекция объектов:</a:t>
              </a:r>
              <a:r>
                <a:rPr lang="ru-RU" sz="1450">
                  <a:solidFill>
                    <a:srgbClr val="333333"/>
                  </a:solidFill>
                </a:rPr>
                <a:t> HSV-сегментация и ArUco-маркеры.</a:t>
              </a:r>
              <a:endParaRPr sz="1450">
                <a:solidFill>
                  <a:srgbClr val="333333"/>
                </a:solidFill>
              </a:endParaRPr>
            </a:p>
            <a:p>
              <a:pPr marL="457200" lvl="0" indent="-320675" algn="l" rtl="0">
                <a:spcBef>
                  <a:spcPts val="400"/>
                </a:spcBef>
                <a:spcAft>
                  <a:spcPts val="400"/>
                </a:spcAft>
                <a:buClr>
                  <a:srgbClr val="333333"/>
                </a:buClr>
                <a:buSzPts val="1450"/>
                <a:buFont typeface="DM Sans"/>
                <a:buChar char="●"/>
              </a:pPr>
              <a:r>
                <a:rPr lang="ru-RU" sz="1450" b="1">
                  <a:solidFill>
                    <a:srgbClr val="000000"/>
                  </a:solidFill>
                </a:rPr>
                <a:t>Eye-to-Hand:</a:t>
              </a:r>
              <a:r>
                <a:rPr lang="ru-RU" sz="1450">
                  <a:solidFill>
                    <a:srgbClr val="333333"/>
                  </a:solidFill>
                </a:rPr>
                <a:t> Трансформация 2D-координат камеры в 3D-пространство робота.</a:t>
              </a:r>
              <a:endParaRPr sz="1450">
                <a:solidFill>
                  <a:srgbClr val="333333"/>
                </a:solidFill>
              </a:endParaRPr>
            </a:p>
          </p:txBody>
        </p:sp>
      </p:grpSp>
      <p:grpSp>
        <p:nvGrpSpPr>
          <p:cNvPr id="269" name="Google Shape;269;p30"/>
          <p:cNvGrpSpPr/>
          <p:nvPr/>
        </p:nvGrpSpPr>
        <p:grpSpPr>
          <a:xfrm>
            <a:off x="4381500" y="1776993"/>
            <a:ext cx="3429000" cy="3619500"/>
            <a:chOff x="0" y="0"/>
            <a:chExt cx="3429000" cy="3619500"/>
          </a:xfrm>
        </p:grpSpPr>
        <p:sp>
          <p:nvSpPr>
            <p:cNvPr id="270" name="Google Shape;270;p30"/>
            <p:cNvSpPr/>
            <p:nvPr/>
          </p:nvSpPr>
          <p:spPr>
            <a:xfrm>
              <a:off x="0" y="0"/>
              <a:ext cx="3429000" cy="3619500"/>
            </a:xfrm>
            <a:prstGeom prst="roundRect">
              <a:avLst>
                <a:gd name="adj" fmla="val 5555"/>
              </a:avLst>
            </a:prstGeom>
            <a:solidFill>
              <a:srgbClr val="CFE2F3"/>
            </a:solidFill>
            <a:ln w="9525" cap="flat" cmpd="sng">
              <a:solidFill>
                <a:srgbClr val="17161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/>
            </a:p>
          </p:txBody>
        </p:sp>
        <p:sp>
          <p:nvSpPr>
            <p:cNvPr id="271" name="Google Shape;271;p30"/>
            <p:cNvSpPr txBox="1"/>
            <p:nvPr/>
          </p:nvSpPr>
          <p:spPr>
            <a:xfrm>
              <a:off x="190500" y="0"/>
              <a:ext cx="3048000" cy="342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900" b="1">
                  <a:solidFill>
                    <a:srgbClr val="000000"/>
                  </a:solidFill>
                </a:rPr>
                <a:t>2. Обучение с подкреплением</a:t>
              </a:r>
              <a:endParaRPr sz="1900" b="1">
                <a:solidFill>
                  <a:srgbClr val="000000"/>
                </a:solidFill>
              </a:endParaRPr>
            </a:p>
            <a:p>
              <a:pPr marL="457200" lvl="0" indent="-320675" algn="l" rtl="0">
                <a:spcBef>
                  <a:spcPts val="600"/>
                </a:spcBef>
                <a:spcAft>
                  <a:spcPts val="0"/>
                </a:spcAft>
                <a:buClr>
                  <a:srgbClr val="333333"/>
                </a:buClr>
                <a:buSzPts val="1450"/>
                <a:buFont typeface="DM Sans"/>
                <a:buChar char="●"/>
              </a:pPr>
              <a:r>
                <a:rPr lang="ru-RU" sz="1450" b="1">
                  <a:solidFill>
                    <a:srgbClr val="000000"/>
                  </a:solidFill>
                </a:rPr>
                <a:t>RL-агенты:</a:t>
              </a:r>
              <a:r>
                <a:rPr lang="ru-RU" sz="1450">
                  <a:solidFill>
                    <a:srgbClr val="333333"/>
                  </a:solidFill>
                </a:rPr>
                <a:t> Тренировка PPO/SAC в среде MuJoCo.</a:t>
              </a:r>
              <a:endParaRPr sz="1450">
                <a:solidFill>
                  <a:srgbClr val="333333"/>
                </a:solidFill>
              </a:endParaRPr>
            </a:p>
            <a:p>
              <a:pPr marL="457200" lvl="0" indent="-320675" algn="l" rtl="0">
                <a:spcBef>
                  <a:spcPts val="400"/>
                </a:spcBef>
                <a:spcAft>
                  <a:spcPts val="400"/>
                </a:spcAft>
                <a:buClr>
                  <a:srgbClr val="333333"/>
                </a:buClr>
                <a:buSzPts val="1450"/>
                <a:buFont typeface="DM Sans"/>
                <a:buChar char="●"/>
              </a:pPr>
              <a:r>
                <a:rPr lang="ru-RU" sz="1450" b="1">
                  <a:solidFill>
                    <a:srgbClr val="000000"/>
                  </a:solidFill>
                </a:rPr>
                <a:t>HIL-SERL:</a:t>
              </a:r>
              <a:r>
                <a:rPr lang="ru-RU" sz="1450">
                  <a:solidFill>
                    <a:srgbClr val="333333"/>
                  </a:solidFill>
                </a:rPr>
                <a:t> Human-in-the-Loop для коррекции ошибок и дообучения классификаторов наград.</a:t>
              </a:r>
              <a:endParaRPr sz="1450">
                <a:solidFill>
                  <a:srgbClr val="333333"/>
                </a:solidFill>
              </a:endParaRPr>
            </a:p>
          </p:txBody>
        </p:sp>
      </p:grpSp>
      <p:grpSp>
        <p:nvGrpSpPr>
          <p:cNvPr id="272" name="Google Shape;272;p30"/>
          <p:cNvGrpSpPr/>
          <p:nvPr/>
        </p:nvGrpSpPr>
        <p:grpSpPr>
          <a:xfrm>
            <a:off x="7924800" y="1776993"/>
            <a:ext cx="3429000" cy="3619500"/>
            <a:chOff x="0" y="0"/>
            <a:chExt cx="3429000" cy="3619500"/>
          </a:xfrm>
        </p:grpSpPr>
        <p:sp>
          <p:nvSpPr>
            <p:cNvPr id="273" name="Google Shape;273;p30"/>
            <p:cNvSpPr/>
            <p:nvPr/>
          </p:nvSpPr>
          <p:spPr>
            <a:xfrm>
              <a:off x="0" y="0"/>
              <a:ext cx="3429000" cy="3619500"/>
            </a:xfrm>
            <a:prstGeom prst="roundRect">
              <a:avLst>
                <a:gd name="adj" fmla="val 5555"/>
              </a:avLst>
            </a:prstGeom>
            <a:solidFill>
              <a:srgbClr val="CFE2F3"/>
            </a:solidFill>
            <a:ln w="9525" cap="flat" cmpd="sng">
              <a:solidFill>
                <a:srgbClr val="17161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30"/>
            <p:cNvSpPr txBox="1"/>
            <p:nvPr/>
          </p:nvSpPr>
          <p:spPr>
            <a:xfrm>
              <a:off x="190500" y="0"/>
              <a:ext cx="3048000" cy="342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900" b="1">
                  <a:solidFill>
                    <a:srgbClr val="000000"/>
                  </a:solidFill>
                </a:rPr>
                <a:t>3. Имитационное обучение</a:t>
              </a:r>
              <a:endParaRPr sz="1900" b="1">
                <a:solidFill>
                  <a:srgbClr val="000000"/>
                </a:solidFill>
              </a:endParaRPr>
            </a:p>
            <a:p>
              <a:pPr marL="457200" lvl="0" indent="-320675" algn="l" rtl="0">
                <a:spcBef>
                  <a:spcPts val="600"/>
                </a:spcBef>
                <a:spcAft>
                  <a:spcPts val="0"/>
                </a:spcAft>
                <a:buClr>
                  <a:srgbClr val="333333"/>
                </a:buClr>
                <a:buSzPts val="1450"/>
                <a:buFont typeface="DM Sans"/>
                <a:buChar char="●"/>
              </a:pPr>
              <a:r>
                <a:rPr lang="ru-RU" sz="1450" b="1">
                  <a:solidFill>
                    <a:srgbClr val="000000"/>
                  </a:solidFill>
                </a:rPr>
                <a:t>Behavioral Cloning:</a:t>
              </a:r>
              <a:r>
                <a:rPr lang="ru-RU" sz="1450">
                  <a:solidFill>
                    <a:srgbClr val="333333"/>
                  </a:solidFill>
                </a:rPr>
                <a:t> Политики ACT и Diffusion на базе LeRobot.</a:t>
              </a:r>
              <a:endParaRPr sz="1450">
                <a:solidFill>
                  <a:srgbClr val="333333"/>
                </a:solidFill>
              </a:endParaRPr>
            </a:p>
            <a:p>
              <a:pPr marL="457200" lvl="0" indent="-320675" algn="l" rtl="0">
                <a:spcBef>
                  <a:spcPts val="400"/>
                </a:spcBef>
                <a:spcAft>
                  <a:spcPts val="400"/>
                </a:spcAft>
                <a:buClr>
                  <a:srgbClr val="333333"/>
                </a:buClr>
                <a:buSzPts val="1450"/>
                <a:buFont typeface="DM Sans"/>
                <a:buChar char="●"/>
              </a:pPr>
              <a:r>
                <a:rPr lang="ru-RU" sz="1450" b="1">
                  <a:solidFill>
                    <a:srgbClr val="000000"/>
                  </a:solidFill>
                </a:rPr>
                <a:t>VLA-модели:</a:t>
              </a:r>
              <a:r>
                <a:rPr lang="ru-RU" sz="1450">
                  <a:solidFill>
                    <a:srgbClr val="333333"/>
                  </a:solidFill>
                </a:rPr>
                <a:t> SmolVLA и π0. Управление через естественный язык и прямой видеопоток.</a:t>
              </a:r>
              <a:endParaRPr sz="1450">
                <a:solidFill>
                  <a:srgbClr val="333333"/>
                </a:solidFill>
              </a:endParaRPr>
            </a:p>
          </p:txBody>
        </p:sp>
      </p:grpSp>
      <p:grpSp>
        <p:nvGrpSpPr>
          <p:cNvPr id="275" name="Google Shape;275;p30"/>
          <p:cNvGrpSpPr/>
          <p:nvPr/>
        </p:nvGrpSpPr>
        <p:grpSpPr>
          <a:xfrm>
            <a:off x="838200" y="5620125"/>
            <a:ext cx="8833207" cy="1047300"/>
            <a:chOff x="0" y="238500"/>
            <a:chExt cx="6972300" cy="1047300"/>
          </a:xfrm>
        </p:grpSpPr>
        <p:sp>
          <p:nvSpPr>
            <p:cNvPr id="276" name="Google Shape;276;p30"/>
            <p:cNvSpPr/>
            <p:nvPr/>
          </p:nvSpPr>
          <p:spPr>
            <a:xfrm>
              <a:off x="0" y="238500"/>
              <a:ext cx="6972300" cy="1047300"/>
            </a:xfrm>
            <a:prstGeom prst="roundRect">
              <a:avLst>
                <a:gd name="adj" fmla="val 11111"/>
              </a:avLst>
            </a:prstGeom>
            <a:solidFill>
              <a:srgbClr val="F3F3F3"/>
            </a:solidFill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30"/>
            <p:cNvSpPr txBox="1"/>
            <p:nvPr/>
          </p:nvSpPr>
          <p:spPr>
            <a:xfrm>
              <a:off x="190500" y="354873"/>
              <a:ext cx="6591300" cy="81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ru-RU" sz="1150">
                  <a:solidFill>
                    <a:srgbClr val="444444"/>
                  </a:solidFill>
                  <a:latin typeface="Arial"/>
                  <a:ea typeface="Arial"/>
                  <a:cs typeface="Arial"/>
                  <a:sym typeface="Arial"/>
                </a:rPr>
                <a:t>«Система совместима с библиотекой LeRobot от Hugging Face. Это позволяет студентам перейти от классического OpenCV к современному имитационному обучению и RL, разворачивая передовые VLA-модели, где робот понимает текстовые команды».</a:t>
              </a:r>
              <a:endParaRPr sz="11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8" name="Google Shape;278;p30"/>
          <p:cNvSpPr txBox="1">
            <a:spLocks noGrp="1"/>
          </p:cNvSpPr>
          <p:nvPr>
            <p:ph type="sldNum" idx="4294967295"/>
          </p:nvPr>
        </p:nvSpPr>
        <p:spPr>
          <a:xfrm>
            <a:off x="10080171" y="5698671"/>
            <a:ext cx="1788000" cy="1047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1597520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1"/>
          <p:cNvSpPr/>
          <p:nvPr/>
        </p:nvSpPr>
        <p:spPr>
          <a:xfrm>
            <a:off x="8234400" y="2234175"/>
            <a:ext cx="3119400" cy="2617200"/>
          </a:xfrm>
          <a:prstGeom prst="roundRect">
            <a:avLst>
              <a:gd name="adj" fmla="val 16667"/>
            </a:avLst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31"/>
          <p:cNvSpPr/>
          <p:nvPr/>
        </p:nvSpPr>
        <p:spPr>
          <a:xfrm>
            <a:off x="4564050" y="2138375"/>
            <a:ext cx="3119400" cy="2712900"/>
          </a:xfrm>
          <a:prstGeom prst="roundRect">
            <a:avLst>
              <a:gd name="adj" fmla="val 16667"/>
            </a:avLst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31"/>
          <p:cNvSpPr/>
          <p:nvPr/>
        </p:nvSpPr>
        <p:spPr>
          <a:xfrm>
            <a:off x="893650" y="2138375"/>
            <a:ext cx="3119400" cy="2712900"/>
          </a:xfrm>
          <a:prstGeom prst="roundRect">
            <a:avLst>
              <a:gd name="adj" fmla="val 16667"/>
            </a:avLst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31"/>
          <p:cNvSpPr txBox="1">
            <a:spLocks noGrp="1"/>
          </p:cNvSpPr>
          <p:nvPr>
            <p:ph type="body" idx="1"/>
          </p:nvPr>
        </p:nvSpPr>
        <p:spPr>
          <a:xfrm>
            <a:off x="893700" y="2329775"/>
            <a:ext cx="3119400" cy="2208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lvl="0" indent="0" algn="l" rtl="0"/>
            <a:r>
              <a:rPr lang="ru-RU" sz="2100">
                <a:solidFill>
                  <a:schemeClr val="dk1"/>
                </a:solidFill>
              </a:rPr>
              <a:t>Desktop Mode</a:t>
            </a:r>
            <a:endParaRPr lang="ru-RU"/>
          </a:p>
          <a:p>
            <a:pPr marL="0" lvl="0" indent="0" algn="l" rtl="0"/>
            <a:r>
              <a:rPr lang="ru-RU" sz="2100">
                <a:solidFill>
                  <a:schemeClr val="dk1"/>
                </a:solidFill>
              </a:rPr>
              <a:t>Инженерная лаборатория.</a:t>
            </a:r>
            <a:endParaRPr lang="ru-RU"/>
          </a:p>
          <a:p>
            <a:pPr marL="0" lvl="0" indent="0" algn="l" rtl="0"/>
            <a:r>
              <a:rPr lang="ru-RU" sz="2100">
                <a:solidFill>
                  <a:schemeClr val="dk1"/>
                </a:solidFill>
              </a:rPr>
              <a:t>PyQt5, EventBus Pub-Sub. 9 панелей управления. 3D OpenGL-визуализация (60 FPS). Телеметрия 100 Гц. Блок-программирование последовательностей. Калибровка.</a:t>
            </a:r>
            <a:endParaRPr lang="ru-RU"/>
          </a:p>
        </p:txBody>
      </p:sp>
      <p:sp>
        <p:nvSpPr>
          <p:cNvPr id="288" name="Google Shape;288;p31"/>
          <p:cNvSpPr txBox="1">
            <a:spLocks noGrp="1"/>
          </p:cNvSpPr>
          <p:nvPr>
            <p:ph type="sldNum" idx="12"/>
          </p:nvPr>
        </p:nvSpPr>
        <p:spPr>
          <a:xfrm>
            <a:off x="10080171" y="5698671"/>
            <a:ext cx="1788000" cy="1047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>18</a:t>
            </a:r>
          </a:p>
        </p:txBody>
      </p:sp>
      <p:sp>
        <p:nvSpPr>
          <p:cNvPr id="289" name="Google Shape;289;p31"/>
          <p:cNvSpPr txBox="1">
            <a:spLocks noGrp="1"/>
          </p:cNvSpPr>
          <p:nvPr>
            <p:ph type="title"/>
          </p:nvPr>
        </p:nvSpPr>
        <p:spPr>
          <a:xfrm>
            <a:off x="838200" y="555171"/>
            <a:ext cx="8877300" cy="1135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1800"/>
              </a:spcBef>
              <a:spcAft>
                <a:spcPts val="1500"/>
              </a:spcAft>
              <a:buNone/>
            </a:pPr>
            <a:r>
              <a:rPr lang="ru-RU" sz="3600" b="1">
                <a:highlight>
                  <a:schemeClr val="lt1"/>
                </a:highlight>
              </a:rPr>
              <a:t>Сценарии использования ПО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290" name="Google Shape;290;p31"/>
          <p:cNvSpPr txBox="1"/>
          <p:nvPr/>
        </p:nvSpPr>
        <p:spPr>
          <a:xfrm>
            <a:off x="4596000" y="2324550"/>
            <a:ext cx="3119400" cy="23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/>
            <a:r>
              <a:rPr lang="ru-RU" sz="2100">
                <a:solidFill>
                  <a:schemeClr val="dk1"/>
                </a:solidFill>
              </a:rPr>
              <a:t>Web Management</a:t>
            </a:r>
            <a:endParaRPr lang="ru-RU"/>
          </a:p>
          <a:p>
            <a:pPr marL="0" lvl="0" indent="0" algn="l" rtl="0"/>
            <a:r>
              <a:rPr lang="ru-RU" sz="2100">
                <a:solidFill>
                  <a:schemeClr val="dk1"/>
                </a:solidFill>
              </a:rPr>
              <a:t>Удаленный контроль.</a:t>
            </a:r>
            <a:endParaRPr lang="ru-RU"/>
          </a:p>
          <a:p>
            <a:pPr marL="0" lvl="0" indent="0" algn="l" rtl="0"/>
            <a:r>
              <a:rPr lang="ru-RU" sz="2100">
                <a:solidFill>
                  <a:schemeClr val="dk1"/>
                </a:solidFill>
              </a:rPr>
              <a:t>React + FastAPI. REST + WebSocket + UDP. JWT auth. Docker Compose. Без установки ПО на клиенте. Три 3D-сцены: Three.js, MuJoCo, физический робот.</a:t>
            </a:r>
            <a:endParaRPr lang="ru-RU"/>
          </a:p>
        </p:txBody>
      </p:sp>
      <p:sp>
        <p:nvSpPr>
          <p:cNvPr id="291" name="Google Shape;291;p31"/>
          <p:cNvSpPr txBox="1"/>
          <p:nvPr/>
        </p:nvSpPr>
        <p:spPr>
          <a:xfrm>
            <a:off x="8234400" y="2329775"/>
            <a:ext cx="3119400" cy="23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/>
            <a:r>
              <a:rPr lang="ru-RU" sz="2100">
                <a:solidFill>
                  <a:schemeClr val="dk1"/>
                </a:solidFill>
              </a:rPr>
              <a:t>ROS2 Research</a:t>
            </a:r>
            <a:endParaRPr lang="ru-RU"/>
          </a:p>
          <a:p>
            <a:pPr marL="0" lvl="0" indent="0" algn="l" rtl="0"/>
            <a:r>
              <a:rPr lang="ru-RU" sz="2100">
                <a:solidFill>
                  <a:schemeClr val="dk1"/>
                </a:solidFill>
              </a:rPr>
              <a:t>Сбор данных и VLA.</a:t>
            </a:r>
            <a:endParaRPr lang="ru-RU"/>
          </a:p>
          <a:p>
            <a:pPr marL="0" lvl="0" indent="0" algn="l" rtl="0"/>
            <a:r>
              <a:rPr lang="ru-RU" sz="2100">
                <a:solidFill>
                  <a:schemeClr val="dk1"/>
                </a:solidFill>
              </a:rPr>
              <a:t>ROS2 bag: Image + JointState, синхронная запись. MuJoCo sim (10x ускорение). VLA-датасеты (HDF5/WebDataset). ros2_control Hardware Interface.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53409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2000" cy="594360"/>
          </a:xfrm>
          <a:prstGeom prst="roundRect">
            <a:avLst>
              <a:gd name="adj" fmla="val 5000"/>
            </a:avLst>
          </a:prstGeom>
          <a:solidFill>
            <a:srgbClr val="263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200" b="1">
                <a:solidFill>
                  <a:srgbClr val="7DD3C0"/>
                </a:solidFill>
                <a:latin typeface="Calibri"/>
              </a:defRPr>
            </a:pPr>
            <a:r>
              <a:t>Общая архитектура программного комплекса</a:t>
            </a:r>
          </a:p>
        </p:txBody>
      </p:sp>
      <p:pic>
        <p:nvPicPr>
          <p:cNvPr id="4" name="Picture 3" descr="architectur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77240"/>
            <a:ext cx="11247120" cy="636070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2000" cy="594360"/>
          </a:xfrm>
          <a:prstGeom prst="roundRect">
            <a:avLst>
              <a:gd name="adj" fmla="val 5000"/>
            </a:avLst>
          </a:prstGeom>
          <a:solidFill>
            <a:srgbClr val="263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7DD3C0"/>
                </a:solidFill>
                <a:latin typeface="Calibri"/>
              </a:defRPr>
            </a:pPr>
            <a:r>
              <a:t>Управление роботом и моторами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5303520" cy="5486400"/>
          </a:xfrm>
          <a:prstGeom prst="roundRect">
            <a:avLst>
              <a:gd name="adj" fmla="val 5000"/>
            </a:avLst>
          </a:prstGeom>
          <a:solidFill>
            <a:srgbClr val="2A3A4A"/>
          </a:solidFill>
          <a:ln w="12700">
            <a:solidFill>
              <a:srgbClr val="7DD3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4846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7DD3C0"/>
                </a:solidFill>
                <a:latin typeface="Calibri"/>
              </a:defRPr>
            </a:pPr>
            <a:r>
              <a:t>RobotService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4846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Центральный сервис управления роботом — подключение, движение и мониторинг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4846320" cy="39319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300"/>
              </a:spcAft>
              <a:defRPr sz="900">
                <a:solidFill>
                  <a:srgbClr val="F0F0F0"/>
                </a:solidFill>
                <a:latin typeface="Calibri"/>
              </a:defRPr>
            </a:pPr>
            <a:r>
              <a:t>• Подключение по UART (RS-485 @ 1 Mbps)</a:t>
            </a:r>
          </a:p>
          <a:p>
            <a:pPr>
              <a:spcAft>
                <a:spcPts val="300"/>
              </a:spcAft>
              <a:defRPr sz="900">
                <a:solidFill>
                  <a:srgbClr val="F0F0F0"/>
                </a:solidFill>
                <a:latin typeface="Calibri"/>
              </a:defRPr>
            </a:pPr>
            <a:r>
              <a:t>• Сканирование моторов на шине (ID 1–6)</a:t>
            </a:r>
          </a:p>
          <a:p>
            <a:pPr>
              <a:spcAft>
                <a:spcPts val="300"/>
              </a:spcAft>
              <a:defRPr sz="900">
                <a:solidFill>
                  <a:srgbClr val="F0F0F0"/>
                </a:solidFill>
                <a:latin typeface="Calibri"/>
              </a:defRPr>
            </a:pPr>
            <a:r>
              <a:t>• MoveJoint: position 0–4095, скорость 0–3400 step/s</a:t>
            </a:r>
          </a:p>
          <a:p>
            <a:pPr>
              <a:spcAft>
                <a:spcPts val="300"/>
              </a:spcAft>
              <a:defRPr sz="900">
                <a:solidFill>
                  <a:srgbClr val="F0F0F0"/>
                </a:solidFill>
                <a:latin typeface="Calibri"/>
              </a:defRPr>
            </a:pPr>
            <a:r>
              <a:t>• MoveJoints: синхронное движение всех суставов</a:t>
            </a:r>
          </a:p>
          <a:p>
            <a:pPr>
              <a:spcAft>
                <a:spcPts val="300"/>
              </a:spcAft>
              <a:defRPr sz="900">
                <a:solidFill>
                  <a:srgbClr val="F0F0F0"/>
                </a:solidFill>
                <a:latin typeface="Calibri"/>
              </a:defRPr>
            </a:pPr>
            <a:r>
              <a:t>• GetState: позиции, температура, нагрузка, напряжение</a:t>
            </a:r>
          </a:p>
          <a:p>
            <a:pPr>
              <a:spcAft>
                <a:spcPts val="300"/>
              </a:spcAft>
              <a:defRPr sz="900">
                <a:solidFill>
                  <a:srgbClr val="F0F0F0"/>
                </a:solidFill>
                <a:latin typeface="Calibri"/>
              </a:defRPr>
            </a:pPr>
            <a:r>
              <a:t>• SetTorque: включение/отключение момента</a:t>
            </a:r>
          </a:p>
          <a:p>
            <a:pPr>
              <a:spcAft>
                <a:spcPts val="300"/>
              </a:spcAft>
              <a:defRPr sz="900">
                <a:solidFill>
                  <a:srgbClr val="F0F0F0"/>
                </a:solidFill>
                <a:latin typeface="Calibri"/>
              </a:defRPr>
            </a:pPr>
            <a:r>
              <a:t>• EmergencyStop: мгновенная остановка всех моторов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989320"/>
            <a:ext cx="4846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8A8A9A"/>
                </a:solidFill>
                <a:latin typeface="Calibri"/>
              </a:defRPr>
            </a:pPr>
            <a:r>
              <a:t>UART/RS-485 | Singleton | 100+ методов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822960"/>
            <a:ext cx="5303520" cy="5486400"/>
          </a:xfrm>
          <a:prstGeom prst="roundRect">
            <a:avLst>
              <a:gd name="adj" fmla="val 5000"/>
            </a:avLst>
          </a:prstGeom>
          <a:solidFill>
            <a:srgbClr val="2A3A4A"/>
          </a:solidFill>
          <a:ln w="12700">
            <a:solidFill>
              <a:srgbClr val="7DD3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63640" y="960120"/>
            <a:ext cx="4846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7DD3C0"/>
                </a:solidFill>
                <a:latin typeface="Calibri"/>
              </a:defRPr>
            </a:pPr>
            <a:r>
              <a:t>MotorController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280160"/>
            <a:ext cx="4846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Низкоуровневый контроллер Dynamixel Protocol 2.0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554480"/>
            <a:ext cx="4846320" cy="39319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300"/>
              </a:spcAft>
              <a:defRPr sz="900">
                <a:solidFill>
                  <a:srgbClr val="F0F0F0"/>
                </a:solidFill>
                <a:latin typeface="Calibri"/>
              </a:defRPr>
            </a:pPr>
            <a:r>
              <a:t>• Инструкции: WRITE_DATA, READ_DATA, PING, SYNC_WRITE</a:t>
            </a:r>
          </a:p>
          <a:p>
            <a:pPr>
              <a:spcAft>
                <a:spcPts val="300"/>
              </a:spcAft>
              <a:defRPr sz="900">
                <a:solidFill>
                  <a:srgbClr val="F0F0F0"/>
                </a:solidFill>
                <a:latin typeface="Calibri"/>
              </a:defRPr>
            </a:pPr>
            <a:r>
              <a:t>• Полудуплекс 1 Мбит/с, daisy-chain, 120 Ом терминация</a:t>
            </a:r>
          </a:p>
          <a:p>
            <a:pPr>
              <a:spcAft>
                <a:spcPts val="300"/>
              </a:spcAft>
              <a:defRPr sz="900">
                <a:solidFill>
                  <a:srgbClr val="F0F0F0"/>
                </a:solidFill>
                <a:latin typeface="Calibri"/>
              </a:defRPr>
            </a:pPr>
            <a:r>
              <a:t>• MotorMonitor: асинхронный polling мото¬ров (цикл 10 Гц)</a:t>
            </a:r>
          </a:p>
          <a:p>
            <a:pPr>
              <a:spcAft>
                <a:spcPts val="300"/>
              </a:spcAft>
              <a:defRPr sz="900">
                <a:solidFill>
                  <a:srgbClr val="F0F0F0"/>
                </a:solidFill>
                <a:latin typeface="Calibri"/>
              </a:defRPr>
            </a:pPr>
            <a:r>
              <a:t>• Packet encoding/decoding — checksum CRC-16</a:t>
            </a:r>
          </a:p>
          <a:p>
            <a:pPr>
              <a:spcAft>
                <a:spcPts val="300"/>
              </a:spcAft>
              <a:defRPr sz="900">
                <a:solidFill>
                  <a:srgbClr val="F0F0F0"/>
                </a:solidFill>
                <a:latin typeface="Calibri"/>
              </a:defRPr>
            </a:pPr>
            <a:r>
              <a:t>• SYNC_WRITE для одновременного движения 6 моторов</a:t>
            </a:r>
          </a:p>
          <a:p>
            <a:pPr>
              <a:spcAft>
                <a:spcPts val="300"/>
              </a:spcAft>
              <a:defRPr sz="900">
                <a:solidFill>
                  <a:srgbClr val="F0F0F0"/>
                </a:solidFill>
                <a:latin typeface="Calibri"/>
              </a:defRPr>
            </a:pPr>
            <a:r>
              <a:t>• Автоопределение скорости (1M / 2M / 3M baud)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5989320"/>
            <a:ext cx="4846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8A8A9A"/>
                </a:solidFill>
                <a:latin typeface="Calibri"/>
              </a:defRPr>
            </a:pPr>
            <a:r>
              <a:t>Protocol 2.0 | CRC-16 | SYNC_WRITE | 10+ моторов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2000" cy="594360"/>
          </a:xfrm>
          <a:prstGeom prst="roundRect">
            <a:avLst>
              <a:gd name="adj" fmla="val 5000"/>
            </a:avLst>
          </a:prstGeom>
          <a:solidFill>
            <a:srgbClr val="263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7DD3C0"/>
                </a:solidFill>
                <a:latin typeface="Calibri"/>
              </a:defRPr>
            </a:pPr>
            <a:r>
              <a:t>Кинематика и захват данных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5303520" cy="5486400"/>
          </a:xfrm>
          <a:prstGeom prst="roundRect">
            <a:avLst>
              <a:gd name="adj" fmla="val 5000"/>
            </a:avLst>
          </a:prstGeom>
          <a:solidFill>
            <a:srgbClr val="2A3A4A"/>
          </a:solidFill>
          <a:ln w="12700">
            <a:solidFill>
              <a:srgbClr val="7DD3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4846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7DD3C0"/>
                </a:solidFill>
                <a:latin typeface="Calibri"/>
              </a:defRPr>
            </a:pPr>
            <a:r>
              <a:t>KinematicsService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4846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Прямая и обратная кинематика для 6-DOF манипулятора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4846320" cy="39319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300"/>
              </a:spcAft>
              <a:defRPr sz="900">
                <a:solidFill>
                  <a:srgbClr val="F0F0F0"/>
                </a:solidFill>
                <a:latin typeface="Calibri"/>
              </a:defRPr>
            </a:pPr>
            <a:r>
              <a:t>• Forward Kinematics: DH-параметры → XYZ (мм) + ориентация</a:t>
            </a:r>
          </a:p>
          <a:p>
            <a:pPr>
              <a:spcAft>
                <a:spcPts val="300"/>
              </a:spcAft>
              <a:defRPr sz="900">
                <a:solidFill>
                  <a:srgbClr val="F0F0F0"/>
                </a:solidFill>
                <a:latin typeface="Calibri"/>
              </a:defRPr>
            </a:pPr>
            <a:r>
              <a:t>• Inverse Kinematics: Damped Least Squares (DLS)</a:t>
            </a:r>
          </a:p>
          <a:p>
            <a:pPr>
              <a:spcAft>
                <a:spcPts val="300"/>
              </a:spcAft>
              <a:defRPr sz="900">
                <a:solidFill>
                  <a:srgbClr val="F0F0F0"/>
                </a:solidFill>
                <a:latin typeface="Calibri"/>
              </a:defRPr>
            </a:pPr>
            <a:r>
              <a:t>• Множественные начальные приближения (elbow-up/down)</a:t>
            </a:r>
          </a:p>
          <a:p>
            <a:pPr>
              <a:spcAft>
                <a:spcPts val="300"/>
              </a:spcAft>
              <a:defRPr sz="900">
                <a:solidFill>
                  <a:srgbClr val="F0F0F0"/>
                </a:solidFill>
                <a:latin typeface="Calibri"/>
              </a:defRPr>
            </a:pPr>
            <a:r>
              <a:t>• Валидация углов: проверка лимитов Joint limits</a:t>
            </a:r>
          </a:p>
          <a:p>
            <a:pPr>
              <a:spcAft>
                <a:spcPts val="300"/>
              </a:spcAft>
              <a:defRPr sz="900">
                <a:solidFill>
                  <a:srgbClr val="F0F0F0"/>
                </a:solidFill>
                <a:latin typeface="Calibri"/>
              </a:defRPr>
            </a:pPr>
            <a:r>
              <a:t>• Workspace bounds: визуализация рабочей зоны</a:t>
            </a:r>
          </a:p>
          <a:p>
            <a:pPr>
              <a:spcAft>
                <a:spcPts val="300"/>
              </a:spcAft>
              <a:defRPr sz="900">
                <a:solidFill>
                  <a:srgbClr val="F0F0F0"/>
                </a:solidFill>
                <a:latin typeface="Calibri"/>
              </a:defRPr>
            </a:pPr>
            <a:r>
              <a:t>• Точность: &lt; 1 мм (IK), &lt; 0.1° (FK)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989320"/>
            <a:ext cx="4846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8A8A9A"/>
                </a:solidFill>
                <a:latin typeface="Calibri"/>
              </a:defRPr>
            </a:pPr>
            <a:r>
              <a:t>DH params | DLS | 6-DOF | точность &lt; 1 мм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822960"/>
            <a:ext cx="5303520" cy="5486400"/>
          </a:xfrm>
          <a:prstGeom prst="roundRect">
            <a:avLst>
              <a:gd name="adj" fmla="val 5000"/>
            </a:avLst>
          </a:prstGeom>
          <a:solidFill>
            <a:srgbClr val="2A3A4A"/>
          </a:solidFill>
          <a:ln w="12700">
            <a:solidFill>
              <a:srgbClr val="7DD3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63640" y="960120"/>
            <a:ext cx="4846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7DD3C0"/>
                </a:solidFill>
                <a:latin typeface="Calibri"/>
              </a:defRPr>
            </a:pPr>
            <a:r>
              <a:t>CameraService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280160"/>
            <a:ext cx="4846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Универсальный захват видео с камер через OpenCV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554480"/>
            <a:ext cx="4846320" cy="39319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300"/>
              </a:spcAft>
              <a:defRPr sz="900">
                <a:solidFill>
                  <a:srgbClr val="F0F0F0"/>
                </a:solidFill>
                <a:latin typeface="Calibri"/>
              </a:defRPr>
            </a:pPr>
            <a:r>
              <a:t>• Поддержка: DShow (Windows), MSMF, V4L2 (Linux)</a:t>
            </a:r>
          </a:p>
          <a:p>
            <a:pPr>
              <a:spcAft>
                <a:spcPts val="300"/>
              </a:spcAft>
              <a:defRPr sz="900">
                <a:solidFill>
                  <a:srgbClr val="F0F0F0"/>
                </a:solidFill>
                <a:latin typeface="Calibri"/>
              </a:defRPr>
            </a:pPr>
            <a:r>
              <a:t>• Разрешение: 640×480 @ 30 FPS (default)</a:t>
            </a:r>
          </a:p>
          <a:p>
            <a:pPr>
              <a:spcAft>
                <a:spcPts val="300"/>
              </a:spcAft>
              <a:defRPr sz="900">
                <a:solidFill>
                  <a:srgbClr val="F0F0F0"/>
                </a:solidFill>
                <a:latin typeface="Calibri"/>
              </a:defRPr>
            </a:pPr>
            <a:r>
              <a:t>• get_frame() → np.ndarray (BGR), листинг камер</a:t>
            </a:r>
          </a:p>
          <a:p>
            <a:pPr>
              <a:spcAft>
                <a:spcPts val="300"/>
              </a:spcAft>
              <a:defRPr sz="900">
                <a:solidFill>
                  <a:srgbClr val="F0F0F0"/>
                </a:solidFill>
                <a:latin typeface="Calibri"/>
              </a:defRPr>
            </a:pPr>
            <a:r>
              <a:t>• Асинхронный захват в отдельном потоке</a:t>
            </a:r>
          </a:p>
          <a:p>
            <a:pPr>
              <a:spcAft>
                <a:spcPts val="300"/>
              </a:spcAft>
              <a:defRPr sz="900">
                <a:solidFill>
                  <a:srgbClr val="F0F0F0"/>
                </a:solidFill>
                <a:latin typeface="Calibri"/>
              </a:defRPr>
            </a:pPr>
            <a:r>
              <a:t>• Буферизация последнего кадра (thread-safe)</a:t>
            </a:r>
          </a:p>
          <a:p>
            <a:pPr>
              <a:spcAft>
                <a:spcPts val="300"/>
              </a:spcAft>
              <a:defRPr sz="900">
                <a:solidFill>
                  <a:srgbClr val="F0F0F0"/>
                </a:solidFill>
                <a:latin typeface="Calibri"/>
              </a:defRPr>
            </a:pPr>
            <a:r>
              <a:t>• set_resolution / set_fps для настройки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5989320"/>
            <a:ext cx="4846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8A8A9A"/>
                </a:solidFill>
                <a:latin typeface="Calibri"/>
              </a:defRPr>
            </a:pPr>
            <a:r>
              <a:t>OpenCV | 640×480 | 30 FPS | DShow/MSMF/V4L2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2000" cy="594360"/>
          </a:xfrm>
          <a:prstGeom prst="roundRect">
            <a:avLst>
              <a:gd name="adj" fmla="val 5000"/>
            </a:avLst>
          </a:prstGeom>
          <a:solidFill>
            <a:srgbClr val="263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7DD3C0"/>
                </a:solidFill>
                <a:latin typeface="Calibri"/>
              </a:defRPr>
            </a:pPr>
            <a:r>
              <a:t>AI-интеграция и управление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5303520" cy="5486400"/>
          </a:xfrm>
          <a:prstGeom prst="roundRect">
            <a:avLst>
              <a:gd name="adj" fmla="val 5000"/>
            </a:avLst>
          </a:prstGeom>
          <a:solidFill>
            <a:srgbClr val="2A3A4A"/>
          </a:solidFill>
          <a:ln w="12700">
            <a:solidFill>
              <a:srgbClr val="7DD3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4846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7DD3C0"/>
                </a:solidFill>
                <a:latin typeface="Calibri"/>
              </a:defRPr>
            </a:pPr>
            <a:r>
              <a:t>AIProvider (Strategy Pattern)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4846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Единый фасад для VLM-моделей Ollama, LM Studio, OpenAI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4846320" cy="39319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300"/>
              </a:spcAft>
              <a:defRPr sz="900">
                <a:solidFill>
                  <a:srgbClr val="F0F0F0"/>
                </a:solidFill>
                <a:latin typeface="Calibri"/>
              </a:defRPr>
            </a:pPr>
            <a:r>
              <a:t>• Strategy: OllamaBackend / OpenAICompatibleBackend</a:t>
            </a:r>
          </a:p>
          <a:p>
            <a:pPr>
              <a:spcAft>
                <a:spcPts val="300"/>
              </a:spcAft>
              <a:defRPr sz="900">
                <a:solidFill>
                  <a:srgbClr val="F0F0F0"/>
                </a:solidFill>
                <a:latin typeface="Calibri"/>
              </a:defRPr>
            </a:pPr>
            <a:r>
              <a:t>• chat(prompt, images) → {content, json_data, latency}</a:t>
            </a:r>
          </a:p>
          <a:p>
            <a:pPr>
              <a:spcAft>
                <a:spcPts val="300"/>
              </a:spcAft>
              <a:defRPr sz="900">
                <a:solidFill>
                  <a:srgbClr val="F0F0F0"/>
                </a:solidFill>
                <a:latin typeface="Calibri"/>
              </a:defRPr>
            </a:pPr>
            <a:r>
              <a:t>• chat_json — авто-парсинг JSON из ответа VLM</a:t>
            </a:r>
          </a:p>
          <a:p>
            <a:pPr>
              <a:spcAft>
                <a:spcPts val="300"/>
              </a:spcAft>
              <a:defRPr sz="900">
                <a:solidFill>
                  <a:srgbClr val="F0F0F0"/>
                </a:solidFill>
                <a:latin typeface="Calibri"/>
              </a:defRPr>
            </a:pPr>
            <a:r>
              <a:t>• Автоопределение доступности: /api/tags, /v1/models</a:t>
            </a:r>
          </a:p>
          <a:p>
            <a:pPr>
              <a:spcAft>
                <a:spcPts val="300"/>
              </a:spcAft>
              <a:defRPr sz="900">
                <a:solidFill>
                  <a:srgbClr val="F0F0F0"/>
                </a:solidFill>
                <a:latin typeface="Calibri"/>
              </a:defRPr>
            </a:pPr>
            <a:r>
              <a:t>• Поддержка изображений: base64 JPEG (до 4K)</a:t>
            </a:r>
          </a:p>
          <a:p>
            <a:pPr>
              <a:spcAft>
                <a:spcPts val="300"/>
              </a:spcAft>
              <a:defRPr sz="900">
                <a:solidFill>
                  <a:srgbClr val="F0F0F0"/>
                </a:solidFill>
                <a:latin typeface="Calibri"/>
              </a:defRPr>
            </a:pPr>
            <a:r>
              <a:t>• Confif: temperature=0.1, max_tokens=300, timeout=30s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989320"/>
            <a:ext cx="4846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8A8A9A"/>
                </a:solidFill>
                <a:latin typeface="Calibri"/>
              </a:defRPr>
            </a:pPr>
            <a:r>
              <a:t>Ollama | LM Studio | OpenAI | base64 images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822960"/>
            <a:ext cx="5303520" cy="5486400"/>
          </a:xfrm>
          <a:prstGeom prst="roundRect">
            <a:avLst>
              <a:gd name="adj" fmla="val 5000"/>
            </a:avLst>
          </a:prstGeom>
          <a:solidFill>
            <a:srgbClr val="2A3A4A"/>
          </a:solidFill>
          <a:ln w="12700">
            <a:solidFill>
              <a:srgbClr val="7DD3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63640" y="960120"/>
            <a:ext cx="4846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7DD3C0"/>
                </a:solidFill>
                <a:latin typeface="Calibri"/>
              </a:defRPr>
            </a:pPr>
            <a:r>
              <a:t>AIRobotControllerService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280160"/>
            <a:ext cx="4846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Автономное управление роботом через VLM: кадр → анализ → действие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554480"/>
            <a:ext cx="4846320" cy="39319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300"/>
              </a:spcAft>
              <a:defRPr sz="900">
                <a:solidFill>
                  <a:srgbClr val="F0F0F0"/>
                </a:solidFill>
                <a:latin typeface="Calibri"/>
              </a:defRPr>
            </a:pPr>
            <a:r>
              <a:t>• Цикл: get_frame() → chat(prompt, [frame]) → JSON парсинг</a:t>
            </a:r>
          </a:p>
          <a:p>
            <a:pPr>
              <a:spcAft>
                <a:spcPts val="300"/>
              </a:spcAft>
              <a:defRPr sz="900">
                <a:solidFill>
                  <a:srgbClr val="F0F0F0"/>
                </a:solidFill>
                <a:latin typeface="Calibri"/>
              </a:defRPr>
            </a:pPr>
            <a:r>
              <a:t>• Команды: {joint, angle}, {x, y, z}, {gripper, state}</a:t>
            </a:r>
          </a:p>
          <a:p>
            <a:pPr>
              <a:spcAft>
                <a:spcPts val="300"/>
              </a:spcAft>
              <a:defRPr sz="900">
                <a:solidFill>
                  <a:srgbClr val="F0F0F0"/>
                </a:solidFill>
                <a:latin typeface="Calibri"/>
              </a:defRPr>
            </a:pPr>
            <a:r>
              <a:t>• Prompt engineering: 7 предустановок (найди, возьми, поставь)</a:t>
            </a:r>
          </a:p>
          <a:p>
            <a:pPr>
              <a:spcAft>
                <a:spcPts val="300"/>
              </a:spcAft>
              <a:defRPr sz="900">
                <a:solidFill>
                  <a:srgbClr val="F0F0F0"/>
                </a:solidFill>
                <a:latin typeface="Calibri"/>
              </a:defRPr>
            </a:pPr>
            <a:r>
              <a:t>• Режимы: AUTO (непрерывно), STEP (шаг за шагом), WATCH</a:t>
            </a:r>
          </a:p>
          <a:p>
            <a:pPr>
              <a:spcAft>
                <a:spcPts val="300"/>
              </a:spcAft>
              <a:defRPr sz="900">
                <a:solidFill>
                  <a:srgbClr val="F0F0F0"/>
                </a:solidFill>
                <a:latin typeface="Calibri"/>
              </a:defRPr>
            </a:pPr>
            <a:r>
              <a:t>• Логирование: reasoning, confidence, latency, action</a:t>
            </a:r>
          </a:p>
          <a:p>
            <a:pPr>
              <a:spcAft>
                <a:spcPts val="300"/>
              </a:spcAft>
              <a:defRPr sz="900">
                <a:solidFill>
                  <a:srgbClr val="F0F0F0"/>
                </a:solidFill>
                <a:latin typeface="Calibri"/>
              </a:defRPr>
            </a:pPr>
            <a:r>
              <a:t>• FPS: 2–5 Гц (зависит от VLM-модели + GPU)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5989320"/>
            <a:ext cx="4846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8A8A9A"/>
                </a:solidFill>
                <a:latin typeface="Calibri"/>
              </a:defRPr>
            </a:pPr>
            <a:r>
              <a:t>VLM | 5 Гц | AUTO/STEP/WATCH | 7 presets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2000" cy="594360"/>
          </a:xfrm>
          <a:prstGeom prst="roundRect">
            <a:avLst>
              <a:gd name="adj" fmla="val 5000"/>
            </a:avLst>
          </a:prstGeom>
          <a:solidFill>
            <a:srgbClr val="263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7DD3C0"/>
                </a:solidFill>
                <a:latin typeface="Calibri"/>
              </a:defRPr>
            </a:pPr>
            <a:r>
              <a:t>Трекинг и детекция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5303520" cy="5486400"/>
          </a:xfrm>
          <a:prstGeom prst="roundRect">
            <a:avLst>
              <a:gd name="adj" fmla="val 5000"/>
            </a:avLst>
          </a:prstGeom>
          <a:solidFill>
            <a:srgbClr val="2A3A4A"/>
          </a:solidFill>
          <a:ln w="12700">
            <a:solidFill>
              <a:srgbClr val="7DD3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4846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7DD3C0"/>
                </a:solidFill>
                <a:latin typeface="Calibri"/>
              </a:defRPr>
            </a:pPr>
            <a:r>
              <a:t>VisionTrackerService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4846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VLM-визуальный трекинг: AI ищет объект → PID → робот следит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4846320" cy="39319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300"/>
              </a:spcAft>
              <a:defRPr sz="900">
                <a:solidFill>
                  <a:srgbClr val="F0F0F0"/>
                </a:solidFill>
                <a:latin typeface="Calibri"/>
              </a:defRPr>
            </a:pPr>
            <a:r>
              <a:t>• start_tracking(target) — VLM поиск объекта на кадре</a:t>
            </a:r>
          </a:p>
          <a:p>
            <a:pPr>
              <a:spcAft>
                <a:spcPts val="300"/>
              </a:spcAft>
              <a:defRPr sz="900">
                <a:solidFill>
                  <a:srgbClr val="F0F0F0"/>
                </a:solidFill>
                <a:latin typeface="Calibri"/>
              </a:defRPr>
            </a:pPr>
            <a:r>
              <a:t>• Ббокс → центр объекта → PID-коррекция (Kp=0.5, Ki=0.01, Kd=0.1)</a:t>
            </a:r>
          </a:p>
          <a:p>
            <a:pPr>
              <a:spcAft>
                <a:spcPts val="300"/>
              </a:spcAft>
              <a:defRPr sz="900">
                <a:solidFill>
                  <a:srgbClr val="F0F0F0"/>
                </a:solidFill>
                <a:latin typeface="Calibri"/>
              </a:defRPr>
            </a:pPr>
            <a:r>
              <a:t>• Непрерывный цикл: кадр → VLM → PID → move_joint</a:t>
            </a:r>
          </a:p>
          <a:p>
            <a:pPr>
              <a:spcAft>
                <a:spcPts val="300"/>
              </a:spcAft>
              <a:defRPr sz="900">
                <a:solidFill>
                  <a:srgbClr val="F0F0F0"/>
                </a:solidFill>
                <a:latin typeface="Calibri"/>
              </a:defRPr>
            </a:pPr>
            <a:r>
              <a:t>• Логи VLM-ответов и bounding box координат</a:t>
            </a:r>
          </a:p>
          <a:p>
            <a:pPr>
              <a:spcAft>
                <a:spcPts val="300"/>
              </a:spcAft>
              <a:defRPr sz="900">
                <a:solidFill>
                  <a:srgbClr val="F0F0F0"/>
                </a:solidFill>
                <a:latin typeface="Calibri"/>
              </a:defRPr>
            </a:pPr>
            <a:r>
              <a:t>• Частота регулируется: quality vs speed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989320"/>
            <a:ext cx="4846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8A8A9A"/>
                </a:solidFill>
                <a:latin typeface="Calibri"/>
              </a:defRPr>
            </a:pPr>
            <a:r>
              <a:t>VLM | PID | bbox tracking | Ollama/OpenAI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822960"/>
            <a:ext cx="5303520" cy="5486400"/>
          </a:xfrm>
          <a:prstGeom prst="roundRect">
            <a:avLst>
              <a:gd name="adj" fmla="val 5000"/>
            </a:avLst>
          </a:prstGeom>
          <a:solidFill>
            <a:srgbClr val="2A3A4A"/>
          </a:solidFill>
          <a:ln w="12700">
            <a:solidFill>
              <a:srgbClr val="7DD3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63640" y="960120"/>
            <a:ext cx="4846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7DD3C0"/>
                </a:solidFill>
                <a:latin typeface="Calibri"/>
              </a:defRPr>
            </a:pPr>
            <a:r>
              <a:t>MLTrackingService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280160"/>
            <a:ext cx="4846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Классический ML-трекинг через YOLO / PyTorch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554480"/>
            <a:ext cx="4846320" cy="39319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300"/>
              </a:spcAft>
              <a:defRPr sz="900">
                <a:solidFill>
                  <a:srgbClr val="F0F0F0"/>
                </a:solidFill>
                <a:latin typeface="Calibri"/>
              </a:defRPr>
            </a:pPr>
            <a:r>
              <a:t>• load_model(path) — YOLOv8 / любой PyTorch detection</a:t>
            </a:r>
          </a:p>
          <a:p>
            <a:pPr>
              <a:spcAft>
                <a:spcPts val="300"/>
              </a:spcAft>
              <a:defRPr sz="900">
                <a:solidFill>
                  <a:srgbClr val="F0F0F0"/>
                </a:solidFill>
                <a:latin typeface="Calibri"/>
              </a:defRPr>
            </a:pPr>
            <a:r>
              <a:t>• detect(frame) → list[Detection {bbox, class, confidence}]</a:t>
            </a:r>
          </a:p>
          <a:p>
            <a:pPr>
              <a:spcAft>
                <a:spcPts val="300"/>
              </a:spcAft>
              <a:defRPr sz="900">
                <a:solidFill>
                  <a:srgbClr val="F0F0F0"/>
                </a:solidFill>
                <a:latin typeface="Calibri"/>
              </a:defRPr>
            </a:pPr>
            <a:r>
              <a:t>• track(frame) → list[Track {id, bbox, class}]</a:t>
            </a:r>
          </a:p>
          <a:p>
            <a:pPr>
              <a:spcAft>
                <a:spcPts val="300"/>
              </a:spcAft>
              <a:defRPr sz="900">
                <a:solidFill>
                  <a:srgbClr val="F0F0F0"/>
                </a:solidFill>
                <a:latin typeface="Calibri"/>
              </a:defRPr>
            </a:pPr>
            <a:r>
              <a:t>• Не требует VLM-сервера: работает локально на GPU</a:t>
            </a:r>
          </a:p>
          <a:p>
            <a:pPr>
              <a:spcAft>
                <a:spcPts val="300"/>
              </a:spcAft>
              <a:defRPr sz="900">
                <a:solidFill>
                  <a:srgbClr val="F0F0F0"/>
                </a:solidFill>
                <a:latin typeface="Calibri"/>
              </a:defRPr>
            </a:pPr>
            <a:r>
              <a:t>• FPS: 30–60 в зависимости от модели и resolution</a:t>
            </a:r>
          </a:p>
          <a:p>
            <a:pPr>
              <a:spcAft>
                <a:spcPts val="300"/>
              </a:spcAft>
              <a:defRPr sz="900">
                <a:solidFill>
                  <a:srgbClr val="F0F0F0"/>
                </a:solidFill>
                <a:latin typeface="Calibri"/>
              </a:defRPr>
            </a:pPr>
            <a:r>
              <a:t>• Автономный трекинг без Ollama / LM Studio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5989320"/>
            <a:ext cx="4846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8A8A9A"/>
                </a:solidFill>
                <a:latin typeface="Calibri"/>
              </a:defRPr>
            </a:pPr>
            <a:r>
              <a:t>YOLOv8 | PyTorch | 30-60 FPS | no server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2000" cy="594360"/>
          </a:xfrm>
          <a:prstGeom prst="roundRect">
            <a:avLst>
              <a:gd name="adj" fmla="val 5000"/>
            </a:avLst>
          </a:prstGeom>
          <a:solidFill>
            <a:srgbClr val="263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7DD3C0"/>
                </a:solidFill>
                <a:latin typeface="Calibri"/>
              </a:defRPr>
            </a:pPr>
            <a:r>
              <a:t>Программы и данные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5303520" cy="5486400"/>
          </a:xfrm>
          <a:prstGeom prst="roundRect">
            <a:avLst>
              <a:gd name="adj" fmla="val 5000"/>
            </a:avLst>
          </a:prstGeom>
          <a:solidFill>
            <a:srgbClr val="2A3A4A"/>
          </a:solidFill>
          <a:ln w="12700">
            <a:solidFill>
              <a:srgbClr val="7DD3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4846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7DD3C0"/>
                </a:solidFill>
                <a:latin typeface="Calibri"/>
              </a:defRPr>
            </a:pPr>
            <a:r>
              <a:t>ProgramService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4846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Интерпретатор блочных программ управления роботом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4846320" cy="39319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300"/>
              </a:spcAft>
              <a:defRPr sz="900">
                <a:solidFill>
                  <a:srgbClr val="F0F0F0"/>
                </a:solidFill>
                <a:latin typeface="Calibri"/>
              </a:defRPr>
            </a:pPr>
            <a:r>
              <a:t>• 22+ типа блоков: Move Joint, Move XYZ, Linear, Arc, Loop, Wait</a:t>
            </a:r>
          </a:p>
          <a:p>
            <a:pPr>
              <a:spcAft>
                <a:spcPts val="300"/>
              </a:spcAft>
              <a:defRPr sz="900">
                <a:solidFill>
                  <a:srgbClr val="F0F0F0"/>
                </a:solidFill>
                <a:latin typeface="Calibri"/>
              </a:defRPr>
            </a:pPr>
            <a:r>
              <a:t>• Программа → JSON → ProgramExecutor (асинхронный поток)</a:t>
            </a:r>
          </a:p>
          <a:p>
            <a:pPr>
              <a:spcAft>
                <a:spcPts val="300"/>
              </a:spcAft>
              <a:defRPr sz="900">
                <a:solidFill>
                  <a:srgbClr val="F0F0F0"/>
                </a:solidFill>
                <a:latin typeface="Calibri"/>
              </a:defRPr>
            </a:pPr>
            <a:r>
              <a:t>• Поддержка паузы / возобновления / остановки</a:t>
            </a:r>
          </a:p>
          <a:p>
            <a:pPr>
              <a:spcAft>
                <a:spcPts val="300"/>
              </a:spcAft>
              <a:defRPr sz="900">
                <a:solidFill>
                  <a:srgbClr val="F0F0F0"/>
                </a:solidFill>
                <a:latin typeface="Calibri"/>
              </a:defRPr>
            </a:pPr>
            <a:r>
              <a:t>• Вложенные циклы, подпрограммы, условные переходы</a:t>
            </a:r>
          </a:p>
          <a:p>
            <a:pPr>
              <a:spcAft>
                <a:spcPts val="300"/>
              </a:spcAft>
              <a:defRPr sz="900">
                <a:solidFill>
                  <a:srgbClr val="F0F0F0"/>
                </a:solidFill>
                <a:latin typeface="Calibri"/>
              </a:defRPr>
            </a:pPr>
            <a:r>
              <a:t>• gripper- и torque-команды в составе программы</a:t>
            </a:r>
          </a:p>
          <a:p>
            <a:pPr>
              <a:spcAft>
                <a:spcPts val="300"/>
              </a:spcAft>
              <a:defRPr sz="900">
                <a:solidFill>
                  <a:srgbClr val="F0F0F0"/>
                </a:solidFill>
                <a:latin typeface="Calibri"/>
              </a:defRPr>
            </a:pPr>
            <a:r>
              <a:t>• Безопасность: предварительная валидация траектории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989320"/>
            <a:ext cx="4846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8A8A9A"/>
                </a:solidFill>
                <a:latin typeface="Calibri"/>
              </a:defRPr>
            </a:pPr>
            <a:r>
              <a:t>22 блока | JSON | async executor | Gripper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822960"/>
            <a:ext cx="5303520" cy="5486400"/>
          </a:xfrm>
          <a:prstGeom prst="roundRect">
            <a:avLst>
              <a:gd name="adj" fmla="val 5000"/>
            </a:avLst>
          </a:prstGeom>
          <a:solidFill>
            <a:srgbClr val="2A3A4A"/>
          </a:solidFill>
          <a:ln w="12700">
            <a:solidFill>
              <a:srgbClr val="7DD3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63640" y="960120"/>
            <a:ext cx="4846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7DD3C0"/>
                </a:solidFill>
                <a:latin typeface="Calibri"/>
              </a:defRPr>
            </a:pPr>
            <a:r>
              <a:t>DatasetRecorderService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280160"/>
            <a:ext cx="4846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Запись тренировочных датасетов в VAMOS + LeRobot формат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554480"/>
            <a:ext cx="4846320" cy="39319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300"/>
              </a:spcAft>
              <a:defRPr sz="900">
                <a:solidFill>
                  <a:srgbClr val="F0F0F0"/>
                </a:solidFill>
                <a:latin typeface="Calibri"/>
              </a:defRPr>
            </a:pPr>
            <a:r>
              <a:t>• Захват per-frame: angles[6] + tool_pose[3] + motor_load[6] + RGB</a:t>
            </a:r>
          </a:p>
          <a:p>
            <a:pPr>
              <a:spcAft>
                <a:spcPts val="300"/>
              </a:spcAft>
              <a:defRPr sz="900">
                <a:solidFill>
                  <a:srgbClr val="F0F0F0"/>
                </a:solidFill>
                <a:latin typeface="Calibri"/>
              </a:defRPr>
            </a:pPr>
            <a:r>
              <a:t>• VAMOS (custom): metadata.json, states.json, frames/*.png</a:t>
            </a:r>
          </a:p>
          <a:p>
            <a:pPr>
              <a:spcAft>
                <a:spcPts val="300"/>
              </a:spcAft>
              <a:defRPr sz="900">
                <a:solidFill>
                  <a:srgbClr val="F0F0F0"/>
                </a:solidFill>
                <a:latin typeface="Calibri"/>
              </a:defRPr>
            </a:pPr>
            <a:r>
              <a:t>• LeRobot (v2.1): episode.json + MP4 (H.264) + info/tasks</a:t>
            </a:r>
          </a:p>
          <a:p>
            <a:pPr>
              <a:spcAft>
                <a:spcPts val="300"/>
              </a:spcAft>
              <a:defRPr sz="900">
                <a:solidFill>
                  <a:srgbClr val="F0F0F0"/>
                </a:solidFill>
                <a:latin typeface="Calibri"/>
              </a:defRPr>
            </a:pPr>
            <a:r>
              <a:t>• Параллельная запись в оба формата одновременно</a:t>
            </a:r>
          </a:p>
          <a:p>
            <a:pPr>
              <a:spcAft>
                <a:spcPts val="300"/>
              </a:spcAft>
              <a:defRPr sz="900">
                <a:solidFill>
                  <a:srgbClr val="F0F0F0"/>
                </a:solidFill>
                <a:latin typeface="Calibri"/>
              </a:defRPr>
            </a:pPr>
            <a:r>
              <a:t>• 6 пресетов задач: Pick &amp; Place, Reach, Push, Circle, Grasp, Screw</a:t>
            </a:r>
          </a:p>
          <a:p>
            <a:pPr>
              <a:spcAft>
                <a:spcPts val="300"/>
              </a:spcAft>
              <a:defRPr sz="900">
                <a:solidFill>
                  <a:srgbClr val="F0F0F0"/>
                </a:solidFill>
                <a:latin typeface="Calibri"/>
              </a:defRPr>
            </a:pPr>
            <a:r>
              <a:t>• FPS 5–60, буферизация, автоматическая финализация эпизода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5989320"/>
            <a:ext cx="4846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8A8A9A"/>
                </a:solidFill>
                <a:latin typeface="Calibri"/>
              </a:defRPr>
            </a:pPr>
            <a:r>
              <a:t>VAMOS | LeRobot | MP4 H.264 | frame buffer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2000" cy="594360"/>
          </a:xfrm>
          <a:prstGeom prst="roundRect">
            <a:avLst>
              <a:gd name="adj" fmla="val 5000"/>
            </a:avLst>
          </a:prstGeom>
          <a:solidFill>
            <a:srgbClr val="263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000" b="1">
                <a:solidFill>
                  <a:srgbClr val="7DD3C0"/>
                </a:solidFill>
                <a:latin typeface="Calibri"/>
              </a:defRPr>
            </a:pPr>
            <a:r>
              <a:t>Обучение и инференс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5303520" cy="5486400"/>
          </a:xfrm>
          <a:prstGeom prst="roundRect">
            <a:avLst>
              <a:gd name="adj" fmla="val 5000"/>
            </a:avLst>
          </a:prstGeom>
          <a:solidFill>
            <a:srgbClr val="2A3A4A"/>
          </a:solidFill>
          <a:ln w="12700">
            <a:solidFill>
              <a:srgbClr val="7DD3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4846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7DD3C0"/>
                </a:solidFill>
                <a:latin typeface="Calibri"/>
              </a:defRPr>
            </a:pPr>
            <a:r>
              <a:t>RLTrainingService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4846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Обучение с подкреплением (DQN/PPO) в симуляции MuJoCo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4846320" cy="39319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300"/>
              </a:spcAft>
              <a:defRPr sz="900">
                <a:solidFill>
                  <a:srgbClr val="F0F0F0"/>
                </a:solidFill>
                <a:latin typeface="Calibri"/>
              </a:defRPr>
            </a:pPr>
            <a:r>
              <a:t>• DQN: MLP [256, 256], replay buffer 100k, ε-greedy (1→0.01)</a:t>
            </a:r>
          </a:p>
          <a:p>
            <a:pPr>
              <a:spcAft>
                <a:spcPts val="300"/>
              </a:spcAft>
              <a:defRPr sz="900">
                <a:solidFill>
                  <a:srgbClr val="F0F0F0"/>
                </a:solidFill>
                <a:latin typeface="Calibri"/>
              </a:defRPr>
            </a:pPr>
            <a:r>
              <a:t>• PPO: MLP [512, 256], clip=0.2, lr=3e-4</a:t>
            </a:r>
          </a:p>
          <a:p>
            <a:pPr>
              <a:spcAft>
                <a:spcPts val="300"/>
              </a:spcAft>
              <a:defRPr sz="900">
                <a:solidFill>
                  <a:srgbClr val="F0F0F0"/>
                </a:solidFill>
                <a:latin typeface="Calibri"/>
              </a:defRPr>
            </a:pPr>
            <a:r>
              <a:t>• RobotArmEnv (Gymnasium): 18-dim obs, 7-dim action</a:t>
            </a:r>
          </a:p>
          <a:p>
            <a:pPr>
              <a:spcAft>
                <a:spcPts val="300"/>
              </a:spcAft>
              <a:defRPr sz="900">
                <a:solidFill>
                  <a:srgbClr val="F0F0F0"/>
                </a:solidFill>
                <a:latin typeface="Calibri"/>
              </a:defRPr>
            </a:pPr>
            <a:r>
              <a:t>• Curriculum: reach fixed → reach random → pick &amp; place</a:t>
            </a:r>
          </a:p>
          <a:p>
            <a:pPr>
              <a:spcAft>
                <a:spcPts val="300"/>
              </a:spcAft>
              <a:defRPr sz="900">
                <a:solidFill>
                  <a:srgbClr val="F0F0F0"/>
                </a:solidFill>
                <a:latin typeface="Calibri"/>
              </a:defRPr>
            </a:pPr>
            <a:r>
              <a:t>• Evaluate: mean_reward, success_rate, mean_steps</a:t>
            </a:r>
          </a:p>
          <a:p>
            <a:pPr>
              <a:spcAft>
                <a:spcPts val="300"/>
              </a:spcAft>
              <a:defRPr sz="900">
                <a:solidFill>
                  <a:srgbClr val="F0F0F0"/>
                </a:solidFill>
                <a:latin typeface="Calibri"/>
              </a:defRPr>
            </a:pPr>
            <a:r>
              <a:t>• Digital Twin: MuJoCo sync_from/sync_to реального робота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989320"/>
            <a:ext cx="4846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8A8A9A"/>
                </a:solidFill>
                <a:latin typeface="Calibri"/>
              </a:defRPr>
            </a:pPr>
            <a:r>
              <a:t>DQN | PPO | Gymnasium | MuJoCo | Curriculum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822960"/>
            <a:ext cx="5303520" cy="5486400"/>
          </a:xfrm>
          <a:prstGeom prst="roundRect">
            <a:avLst>
              <a:gd name="adj" fmla="val 5000"/>
            </a:avLst>
          </a:prstGeom>
          <a:solidFill>
            <a:srgbClr val="2A3A4A"/>
          </a:solidFill>
          <a:ln w="12700">
            <a:solidFill>
              <a:srgbClr val="7DD3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63640" y="960120"/>
            <a:ext cx="4846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7DD3C0"/>
                </a:solidFill>
                <a:latin typeface="Calibri"/>
              </a:defRPr>
            </a:pPr>
            <a:r>
              <a:t>InferenceService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280160"/>
            <a:ext cx="4846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Инференс LeRobot-моделей (ACT/Diffusion/pi0/pi0.5) на GPU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554480"/>
            <a:ext cx="4846320" cy="39319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300"/>
              </a:spcAft>
              <a:defRPr sz="900">
                <a:solidFill>
                  <a:srgbClr val="F0F0F0"/>
                </a:solidFill>
                <a:latin typeface="Calibri"/>
              </a:defRPr>
            </a:pPr>
            <a:r>
              <a:t>• Загрузка: make_policy(pretrained=...) или PI0Policy.from_pretrained()</a:t>
            </a:r>
          </a:p>
          <a:p>
            <a:pPr>
              <a:spcAft>
                <a:spcPts val="300"/>
              </a:spcAft>
              <a:defRPr sz="900">
                <a:solidFill>
                  <a:srgbClr val="F0F0F0"/>
                </a:solidFill>
                <a:latin typeface="Calibri"/>
              </a:defRPr>
            </a:pPr>
            <a:r>
              <a:t>• Модели: ACT, Diffusion, pi0, pi0.5, SmolVLA (с Hugging Face)</a:t>
            </a:r>
          </a:p>
          <a:p>
            <a:pPr>
              <a:spcAft>
                <a:spcPts val="300"/>
              </a:spcAft>
              <a:defRPr sz="900">
                <a:solidFill>
                  <a:srgbClr val="F0F0F0"/>
                </a:solidFill>
                <a:latin typeface="Calibri"/>
              </a:defRPr>
            </a:pPr>
            <a:r>
              <a:t>• Поток: камера + углы → preprocess → select_action → postprocess → моторы</a:t>
            </a:r>
          </a:p>
          <a:p>
            <a:pPr>
              <a:spcAft>
                <a:spcPts val="300"/>
              </a:spcAft>
              <a:defRPr sz="900">
                <a:solidFill>
                  <a:srgbClr val="F0F0F0"/>
                </a:solidFill>
                <a:latin typeface="Calibri"/>
              </a:defRPr>
            </a:pPr>
            <a:r>
              <a:t>• GPU: CUDA, TF32, cuDNN benchmark, torch.compile</a:t>
            </a:r>
          </a:p>
          <a:p>
            <a:pPr>
              <a:spcAft>
                <a:spcPts val="300"/>
              </a:spcAft>
              <a:defRPr sz="900">
                <a:solidFill>
                  <a:srgbClr val="F0F0F0"/>
                </a:solidFill>
                <a:latin typeface="Calibri"/>
              </a:defRPr>
            </a:pPr>
            <a:r>
              <a:t>• FPS: 30 Гц (inference latency &lt; 10 ms)</a:t>
            </a:r>
          </a:p>
          <a:p>
            <a:pPr>
              <a:spcAft>
                <a:spcPts val="300"/>
              </a:spcAft>
              <a:defRPr sz="900">
                <a:solidFill>
                  <a:srgbClr val="F0F0F0"/>
                </a:solidFill>
                <a:latin typeface="Calibri"/>
              </a:defRPr>
            </a:pPr>
            <a:r>
              <a:t>• Ray: опциональный параллельный preprocessing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5989320"/>
            <a:ext cx="4846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8A8A9A"/>
                </a:solidFill>
                <a:latin typeface="Calibri"/>
              </a:defRPr>
            </a:pPr>
            <a:r>
              <a:t>LeRobot | CUDA | pi0/pi0.5 | 30 Гц | Hugging Face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8BB9860-D3F9-AFA5-BCEC-D23A14E5D6F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26</a:t>
            </a:r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AB8E14A-D078-8FF5-6F84-B38DECBFD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 программного кода </a:t>
            </a:r>
            <a:endParaRPr lang="ru-FI" dirty="0"/>
          </a:p>
        </p:txBody>
      </p:sp>
      <p:pic>
        <p:nvPicPr>
          <p:cNvPr id="5" name="image3.png">
            <a:extLst>
              <a:ext uri="{FF2B5EF4-FFF2-40B4-BE49-F238E27FC236}">
                <a16:creationId xmlns:a16="http://schemas.microsoft.com/office/drawing/2014/main" id="{A092E610-86D7-88D5-0D2A-2DA0DA60948F}"/>
              </a:ext>
            </a:extLst>
          </p:cNvPr>
          <p:cNvPicPr/>
          <p:nvPr/>
        </p:nvPicPr>
        <p:blipFill>
          <a:blip r:embed="rId2"/>
          <a:srcRect t="2876"/>
          <a:stretch>
            <a:fillRect/>
          </a:stretch>
        </p:blipFill>
        <p:spPr>
          <a:xfrm>
            <a:off x="2708935" y="1539152"/>
            <a:ext cx="4980114" cy="4657482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9213993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DATASET RECORDER SERVICE —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</a:defRPr>
            </a:pPr>
            <a:r>
              <a:t>Сервис записи датасетов — модуль для сбора тренировочных данных с реального робота.</a:t>
            </a:r>
            <a:br/>
            <a:br/>
            <a:r>
              <a:t>Источники данных:</a:t>
            </a:r>
            <a:br/>
            <a:r>
              <a:t>  • RobotService — углы суставов J1-J6, нагрузка (%), температура (°C), raw-позиции</a:t>
            </a:r>
            <a:br/>
            <a:r>
              <a:t>  • CameraService — RGB-кадры с камеры (640×480), захват через OpenCV</a:t>
            </a:r>
            <a:br/>
            <a:r>
              <a:t>  • KinematicsService — декартовы координаты инструмента (X, Y, Z мм)</a:t>
            </a:r>
            <a:br/>
            <a:br/>
            <a:r>
              <a:t>Форматы сохранения:</a:t>
            </a:r>
            <a:br/>
            <a:r>
              <a:t>  • VAMOS (custom) — episode_{idx}/metadata.json, states.json, frames/*.png, command.txt</a:t>
            </a:r>
            <a:br/>
            <a:r>
              <a:t>  • LeRobot (v2.1) — episodes/episode_{idx}.json, videos/observation.images.main/*.mp4, meta/</a:t>
            </a:r>
            <a:br/>
            <a:br/>
            <a:r>
              <a:t>Поток записи:</a:t>
            </a:r>
            <a:br/>
            <a:r>
              <a:t>  1. UI (DatasetPanel) → DatasetRecorderService → потоковый захват кадров</a:t>
            </a:r>
            <a:br/>
            <a:r>
              <a:t>  2. Каждый кадр: joint_angles[6] + tool_pose[3] + motor_load[6] + motor_temp[6] + camera_frame</a:t>
            </a:r>
            <a:br/>
            <a:r>
              <a:t>  3. Одновременная запись в оба формата (VAMOS + LeRobot) или выборочно</a:t>
            </a:r>
            <a:br/>
            <a:r>
              <a:t>  4. UI: Start/Stop/Pause, выбор FPS (5-60), preset задач, текст команды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18872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RobotService</a:t>
            </a:r>
            <a:br/>
            <a:r>
              <a:t>J1-J6 angles</a:t>
            </a:r>
            <a:br/>
            <a:r>
              <a:t>Motor load/temp</a:t>
            </a:r>
            <a:br/>
            <a:r>
              <a:t>Raw positions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1488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CameraService</a:t>
            </a:r>
            <a:br/>
            <a:r>
              <a:t>RGB frames</a:t>
            </a:r>
            <a:br/>
            <a:r>
              <a:t>640×480</a:t>
            </a:r>
            <a:br/>
            <a:r>
              <a:t>OpenCV capture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310896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KinematicsService</a:t>
            </a:r>
            <a:br/>
            <a:r>
              <a:t>Tool pose</a:t>
            </a:r>
            <a:br/>
            <a:r>
              <a:t>X, Y, Z (mm)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463040"/>
            <a:ext cx="2011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DD3C0"/>
                </a:solidFill>
              </a:defRPr>
            </a:pPr>
            <a:r>
              <a:t>DatasetRecorderService</a:t>
            </a:r>
            <a:br/>
            <a:br/>
            <a:r>
              <a:t>├ VAMOS Writer</a:t>
            </a:r>
            <a:br/>
            <a:r>
              <a:t>├ LeRobot Writer</a:t>
            </a:r>
            <a:br/>
            <a:r>
              <a:t>├ Frame Buffer</a:t>
            </a:r>
            <a:br/>
            <a:r>
              <a:t>├ State Buffer</a:t>
            </a:r>
            <a:br/>
            <a:r>
              <a:t>└ Record Loop</a:t>
            </a:r>
            <a:br/>
            <a:br/>
            <a:r>
              <a:t>(VAMOS + LeRobot)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41148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94560"/>
                </a:solidFill>
              </a:defRPr>
            </a:pPr>
            <a:r>
              <a:t>VAMOS Format</a:t>
            </a:r>
            <a:br/>
            <a:r>
              <a:t>episode_{idx}/</a:t>
            </a:r>
            <a:br/>
            <a:r>
              <a:t>  metadata.json</a:t>
            </a:r>
            <a:br/>
            <a:r>
              <a:t>  states.json</a:t>
            </a:r>
            <a:br/>
            <a:r>
              <a:t>  frames/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41148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94560"/>
                </a:solidFill>
              </a:defRPr>
            </a:pPr>
            <a:r>
              <a:t>LeRobot Format</a:t>
            </a:r>
            <a:br/>
            <a:r>
              <a:t>episodes/</a:t>
            </a:r>
            <a:br/>
            <a:r>
              <a:t>  episode_{idx}.json</a:t>
            </a:r>
            <a:br/>
            <a:r>
              <a:t>videos/ observation.images.main/</a:t>
            </a:r>
            <a:br/>
            <a:r>
              <a:t>  episode_{idx}.mp4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СБОР ДАННЫХ — VAMOS + LEROBOT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</a:defRPr>
            </a:pPr>
            <a:r>
              <a:t>Вкладка Dataset (12-я вкладка интерфейса)</a:t>
            </a:r>
            <a:br/>
            <a:r>
              <a:t>  DatasetPanel → DatasetRecorderService → два формата параллельно</a:t>
            </a:r>
            <a:br/>
            <a:br/>
            <a:r>
              <a:t>Элементы управления:</a:t>
            </a:r>
            <a:br/>
            <a:r>
              <a:t>  • Чекбоксы: VAMOS ☑ / LeRobot ☑ — выбор формата</a:t>
            </a:r>
            <a:br/>
            <a:r>
              <a:t>  • FPS: 5-60 кадров/с (спинбокс)</a:t>
            </a:r>
            <a:br/>
            <a:r>
              <a:t>  • Task: текстовое имя задачи (pick_and_place, reach_target, push_object, ...)</a:t>
            </a:r>
            <a:br/>
            <a:r>
              <a:t>  • Command: естественно-языковая команда ("Pick up the red object")</a:t>
            </a:r>
            <a:br/>
            <a:r>
              <a:t>  • Preset Tasks: 6 быстрых кнопок (Pick &amp; Place, Reach Target, Push Object, Draw Circle, Grasp &amp; Hold, Screw Insertion)</a:t>
            </a:r>
            <a:br/>
            <a:r>
              <a:t>  • START RECORDING → STOP (красная), PAUSE/RESUME</a:t>
            </a:r>
            <a:br/>
            <a:br/>
            <a:r>
              <a:t>VAMOS (custom format):</a:t>
            </a:r>
            <a:br/>
            <a:r>
              <a:t>  datasets/vamos/episode_{idx}/</a:t>
            </a:r>
            <a:br/>
            <a:r>
              <a:t>    ├── metadata.json — индекс эпизода, задача, FPS, длительность, joint_names</a:t>
            </a:r>
            <a:br/>
            <a:r>
              <a:t>    ├── command.txt — текст команды (если задана)</a:t>
            </a:r>
            <a:br/>
            <a:r>
              <a:t>    ├── states.json — per-frame: timestamp, joint_angles[6], tool_pose[3], motor_load[6], motor_temp[6]</a:t>
            </a:r>
            <a:br/>
            <a:r>
              <a:t>    └── frames/ — кадры frame_{:06d}.png</a:t>
            </a:r>
            <a:br/>
            <a:br/>
            <a:r>
              <a:t>LeRobot (v2.1 compatible):</a:t>
            </a:r>
            <a:br/>
            <a:r>
              <a:t>  datasets/lerobot/</a:t>
            </a:r>
            <a:br/>
            <a:r>
              <a:t>    ├── meta/info.json — FPS, robot_type, features schema (observation.state, action, images)</a:t>
            </a:r>
            <a:br/>
            <a:r>
              <a:t>    ├── meta/tasks.jsonl — задача на каждый эпизод</a:t>
            </a:r>
            <a:br/>
            <a:r>
              <a:t>    ├── episodes/episode_{idx}.json — per-step: obs.state, action, timestamp, next.done</a:t>
            </a:r>
            <a:br/>
            <a:r>
              <a:t>    └── videos/observation.images.main/episode_{idx}.mp4 — H.264 видео всех кадров</a:t>
            </a:r>
            <a:br/>
            <a:br/>
            <a:r>
              <a:t>Поток кадра (30 FPS по умолчанию):</a:t>
            </a:r>
            <a:br/>
            <a:r>
              <a:t>  RobotService._read_joint_angles() + _read_tool_pose() + _read_motor_data() + CameraService.get_frame() → state dict + RGB frame → буфер → VAMOS (PNG+JSON) + LeRobot (MP4+JSON)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>
            <a:normAutofit lnSpcReduction="10000"/>
          </a:bodyPr>
          <a:lstStyle/>
          <a:p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Сервисы app/ — Архитектура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8229600" cy="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7DD3C0"/>
                </a:solidFill>
              </a:defRPr>
            </a:pPr>
            <a:r>
              <a:t>━━━━━━━━━━━━━━━━━━━━━━━━━━━━━━━━━━━━━━━━━━━━━━━━━━━━━━━━━━━━━━━━━━━━━━━━━━━━━━━━━━━━━━━━━━━━━━━━━━━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app/ — Service Architecture</a:t>
            </a:r>
            <a:br/>
            <a:r>
              <a:t>═══════════════════════════</a:t>
            </a:r>
            <a:br/>
            <a:br/>
            <a:r>
              <a:t>config/constants.py — единый конфиг</a:t>
            </a:r>
            <a:br/>
            <a:br/>
            <a:r>
              <a:t>core/ — DI Container + EventBus + BaseService + Interfaces</a:t>
            </a:r>
            <a:br/>
            <a:r>
              <a:t>  DIContainer — Dependency Injection (сервисы → контроллеры)</a:t>
            </a:r>
            <a:br/>
            <a:r>
              <a:t>  EventBus — Pub-Sub шина (connect, disconnect, alarm, position)</a:t>
            </a:r>
            <a:br/>
            <a:br/>
            <a:r>
              <a:t>controllers/ — MotorController (UART/RS-485) + MotorMonitor</a:t>
            </a:r>
            <a:br/>
            <a:br/>
            <a:r>
              <a:t>services/ — 9 сервисов:</a:t>
            </a:r>
            <a:br/>
            <a:r>
              <a:t>  RobotService — move_joint, get_state, torque</a:t>
            </a:r>
            <a:br/>
            <a:r>
              <a:t>  KinematicsService — FK (DH→XYZ) + IK (DLS)</a:t>
            </a:r>
            <a:br/>
            <a:r>
              <a:t>  CameraService — OpenCV захват (AVFoundation/DSHOW/V4L2)</a:t>
            </a:r>
            <a:br/>
            <a:r>
              <a:t>  VisionTrackerService — VLM трекинг (Ollama/LM Studio/OpenAI)</a:t>
            </a:r>
            <a:br/>
            <a:r>
              <a:t>  AIProvider + AI Robot Controller — Strategy: кадр→VLM→действие</a:t>
            </a:r>
            <a:br/>
            <a:r>
              <a:t>  ProgramService — управление программами</a:t>
            </a:r>
            <a:br/>
            <a:r>
              <a:t>  DatasetRecorder — запись VAMOS + LeRobot</a:t>
            </a:r>
            <a:br/>
            <a:r>
              <a:t>  RLTrainingService — DQN/PPO в Gymnasium</a:t>
            </a:r>
            <a:br/>
            <a:br/>
            <a:r>
              <a:t>models/ — Kinematics6DOF (DH params), IK6DOF (DLS), MotorData, RL agents</a:t>
            </a:r>
            <a:br/>
            <a:br/>
            <a:r>
              <a:t>views/ — 12 панелей CustomTkinter через DI + EventBus</a:t>
            </a:r>
            <a:br/>
            <a:br/>
            <a:r>
              <a:t>utils/ — ConfigManager + Logger + ProgramExecutor</a:t>
            </a:r>
            <a:br/>
            <a:br/>
            <a:r>
              <a:t>Связи: DI → сервисы → контроллеры/views; EventBus → все View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>
            <a:normAutofit lnSpcReduction="10000"/>
          </a:bodyPr>
          <a:lstStyle/>
          <a:p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Сервисы web/ — Архитектура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8229600" cy="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7DD3C0"/>
                </a:solidFill>
              </a:defRPr>
            </a:pPr>
            <a:r>
              <a:t>━━━━━━━━━━━━━━━━━━━━━━━━━━━━━━━━━━━━━━━━━━━━━━━━━━━━━━━━━━━━━━━━━━━━━━━━━━━━━━━━━━━━━━━━━━━━━━━━━━━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web/ — Web Architecture Detail</a:t>
            </a:r>
            <a:br/>
            <a:r>
              <a:t>════════════════════════</a:t>
            </a:r>
            <a:br/>
            <a:br/>
            <a:r>
              <a:t>Backend: FastAPI</a:t>
            </a:r>
            <a:br/>
            <a:r>
              <a:t>  main.py — CORS, app mounts</a:t>
            </a:r>
            <a:br/>
            <a:r>
              <a:t>  api/routes.py — REST: /api/login, /api/robot/state, /api/robot/move, /api/programs</a:t>
            </a:r>
            <a:br/>
            <a:r>
              <a:t>  api/auth.py — JWT (HS256, PyJWT)</a:t>
            </a:r>
            <a:br/>
            <a:r>
              <a:t>  api/websocket.py — WS /ws: joint_states@30Hz, camera frames (JPEG), alarms</a:t>
            </a:r>
            <a:br/>
            <a:r>
              <a:t>  config/ — настройки</a:t>
            </a:r>
            <a:br/>
            <a:r>
              <a:t>  core/ — общая логика</a:t>
            </a:r>
            <a:br/>
            <a:br/>
            <a:r>
              <a:t>Frontend: React 19 + TypeScript + Vite</a:t>
            </a:r>
            <a:br/>
            <a:r>
              <a:t>  Three.js — 3D через URDF</a:t>
            </a:r>
            <a:br/>
            <a:r>
              <a:t>  Blockly — визуальное программирование</a:t>
            </a:r>
            <a:br/>
            <a:r>
              <a:t>  Dashboard + Joystick — управление</a:t>
            </a:r>
            <a:br/>
            <a:br/>
            <a:r>
              <a:t>Связь: Browser → React → fetch/WS → FastAPI → robot_service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>
            <a:normAutofit lnSpcReduction="10000"/>
          </a:bodyPr>
          <a:lstStyle/>
          <a:p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Сервисы ros2/ — Архитектура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8229600" cy="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7DD3C0"/>
                </a:solidFill>
              </a:defRPr>
            </a:pPr>
            <a:r>
              <a:t>━━━━━━━━━━━━━━━━━━━━━━━━━━━━━━━━━━━━━━━━━━━━━━━━━━━━━━━━━━━━━━━━━━━━━━━━━━━━━━━━━━━━━━━━━━━━━━━━━━━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ros2/ — ROS2 Architecture Detail</a:t>
            </a:r>
            <a:br/>
            <a:r>
              <a:t>═════════════════════════════</a:t>
            </a:r>
            <a:br/>
            <a:br/>
            <a:r>
              <a:t>Пакет robot_control:</a:t>
            </a:r>
            <a:br/>
            <a:br/>
            <a:r>
              <a:t>Узлы:</a:t>
            </a:r>
            <a:br/>
            <a:r>
              <a:t>  robot_node.py — JointState publisher + cmd subscriber</a:t>
            </a:r>
            <a:br/>
            <a:r>
              <a:t>    Подписка: /robot_controls/cmd (Pose/JointState)</a:t>
            </a:r>
            <a:br/>
            <a:r>
              <a:t>    Публикация: /joint_states (sensor_msgs/JointState)</a:t>
            </a:r>
            <a:br/>
            <a:r>
              <a:t>    Сервис: /robot_controls/get_state, /robot_controls/stop</a:t>
            </a:r>
            <a:br/>
            <a:r>
              <a:t>    load_threshold — автостоп при превышении нагрузки</a:t>
            </a:r>
            <a:br/>
            <a:br/>
            <a:r>
              <a:t>  robot_node_v2.py — расширенный мониторинг load+temperature</a:t>
            </a:r>
            <a:br/>
            <a:br/>
            <a:r>
              <a:t>  hardware_interface.py — HAL Dynamixel (Protocol 2.0)</a:t>
            </a:r>
            <a:br/>
            <a:r>
              <a:t>    write_joint_positions() + read_joint_states() + get_all_motor_data()</a:t>
            </a:r>
            <a:br/>
            <a:br/>
            <a:r>
              <a:t>  ik_service_node.py — /ik_service/solve (XYZ → angles, DLS)</a:t>
            </a:r>
            <a:br/>
            <a:br/>
            <a:r>
              <a:t>  monitor_node.py — публикация temperature, load, connection</a:t>
            </a:r>
            <a:br/>
            <a:br/>
            <a:r>
              <a:t>  bag_recorder.py — запись /joint_states + /camera/image_raw → ROS2 bag</a:t>
            </a:r>
            <a:br/>
            <a:br/>
            <a:r>
              <a:t>  ros2_control_bridge.py — ros2_control HardwareInterface</a:t>
            </a:r>
            <a:br/>
            <a:br/>
            <a:r>
              <a:t>Launch: robot.launch, record_bag, playback_bag, gazebo, ros2_control</a:t>
            </a:r>
            <a:br/>
            <a:br/>
            <a:r>
              <a:t>Тесты: hw_interface, ik_node, motor_cache, position_math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>
            <a:normAutofit lnSpcReduction="10000"/>
          </a:bodyPr>
          <a:lstStyle/>
          <a:p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Инференс LeRobot — GPU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8229600" cy="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7DD3C0"/>
                </a:solidFill>
              </a:defRPr>
            </a:pPr>
            <a:r>
              <a:t>━━━━━━━━━━━━━━━━━━━━━━━━━━━━━━━━━━━━━━━━━━━━━━━━━━━━━━━━━━━━━━━━━━━━━━━━━━━━━━━━━━━━━━━━━━━━━━━━━━━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Inference — LeRobot Policy</a:t>
            </a:r>
            <a:br/>
            <a:r>
              <a:t>═══════════════════════</a:t>
            </a:r>
            <a:br/>
            <a:br/>
            <a:r>
              <a:t>Загрузка предобученных моделей ACT / Diffusion Policy / SmolVLA</a:t>
            </a:r>
            <a:br/>
            <a:r>
              <a:t>с Hugging Face Hub и выполнение инференса на локальном GPU.</a:t>
            </a:r>
            <a:br/>
            <a:br/>
            <a:r>
              <a:t>Поддерживаемые модели:</a:t>
            </a:r>
            <a:br/>
            <a:r>
              <a:t>  • lerobot/diffusion_pusht</a:t>
            </a:r>
            <a:br/>
            <a:r>
              <a:t>  • lerobot/act_aloha_sim_transfer_cube_human</a:t>
            </a:r>
            <a:br/>
            <a:r>
              <a:t>  • lerobot/act_aloha_mobile_cabinet</a:t>
            </a:r>
            <a:br/>
            <a:r>
              <a:t>  • lerobot/diffusion_policy-grasp</a:t>
            </a:r>
            <a:br/>
            <a:r>
              <a:t>  • lerobot/smolvla-aloha</a:t>
            </a:r>
            <a:br/>
            <a:br/>
            <a:r>
              <a:t>Поток инференса (30 FPS):</a:t>
            </a:r>
            <a:br/>
            <a:r>
              <a:t>  CameraService → RGB frame (640×480)</a:t>
            </a:r>
            <a:br/>
            <a:r>
              <a:t>  RobotService → joint_angles[6] (J1-J6 в градусах)</a:t>
            </a:r>
            <a:br/>
            <a:r>
              <a:t>  Preprocessor → policy.select_action() → action[6]</a:t>
            </a:r>
            <a:br/>
            <a:r>
              <a:t>  Postprocessor → MotorController → move_to_position()</a:t>
            </a:r>
            <a:br/>
            <a:br/>
            <a:r>
              <a:t>Device: CUDA (NVIDIA GPU) с TF32 + cuDNN benchmark</a:t>
            </a:r>
            <a:br/>
            <a:br/>
            <a:r>
              <a:t>Fine-tuning:</a:t>
            </a:r>
            <a:br/>
            <a:r>
              <a:t>  notebooks/training_lerobot.ipynb — шаблон дообучения</a:t>
            </a:r>
            <a:br/>
            <a:r>
              <a:t>  LAUNCH JUPYTER — запуск Jupyter Notebook сервера</a:t>
            </a:r>
            <a:br/>
            <a:r>
              <a:t>  Планируется: отдельный Jupyter worker для async-тренировки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2">
  <a:themeElements>
    <a:clrScheme name="Московский Политех">
      <a:dk1>
        <a:srgbClr val="000000"/>
      </a:dk1>
      <a:lt1>
        <a:srgbClr val="FFFFFF"/>
      </a:lt1>
      <a:dk2>
        <a:srgbClr val="171616"/>
      </a:dk2>
      <a:lt2>
        <a:srgbClr val="E7E6E6"/>
      </a:lt2>
      <a:accent1>
        <a:srgbClr val="E61E46"/>
      </a:accent1>
      <a:accent2>
        <a:srgbClr val="1E3E8D"/>
      </a:accent2>
      <a:accent3>
        <a:srgbClr val="A5A5A5"/>
      </a:accent3>
      <a:accent4>
        <a:srgbClr val="60DCCA"/>
      </a:accent4>
      <a:accent5>
        <a:srgbClr val="3478BC"/>
      </a:accent5>
      <a:accent6>
        <a:srgbClr val="E94572"/>
      </a:accent6>
      <a:hlink>
        <a:srgbClr val="3478BC"/>
      </a:hlink>
      <a:folHlink>
        <a:srgbClr val="E945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2">
  <a:themeElements>
    <a:clrScheme name="Московский Политех">
      <a:dk1>
        <a:srgbClr val="000000"/>
      </a:dk1>
      <a:lt1>
        <a:srgbClr val="FFFFFF"/>
      </a:lt1>
      <a:dk2>
        <a:srgbClr val="171616"/>
      </a:dk2>
      <a:lt2>
        <a:srgbClr val="E7E6E6"/>
      </a:lt2>
      <a:accent1>
        <a:srgbClr val="E61E46"/>
      </a:accent1>
      <a:accent2>
        <a:srgbClr val="1E3E8D"/>
      </a:accent2>
      <a:accent3>
        <a:srgbClr val="A5A5A5"/>
      </a:accent3>
      <a:accent4>
        <a:srgbClr val="60DCCA"/>
      </a:accent4>
      <a:accent5>
        <a:srgbClr val="3478BC"/>
      </a:accent5>
      <a:accent6>
        <a:srgbClr val="E94572"/>
      </a:accent6>
      <a:hlink>
        <a:srgbClr val="3478BC"/>
      </a:hlink>
      <a:folHlink>
        <a:srgbClr val="E945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4517</Words>
  <Application>Microsoft Office PowerPoint</Application>
  <PresentationFormat>Широкоэкранный</PresentationFormat>
  <Paragraphs>337</Paragraphs>
  <Slides>32</Slides>
  <Notes>16</Notes>
  <HiddenSlides>0</HiddenSlides>
  <MMClips>2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32</vt:i4>
      </vt:variant>
    </vt:vector>
  </HeadingPairs>
  <TitlesOfParts>
    <vt:vector size="38" baseType="lpstr">
      <vt:lpstr>Arial</vt:lpstr>
      <vt:lpstr>Calibri</vt:lpstr>
      <vt:lpstr>DM Sans</vt:lpstr>
      <vt:lpstr>Verdana</vt:lpstr>
      <vt:lpstr>Тема2</vt:lpstr>
      <vt:lpstr>Тема2</vt:lpstr>
      <vt:lpstr>Разработка программного обеспечения учебного шестиосевого робота-манипулятора с использованием Dynamixel и технического зрения</vt:lpstr>
      <vt:lpstr>Презентация PowerPoint</vt:lpstr>
      <vt:lpstr>Проблематика и актуальность в образовательном процессе</vt:lpstr>
      <vt:lpstr>Анализ аналогов</vt:lpstr>
      <vt:lpstr>Презентация PowerPoint</vt:lpstr>
      <vt:lpstr>Управление приводами Dynamixel</vt:lpstr>
      <vt:lpstr>Интерфейс оператора</vt:lpstr>
      <vt:lpstr>Вычислительное ядро: Кинематика</vt:lpstr>
      <vt:lpstr>Система технического зрения</vt:lpstr>
      <vt:lpstr>Web-интерфейс и REST API</vt:lpstr>
      <vt:lpstr>Web-интерфейс</vt:lpstr>
      <vt:lpstr>Интеграция с экосистемой ROS2</vt:lpstr>
      <vt:lpstr>Спасибо за внимание </vt:lpstr>
      <vt:lpstr>Визуализация в mujoco</vt:lpstr>
      <vt:lpstr>Презентация PowerPoint</vt:lpstr>
      <vt:lpstr>Презентация PowerPoint</vt:lpstr>
      <vt:lpstr>Презентация PowerPoint</vt:lpstr>
      <vt:lpstr>Сценарии использования ПО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Архитектура программного кода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программного обеспечения учебного шестиосевого робота-манипулятора с использованием Dynamixel и технического зрения</dc:title>
  <cp:lastModifiedBy>Ляхов Александр</cp:lastModifiedBy>
  <cp:revision>8</cp:revision>
  <dcterms:modified xsi:type="dcterms:W3CDTF">2026-06-24T16:13:52Z</dcterms:modified>
</cp:coreProperties>
</file>