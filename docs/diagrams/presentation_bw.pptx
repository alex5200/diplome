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371600" y="1371600"/>
            <a:ext cx="91440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lnSpc>
                <a:spcPts val="5280"/>
              </a:lnSpc>
              <a:spcAft>
                <a:spcPts val="1320"/>
              </a:spcAft>
              <a:defRPr sz="4400" b="1">
                <a:solidFill>
                  <a:srgbClr val="FFFFFF"/>
                </a:solidFill>
              </a:defRPr>
            </a:pPr>
            <a:r>
              <a:t>Система управления</a:t>
            </a:r>
          </a:p>
          <a:p>
            <a:pPr algn="ctr">
              <a:lnSpc>
                <a:spcPts val="5280"/>
              </a:lnSpc>
              <a:spcAft>
                <a:spcPts val="1320"/>
              </a:spcAft>
              <a:defRPr sz="4400" b="1">
                <a:solidFill>
                  <a:srgbClr val="FFFFFF"/>
                </a:solidFill>
              </a:defRPr>
            </a:pPr>
            <a:r>
              <a:t>6-осевым роботом-манипулятором</a:t>
            </a:r>
          </a:p>
          <a:p>
            <a:pPr algn="ctr">
              <a:lnSpc>
                <a:spcPts val="3360"/>
              </a:lnSpc>
              <a:spcAft>
                <a:spcPts val="840"/>
              </a:spcAft>
              <a:defRPr sz="2800" b="0">
                <a:solidFill>
                  <a:srgbClr val="828282"/>
                </a:solidFill>
              </a:defRPr>
            </a:pPr>
            <a:r>
              <a:t>на базе сервомоторов ST3215</a:t>
            </a:r>
          </a:p>
        </p:txBody>
      </p:sp>
      <p:sp>
        <p:nvSpPr>
          <p:cNvPr id="3" name="Rectangle 2"/>
          <p:cNvSpPr/>
          <p:nvPr/>
        </p:nvSpPr>
        <p:spPr>
          <a:xfrm>
            <a:off x="3657600" y="3474720"/>
            <a:ext cx="4572000" cy="25400"/>
          </a:xfrm>
          <a:prstGeom prst="rect">
            <a:avLst/>
          </a:prstGeom>
          <a:solidFill>
            <a:srgbClr val="8282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0" y="3840480"/>
            <a:ext cx="64008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lnSpc>
                <a:spcPts val="2160"/>
              </a:lnSpc>
              <a:spcAft>
                <a:spcPts val="540"/>
              </a:spcAft>
              <a:defRPr sz="1800" b="0">
                <a:solidFill>
                  <a:srgbClr val="D2D2D2"/>
                </a:solidFill>
              </a:defRPr>
            </a:pPr>
            <a:r>
              <a:t>Выпускная квалификационная работа</a:t>
            </a:r>
          </a:p>
          <a:p>
            <a:pPr algn="ctr">
              <a:lnSpc>
                <a:spcPts val="2400"/>
              </a:lnSpc>
              <a:spcAft>
                <a:spcPts val="600"/>
              </a:spcAft>
              <a:defRPr sz="2000" b="1">
                <a:solidFill>
                  <a:srgbClr val="FFFFFF"/>
                </a:solidFill>
              </a:defRPr>
            </a:pPr>
            <a:r>
              <a:t>Ляхов Александр Алексеевич</a:t>
            </a:r>
          </a:p>
          <a:p>
            <a:pPr algn="ctr">
              <a:lnSpc>
                <a:spcPts val="1680"/>
              </a:lnSpc>
              <a:spcAft>
                <a:spcPts val="420"/>
              </a:spcAft>
              <a:defRPr sz="1400" b="0">
                <a:solidFill>
                  <a:srgbClr val="828282"/>
                </a:solidFill>
              </a:defRPr>
            </a:pPr>
            <a:r>
              <a:t>Московский Политехнический Университет • 2026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6537960"/>
            <a:ext cx="2743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lnSpc>
                <a:spcPts val="1080"/>
              </a:lnSpc>
              <a:spcAft>
                <a:spcPts val="270"/>
              </a:spcAft>
              <a:defRPr sz="900" b="0">
                <a:solidFill>
                  <a:srgbClr val="828282"/>
                </a:solidFill>
              </a:defRPr>
            </a:pPr>
            <a:r>
              <a:t>Система управления 6-осевым роботом-манипулятором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820095" y="6537960"/>
            <a:ext cx="914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lnSpc>
                <a:spcPts val="1080"/>
              </a:lnSpc>
              <a:spcAft>
                <a:spcPts val="270"/>
              </a:spcAft>
              <a:defRPr sz="900" b="0">
                <a:solidFill>
                  <a:srgbClr val="828282"/>
                </a:solidFill>
              </a:defRPr>
            </a:pPr>
            <a:r>
              <a:t>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37160"/>
            <a:ext cx="100584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lnSpc>
                <a:spcPts val="3840"/>
              </a:lnSpc>
              <a:spcAft>
                <a:spcPts val="960"/>
              </a:spcAft>
              <a:defRPr sz="3200" b="1">
                <a:solidFill>
                  <a:srgbClr val="FFFFFF"/>
                </a:solidFill>
              </a:defRPr>
            </a:pPr>
            <a:r>
              <a:t>Проблематика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058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lnSpc>
                <a:spcPts val="1680"/>
              </a:lnSpc>
              <a:spcAft>
                <a:spcPts val="420"/>
              </a:spcAft>
              <a:defRPr sz="1400" b="0">
                <a:solidFill>
                  <a:srgbClr val="D2D2D2"/>
                </a:solidFill>
              </a:defRPr>
            </a:pPr>
            <a:r>
              <a:t>Почему это актуально?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6537960"/>
            <a:ext cx="2743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lnSpc>
                <a:spcPts val="1080"/>
              </a:lnSpc>
              <a:spcAft>
                <a:spcPts val="270"/>
              </a:spcAft>
              <a:defRPr sz="900" b="0">
                <a:solidFill>
                  <a:srgbClr val="828282"/>
                </a:solidFill>
              </a:defRPr>
            </a:pPr>
            <a:r>
              <a:t>Система управления 6-осевым роботом-манипулятором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820095" y="6537960"/>
            <a:ext cx="914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lnSpc>
                <a:spcPts val="1080"/>
              </a:lnSpc>
              <a:spcAft>
                <a:spcPts val="270"/>
              </a:spcAft>
              <a:defRPr sz="900" b="0">
                <a:solidFill>
                  <a:srgbClr val="828282"/>
                </a:solidFill>
              </a:defRPr>
            </a:pPr>
            <a:r>
              <a:t>2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1645920"/>
            <a:ext cx="3474720" cy="4572000"/>
          </a:xfrm>
          <a:prstGeom prst="rect">
            <a:avLst/>
          </a:prstGeom>
          <a:solidFill>
            <a:srgbClr val="F0F0F0"/>
          </a:solidFill>
          <a:ln w="127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60" y="1828800"/>
            <a:ext cx="3200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lnSpc>
                <a:spcPts val="4320"/>
              </a:lnSpc>
              <a:spcAft>
                <a:spcPts val="1080"/>
              </a:spcAft>
              <a:defRPr sz="3600" b="1">
                <a:solidFill>
                  <a:srgbClr val="000000"/>
                </a:solidFill>
              </a:defRPr>
            </a:pPr>
            <a:r>
              <a:t>01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2286000"/>
            <a:ext cx="3200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lnSpc>
                <a:spcPts val="2160"/>
              </a:lnSpc>
              <a:spcAft>
                <a:spcPts val="540"/>
              </a:spcAft>
              <a:defRPr sz="1800" b="1">
                <a:solidFill>
                  <a:srgbClr val="000000"/>
                </a:solidFill>
              </a:defRPr>
            </a:pPr>
            <a:r>
              <a:t>Когнитивная перегрузка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2926080"/>
            <a:ext cx="32004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lnSpc>
                <a:spcPts val="1560"/>
              </a:lnSpc>
              <a:spcAft>
                <a:spcPts val="390"/>
              </a:spcAft>
              <a:defRPr sz="1300" b="0">
                <a:solidFill>
                  <a:srgbClr val="505050"/>
                </a:solidFill>
              </a:defRPr>
            </a:pPr>
            <a:r>
              <a:t>Промышленные фреймворки (ROS2) сложны для обучения. Студенты тратят время на инфраструктуру, а не на кинематику.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31520" y="4846320"/>
            <a:ext cx="3108960" cy="127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2960" y="5029200"/>
            <a:ext cx="32004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lnSpc>
                <a:spcPts val="1439"/>
              </a:lnSpc>
              <a:spcAft>
                <a:spcPts val="359"/>
              </a:spcAft>
              <a:defRPr sz="1200" b="1">
                <a:solidFill>
                  <a:srgbClr val="000000"/>
                </a:solidFill>
              </a:defRPr>
            </a:pPr>
            <a:r>
              <a:t>Решение: блочное программирование как «педагогические леса»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389120" y="1645920"/>
            <a:ext cx="3474720" cy="4572000"/>
          </a:xfrm>
          <a:prstGeom prst="rect">
            <a:avLst/>
          </a:prstGeom>
          <a:solidFill>
            <a:srgbClr val="F0F0F0"/>
          </a:solidFill>
          <a:ln w="127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663440" y="1828800"/>
            <a:ext cx="3200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lnSpc>
                <a:spcPts val="4320"/>
              </a:lnSpc>
              <a:spcAft>
                <a:spcPts val="1080"/>
              </a:spcAft>
              <a:defRPr sz="3600" b="1">
                <a:solidFill>
                  <a:srgbClr val="000000"/>
                </a:solidFill>
              </a:defRPr>
            </a:pPr>
            <a:r>
              <a:t>02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663440" y="2286000"/>
            <a:ext cx="3200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lnSpc>
                <a:spcPts val="2160"/>
              </a:lnSpc>
              <a:spcAft>
                <a:spcPts val="540"/>
              </a:spcAft>
              <a:defRPr sz="1800" b="1">
                <a:solidFill>
                  <a:srgbClr val="000000"/>
                </a:solidFill>
              </a:defRPr>
            </a:pPr>
            <a:r>
              <a:t>Задержки управления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663440" y="2926080"/>
            <a:ext cx="32004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lnSpc>
                <a:spcPts val="1560"/>
              </a:lnSpc>
              <a:spcAft>
                <a:spcPts val="390"/>
              </a:spcAft>
              <a:defRPr sz="1300" b="0">
                <a:solidFill>
                  <a:srgbClr val="505050"/>
                </a:solidFill>
              </a:defRPr>
            </a:pPr>
            <a:r>
              <a:t>DDS в ROS2 вносит 50-200 мс недетерминированных задержек. Критический путь «зрение → мотор» требует 3-15 мс.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572000" y="4846320"/>
            <a:ext cx="3108960" cy="127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663440" y="5029200"/>
            <a:ext cx="32004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lnSpc>
                <a:spcPts val="1439"/>
              </a:lnSpc>
              <a:spcAft>
                <a:spcPts val="359"/>
              </a:spcAft>
              <a:defRPr sz="1200" b="1">
                <a:solidFill>
                  <a:srgbClr val="000000"/>
                </a:solidFill>
              </a:defRPr>
            </a:pPr>
            <a:r>
              <a:t>Решение: прямой UART/RS-485 контроллер</a:t>
            </a:r>
          </a:p>
        </p:txBody>
      </p:sp>
      <p:sp>
        <p:nvSpPr>
          <p:cNvPr id="20" name="Rectangle 19"/>
          <p:cNvSpPr/>
          <p:nvPr/>
        </p:nvSpPr>
        <p:spPr>
          <a:xfrm>
            <a:off x="8229600" y="1645920"/>
            <a:ext cx="3474720" cy="4572000"/>
          </a:xfrm>
          <a:prstGeom prst="rect">
            <a:avLst/>
          </a:prstGeom>
          <a:solidFill>
            <a:srgbClr val="F0F0F0"/>
          </a:solidFill>
          <a:ln w="127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503920" y="1828800"/>
            <a:ext cx="3200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lnSpc>
                <a:spcPts val="4320"/>
              </a:lnSpc>
              <a:spcAft>
                <a:spcPts val="1080"/>
              </a:spcAft>
              <a:defRPr sz="3600" b="1">
                <a:solidFill>
                  <a:srgbClr val="000000"/>
                </a:solidFill>
              </a:defRPr>
            </a:pPr>
            <a:r>
              <a:t>03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503920" y="2286000"/>
            <a:ext cx="3200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lnSpc>
                <a:spcPts val="2160"/>
              </a:lnSpc>
              <a:spcAft>
                <a:spcPts val="540"/>
              </a:spcAft>
              <a:defRPr sz="1800" b="1">
                <a:solidFill>
                  <a:srgbClr val="000000"/>
                </a:solidFill>
              </a:defRPr>
            </a:pPr>
            <a:r>
              <a:t>Sim-to-Real разрыв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503920" y="2926080"/>
            <a:ext cx="32004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lnSpc>
                <a:spcPts val="1560"/>
              </a:lnSpc>
              <a:spcAft>
                <a:spcPts val="390"/>
              </a:spcAft>
              <a:defRPr sz="1300" b="0">
                <a:solidFill>
                  <a:srgbClr val="505050"/>
                </a:solidFill>
              </a:defRPr>
            </a:pPr>
            <a:r>
              <a:t>Тестирование на реальном оборудовании опасно. Нет безопасной среды для отладки и RL-обучения.</a:t>
            </a:r>
          </a:p>
        </p:txBody>
      </p:sp>
      <p:sp>
        <p:nvSpPr>
          <p:cNvPr id="24" name="Rectangle 23"/>
          <p:cNvSpPr/>
          <p:nvPr/>
        </p:nvSpPr>
        <p:spPr>
          <a:xfrm>
            <a:off x="8412480" y="4846320"/>
            <a:ext cx="3108960" cy="127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503920" y="5029200"/>
            <a:ext cx="32004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lnSpc>
                <a:spcPts val="1439"/>
              </a:lnSpc>
              <a:spcAft>
                <a:spcPts val="359"/>
              </a:spcAft>
              <a:defRPr sz="1200" b="1">
                <a:solidFill>
                  <a:srgbClr val="000000"/>
                </a:solidFill>
              </a:defRPr>
            </a:pPr>
            <a:r>
              <a:t>Решение: цифровой двойник MuJoCo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37160"/>
            <a:ext cx="100584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lnSpc>
                <a:spcPts val="3840"/>
              </a:lnSpc>
              <a:spcAft>
                <a:spcPts val="960"/>
              </a:spcAft>
              <a:defRPr sz="3200" b="1">
                <a:solidFill>
                  <a:srgbClr val="FFFFFF"/>
                </a:solidFill>
              </a:defRPr>
            </a:pPr>
            <a:r>
              <a:t>Общая архитектура системы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058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lnSpc>
                <a:spcPts val="1680"/>
              </a:lnSpc>
              <a:spcAft>
                <a:spcPts val="420"/>
              </a:spcAft>
              <a:defRPr sz="1400" b="0">
                <a:solidFill>
                  <a:srgbClr val="D2D2D2"/>
                </a:solidFill>
              </a:defRPr>
            </a:pPr>
            <a:r>
              <a:t>Multi-layered — Desktop + Web + ROS2 + AI/ML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6537960"/>
            <a:ext cx="2743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lnSpc>
                <a:spcPts val="1080"/>
              </a:lnSpc>
              <a:spcAft>
                <a:spcPts val="270"/>
              </a:spcAft>
              <a:defRPr sz="900" b="0">
                <a:solidFill>
                  <a:srgbClr val="828282"/>
                </a:solidFill>
              </a:defRPr>
            </a:pPr>
            <a:r>
              <a:t>Система управления 6-осевым роботом-манипулятором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820095" y="6537960"/>
            <a:ext cx="914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lnSpc>
                <a:spcPts val="1080"/>
              </a:lnSpc>
              <a:spcAft>
                <a:spcPts val="270"/>
              </a:spcAft>
              <a:defRPr sz="900" b="0">
                <a:solidFill>
                  <a:srgbClr val="828282"/>
                </a:solidFill>
              </a:defRPr>
            </a:pPr>
            <a:r>
              <a:t>3</a:t>
            </a:r>
          </a:p>
        </p:txBody>
      </p:sp>
      <p:pic>
        <p:nvPicPr>
          <p:cNvPr id="8" name="Picture 7" descr="architecture_bw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371600"/>
            <a:ext cx="11247120" cy="10272771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914400" y="6035040"/>
            <a:ext cx="10058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lnSpc>
                <a:spcPts val="1320"/>
              </a:lnSpc>
              <a:spcAft>
                <a:spcPts val="330"/>
              </a:spcAft>
              <a:defRPr sz="1100" b="0">
                <a:solidFill>
                  <a:srgbClr val="505050"/>
                </a:solidFill>
              </a:defRPr>
            </a:pPr>
            <a:r>
              <a:t>Рис. 1 — Многослойная архитектура: пользовательские интерфейсы, сервисы, ядро, коммуникации, аппаратура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37160"/>
            <a:ext cx="100584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lnSpc>
                <a:spcPts val="3840"/>
              </a:lnSpc>
              <a:spcAft>
                <a:spcPts val="960"/>
              </a:spcAft>
              <a:defRPr sz="3200" b="1">
                <a:solidFill>
                  <a:srgbClr val="FFFFFF"/>
                </a:solidFill>
              </a:defRPr>
            </a:pPr>
            <a:r>
              <a:t>Desktop-приложение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058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lnSpc>
                <a:spcPts val="1680"/>
              </a:lnSpc>
              <a:spcAft>
                <a:spcPts val="420"/>
              </a:spcAft>
              <a:defRPr sz="1400" b="0">
                <a:solidFill>
                  <a:srgbClr val="D2D2D2"/>
                </a:solidFill>
              </a:defRPr>
            </a:pPr>
            <a:r>
              <a:t>CustomTkinter — 13 вкладок, 3D-визуализация, блочное программирование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371600"/>
            <a:ext cx="5029200" cy="5029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lnSpc>
                <a:spcPts val="2400"/>
              </a:lnSpc>
              <a:spcAft>
                <a:spcPts val="600"/>
              </a:spcAft>
              <a:defRPr sz="2000" b="1">
                <a:solidFill>
                  <a:srgbClr val="000000"/>
                </a:solidFill>
              </a:defRPr>
            </a:pPr>
            <a:r>
              <a:t>Основные возможности:</a:t>
            </a:r>
          </a:p>
          <a:p>
            <a:pPr>
              <a:lnSpc>
                <a:spcPts val="1820"/>
              </a:lnSpc>
              <a:spcAft>
                <a:spcPts val="400"/>
              </a:spcAft>
              <a:defRPr sz="1400" b="0">
                <a:solidFill>
                  <a:srgbClr val="1E1E1E"/>
                </a:solidFill>
              </a:defRPr>
            </a:pPr>
            <a:r>
              <a:t>• Подключение USB-Serial, сканирование сервомоторов</a:t>
            </a:r>
          </a:p>
          <a:p>
            <a:pPr>
              <a:lnSpc>
                <a:spcPts val="1820"/>
              </a:lnSpc>
              <a:spcAft>
                <a:spcPts val="400"/>
              </a:spcAft>
              <a:defRPr sz="1400" b="0">
                <a:solidFill>
                  <a:srgbClr val="1E1E1E"/>
                </a:solidFill>
              </a:defRPr>
            </a:pPr>
            <a:r>
              <a:t>• Построение карты моторов (ID → сустав)</a:t>
            </a:r>
          </a:p>
          <a:p>
            <a:pPr>
              <a:lnSpc>
                <a:spcPts val="1820"/>
              </a:lnSpc>
              <a:spcAft>
                <a:spcPts val="400"/>
              </a:spcAft>
              <a:defRPr sz="1400" b="0">
                <a:solidFill>
                  <a:srgbClr val="1E1E1E"/>
                </a:solidFill>
              </a:defRPr>
            </a:pPr>
            <a:r>
              <a:t>• Jog-режим: ручное управление с контролем скорости</a:t>
            </a:r>
          </a:p>
          <a:p>
            <a:pPr>
              <a:lnSpc>
                <a:spcPts val="1820"/>
              </a:lnSpc>
              <a:spcAft>
                <a:spcPts val="400"/>
              </a:spcAft>
              <a:defRPr sz="1400" b="0">
                <a:solidFill>
                  <a:srgbClr val="1E1E1E"/>
                </a:solidFill>
              </a:defRPr>
            </a:pPr>
            <a:r>
              <a:t>• 3D-визуализация (DH → forward kinematics, Matplotlib)</a:t>
            </a:r>
          </a:p>
          <a:p>
            <a:pPr>
              <a:lnSpc>
                <a:spcPts val="1820"/>
              </a:lnSpc>
              <a:spcAft>
                <a:spcPts val="400"/>
              </a:spcAft>
              <a:defRPr sz="1400" b="0">
                <a:solidFill>
                  <a:srgbClr val="1E1E1E"/>
                </a:solidFill>
              </a:defRPr>
            </a:pPr>
            <a:r>
              <a:t>• Слайдеры углов суставов с обратной связью</a:t>
            </a:r>
          </a:p>
          <a:p>
            <a:pPr>
              <a:lnSpc>
                <a:spcPts val="1820"/>
              </a:lnSpc>
              <a:spcAft>
                <a:spcPts val="400"/>
              </a:spcAft>
              <a:defRPr sz="1400" b="0">
                <a:solidFill>
                  <a:srgbClr val="1E1E1E"/>
                </a:solidFill>
              </a:defRPr>
            </a:pPr>
            <a:r>
              <a:t>• Обратная кинематика (IK) — DLS метод</a:t>
            </a:r>
          </a:p>
          <a:p>
            <a:pPr>
              <a:lnSpc>
                <a:spcPts val="1820"/>
              </a:lnSpc>
              <a:spcAft>
                <a:spcPts val="400"/>
              </a:spcAft>
              <a:defRPr sz="1400" b="0">
                <a:solidFill>
                  <a:srgbClr val="1E1E1E"/>
                </a:solidFill>
              </a:defRPr>
            </a:pPr>
            <a:r>
              <a:t>• Блочное программирование последовательностей</a:t>
            </a:r>
          </a:p>
          <a:p>
            <a:pPr>
              <a:lnSpc>
                <a:spcPts val="1820"/>
              </a:lnSpc>
              <a:spcAft>
                <a:spcPts val="400"/>
              </a:spcAft>
              <a:defRPr sz="1400" b="0">
                <a:solidFill>
                  <a:srgbClr val="1E1E1E"/>
                </a:solidFill>
              </a:defRPr>
            </a:pPr>
            <a:r>
              <a:t>• Teach Pendant — запись и воспроизведение</a:t>
            </a:r>
          </a:p>
          <a:p>
            <a:pPr>
              <a:lnSpc>
                <a:spcPts val="1820"/>
              </a:lnSpc>
              <a:spcAft>
                <a:spcPts val="400"/>
              </a:spcAft>
              <a:defRPr sz="1400" b="0">
                <a:solidFill>
                  <a:srgbClr val="1E1E1E"/>
                </a:solidFill>
              </a:defRPr>
            </a:pPr>
            <a:r>
              <a:t>• Позиционные регистры (PR1-100)</a:t>
            </a:r>
          </a:p>
          <a:p>
            <a:pPr>
              <a:lnSpc>
                <a:spcPts val="1820"/>
              </a:lnSpc>
              <a:spcAft>
                <a:spcPts val="400"/>
              </a:spcAft>
              <a:defRPr sz="1400" b="0">
                <a:solidFill>
                  <a:srgbClr val="1E1E1E"/>
                </a:solidFill>
              </a:defRPr>
            </a:pPr>
            <a:r>
              <a:t>• AI-управление через VLM (Qwen3 / GPT-4o)</a:t>
            </a:r>
          </a:p>
          <a:p>
            <a:pPr>
              <a:lnSpc>
                <a:spcPts val="1820"/>
              </a:lnSpc>
              <a:spcAft>
                <a:spcPts val="400"/>
              </a:spcAft>
              <a:defRPr sz="1400" b="0">
                <a:solidFill>
                  <a:srgbClr val="1E1E1E"/>
                </a:solidFill>
              </a:defRPr>
            </a:pPr>
            <a:r>
              <a:t>• Vision Tracker — PID + VLM трекинг объектов</a:t>
            </a:r>
          </a:p>
          <a:p>
            <a:pPr>
              <a:lnSpc>
                <a:spcPts val="1820"/>
              </a:lnSpc>
              <a:spcAft>
                <a:spcPts val="400"/>
              </a:spcAft>
              <a:defRPr sz="1400" b="0">
                <a:solidFill>
                  <a:srgbClr val="1E1E1E"/>
                </a:solidFill>
              </a:defRPr>
            </a:pPr>
            <a:r>
              <a:t>• Emergency Stop, температурные лимиты</a:t>
            </a:r>
          </a:p>
        </p:txBody>
      </p:sp>
      <p:sp>
        <p:nvSpPr>
          <p:cNvPr id="6" name="Rectangle 5"/>
          <p:cNvSpPr/>
          <p:nvPr/>
        </p:nvSpPr>
        <p:spPr>
          <a:xfrm>
            <a:off x="6217920" y="1371600"/>
            <a:ext cx="5303520" cy="4846320"/>
          </a:xfrm>
          <a:prstGeom prst="rect">
            <a:avLst/>
          </a:prstGeom>
          <a:solidFill>
            <a:srgbClr val="F0F0F0"/>
          </a:solidFill>
          <a:ln w="127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0" y="3200400"/>
            <a:ext cx="50292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lnSpc>
                <a:spcPts val="2160"/>
              </a:lnSpc>
              <a:spcAft>
                <a:spcPts val="540"/>
              </a:spcAft>
              <a:defRPr sz="1800" b="0">
                <a:solidFill>
                  <a:srgbClr val="828282"/>
                </a:solidFill>
              </a:defRPr>
            </a:pPr>
            <a:r>
              <a:t>[Скриншот Desktop]</a:t>
            </a:r>
          </a:p>
          <a:p>
            <a:pPr algn="ctr">
              <a:lnSpc>
                <a:spcPts val="1560"/>
              </a:lnSpc>
              <a:spcAft>
                <a:spcPts val="390"/>
              </a:spcAft>
              <a:defRPr sz="1300" b="0">
                <a:solidFill>
                  <a:srgbClr val="828282"/>
                </a:solidFill>
              </a:defRPr>
            </a:pPr>
            <a:r>
              <a:t>Главное окно приложения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1520" y="6537960"/>
            <a:ext cx="2743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lnSpc>
                <a:spcPts val="1080"/>
              </a:lnSpc>
              <a:spcAft>
                <a:spcPts val="270"/>
              </a:spcAft>
              <a:defRPr sz="900" b="0">
                <a:solidFill>
                  <a:srgbClr val="828282"/>
                </a:solidFill>
              </a:defRPr>
            </a:pPr>
            <a:r>
              <a:t>Система управления 6-осевым роботом-манипулятором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820095" y="6537960"/>
            <a:ext cx="914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lnSpc>
                <a:spcPts val="1080"/>
              </a:lnSpc>
              <a:spcAft>
                <a:spcPts val="270"/>
              </a:spcAft>
              <a:defRPr sz="900" b="0">
                <a:solidFill>
                  <a:srgbClr val="828282"/>
                </a:solidFill>
              </a:defRPr>
            </a:pPr>
            <a: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37160"/>
            <a:ext cx="100584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lnSpc>
                <a:spcPts val="3840"/>
              </a:lnSpc>
              <a:spcAft>
                <a:spcPts val="960"/>
              </a:spcAft>
              <a:defRPr sz="3200" b="1">
                <a:solidFill>
                  <a:srgbClr val="FFFFFF"/>
                </a:solidFill>
              </a:defRPr>
            </a:pPr>
            <a:r>
              <a:t>3D-визуализация кинематики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058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lnSpc>
                <a:spcPts val="1680"/>
              </a:lnSpc>
              <a:spcAft>
                <a:spcPts val="420"/>
              </a:spcAft>
              <a:defRPr sz="1400" b="0">
                <a:solidFill>
                  <a:srgbClr val="D2D2D2"/>
                </a:solidFill>
              </a:defRPr>
            </a:pPr>
            <a:r>
              <a:t>Matplotlib + DH-параметры — визуализация в реальном времени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6537960"/>
            <a:ext cx="2743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lnSpc>
                <a:spcPts val="1080"/>
              </a:lnSpc>
              <a:spcAft>
                <a:spcPts val="270"/>
              </a:spcAft>
              <a:defRPr sz="900" b="0">
                <a:solidFill>
                  <a:srgbClr val="828282"/>
                </a:solidFill>
              </a:defRPr>
            </a:pPr>
            <a:r>
              <a:t>Система управления 6-осевым роботом-манипулятором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820095" y="6537960"/>
            <a:ext cx="914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lnSpc>
                <a:spcPts val="1080"/>
              </a:lnSpc>
              <a:spcAft>
                <a:spcPts val="270"/>
              </a:spcAft>
              <a:defRPr sz="900" b="0">
                <a:solidFill>
                  <a:srgbClr val="828282"/>
                </a:solidFill>
              </a:defRPr>
            </a:pPr>
            <a:r>
              <a:t>5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1371600"/>
            <a:ext cx="6858000" cy="5029200"/>
          </a:xfrm>
          <a:prstGeom prst="rect">
            <a:avLst/>
          </a:prstGeom>
          <a:solidFill>
            <a:srgbClr val="F0F0F0"/>
          </a:solidFill>
          <a:ln w="127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828800" y="3200400"/>
            <a:ext cx="45720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lnSpc>
                <a:spcPts val="2160"/>
              </a:lnSpc>
              <a:spcAft>
                <a:spcPts val="540"/>
              </a:spcAft>
              <a:defRPr sz="1800" b="0">
                <a:solidFill>
                  <a:srgbClr val="828282"/>
                </a:solidFill>
              </a:defRPr>
            </a:pPr>
            <a:r>
              <a:t>[Скриншот 3D View]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0" y="1371600"/>
            <a:ext cx="3931920" cy="5029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lnSpc>
                <a:spcPts val="2160"/>
              </a:lnSpc>
              <a:spcAft>
                <a:spcPts val="540"/>
              </a:spcAft>
              <a:defRPr sz="1800" b="1">
                <a:solidFill>
                  <a:srgbClr val="000000"/>
                </a:solidFill>
              </a:defRPr>
            </a:pPr>
            <a:r>
              <a:t>Характеристики:</a:t>
            </a:r>
          </a:p>
          <a:p>
            <a:pPr>
              <a:lnSpc>
                <a:spcPts val="1560"/>
              </a:lnSpc>
              <a:spcAft>
                <a:spcPts val="400"/>
              </a:spcAft>
              <a:defRPr sz="1200" b="0">
                <a:solidFill>
                  <a:srgbClr val="1E1E1E"/>
                </a:solidFill>
              </a:defRPr>
            </a:pPr>
            <a:r>
              <a:t>• DH-параметры: 6 степеней свободы</a:t>
            </a:r>
          </a:p>
          <a:p>
            <a:pPr>
              <a:lnSpc>
                <a:spcPts val="1560"/>
              </a:lnSpc>
              <a:spcAft>
                <a:spcPts val="400"/>
              </a:spcAft>
              <a:defRPr sz="1200" b="0">
                <a:solidFill>
                  <a:srgbClr val="1E1E1E"/>
                </a:solidFill>
              </a:defRPr>
            </a:pPr>
            <a:r>
              <a:t>• Прямая кинематика: матрицы 4×4</a:t>
            </a:r>
          </a:p>
          <a:p>
            <a:pPr>
              <a:lnSpc>
                <a:spcPts val="1560"/>
              </a:lnSpc>
              <a:spcAft>
                <a:spcPts val="400"/>
              </a:spcAft>
              <a:defRPr sz="1200" b="0">
                <a:solidFill>
                  <a:srgbClr val="1E1E1E"/>
                </a:solidFill>
              </a:defRPr>
            </a:pPr>
            <a:r>
              <a:t>• Обратная кинематика: DLS (Levenberg-Marquardt)</a:t>
            </a:r>
          </a:p>
          <a:p>
            <a:pPr>
              <a:lnSpc>
                <a:spcPts val="1560"/>
              </a:lnSpc>
              <a:spcAft>
                <a:spcPts val="400"/>
              </a:spcAft>
              <a:defRPr sz="1200" b="0">
                <a:solidFill>
                  <a:srgbClr val="1E1E1E"/>
                </a:solidFill>
              </a:defRPr>
            </a:pPr>
            <a:r>
              <a:t>• Слайдеры суставов с автопересчётом</a:t>
            </a:r>
          </a:p>
          <a:p>
            <a:pPr>
              <a:lnSpc>
                <a:spcPts val="1560"/>
              </a:lnSpc>
              <a:spcAft>
                <a:spcPts val="400"/>
              </a:spcAft>
              <a:defRPr sz="1200" b="0">
                <a:solidFill>
                  <a:srgbClr val="1E1E1E"/>
                </a:solidFill>
              </a:defRPr>
            </a:pPr>
            <a:r>
              <a:t>• Выбор точки на 3D-сцене (клик)</a:t>
            </a:r>
          </a:p>
          <a:p>
            <a:pPr>
              <a:lnSpc>
                <a:spcPts val="1560"/>
              </a:lnSpc>
              <a:spcAft>
                <a:spcPts val="400"/>
              </a:spcAft>
              <a:defRPr sz="1200" b="0">
                <a:solidFill>
                  <a:srgbClr val="1E1E1E"/>
                </a:solidFill>
              </a:defRPr>
            </a:pPr>
            <a:r>
              <a:t>• Waypoints + маршруты</a:t>
            </a:r>
          </a:p>
          <a:p>
            <a:pPr>
              <a:lnSpc>
                <a:spcPts val="1560"/>
              </a:lnSpc>
              <a:spcAft>
                <a:spcPts val="400"/>
              </a:spcAft>
              <a:defRPr sz="1200" b="0">
                <a:solidFill>
                  <a:srgbClr val="1E1E1E"/>
                </a:solidFill>
              </a:defRPr>
            </a:pPr>
            <a:r>
              <a:t>• Пресеты проверенных точек</a:t>
            </a:r>
          </a:p>
          <a:p>
            <a:pPr>
              <a:lnSpc>
                <a:spcPts val="1560"/>
              </a:lnSpc>
              <a:spcAft>
                <a:spcPts val="400"/>
              </a:spcAft>
              <a:defRPr sz="1200" b="0">
                <a:solidFill>
                  <a:srgbClr val="1E1E1E"/>
                </a:solidFill>
              </a:defRPr>
            </a:pPr>
            <a:r>
              <a:t>• Плавная анимация переходов</a:t>
            </a:r>
          </a:p>
          <a:p>
            <a:pPr>
              <a:lnSpc>
                <a:spcPts val="1560"/>
              </a:lnSpc>
              <a:spcAft>
                <a:spcPts val="400"/>
              </a:spcAft>
              <a:defRPr sz="1200" b="0">
                <a:solidFill>
                  <a:srgbClr val="1E1E1E"/>
                </a:solidFill>
              </a:defRPr>
            </a:pPr>
            <a:r>
              <a:t>• Рабочая зона (сфера досягаемости)</a:t>
            </a:r>
          </a:p>
          <a:p>
            <a:pPr>
              <a:lnSpc>
                <a:spcPts val="1560"/>
              </a:lnSpc>
              <a:spcAft>
                <a:spcPts val="400"/>
              </a:spcAft>
              <a:defRPr sz="1200" b="0">
                <a:solidFill>
                  <a:srgbClr val="1E1E1E"/>
                </a:solidFill>
              </a:defRPr>
            </a:pPr>
            <a:r>
              <a:t>• Режим Live-синхронизации с моторами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37160"/>
            <a:ext cx="100584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lnSpc>
                <a:spcPts val="3840"/>
              </a:lnSpc>
              <a:spcAft>
                <a:spcPts val="960"/>
              </a:spcAft>
              <a:defRPr sz="3200" b="1">
                <a:solidFill>
                  <a:srgbClr val="FFFFFF"/>
                </a:solidFill>
              </a:defRPr>
            </a:pPr>
            <a:r>
              <a:t>Web-интерфейс и ROS2-интеграция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371600"/>
            <a:ext cx="5486400" cy="5029200"/>
          </a:xfrm>
          <a:prstGeom prst="rect">
            <a:avLst/>
          </a:prstGeom>
          <a:solidFill>
            <a:srgbClr val="F0F0F0"/>
          </a:solidFill>
          <a:ln w="127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554480"/>
            <a:ext cx="5029200" cy="457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lnSpc>
                <a:spcPts val="2160"/>
              </a:lnSpc>
              <a:spcAft>
                <a:spcPts val="540"/>
              </a:spcAft>
              <a:defRPr sz="1800" b="1">
                <a:solidFill>
                  <a:srgbClr val="000000"/>
                </a:solidFill>
              </a:defRPr>
            </a:pPr>
            <a:r>
              <a:t>Web — React 19 + FastAPI</a:t>
            </a:r>
          </a:p>
          <a:p>
            <a:pPr>
              <a:lnSpc>
                <a:spcPts val="1690"/>
              </a:lnSpc>
              <a:spcAft>
                <a:spcPts val="400"/>
              </a:spcAft>
              <a:defRPr sz="1300" b="0">
                <a:solidFill>
                  <a:srgbClr val="1E1E1E"/>
                </a:solidFill>
              </a:defRPr>
            </a:pPr>
            <a:r>
              <a:t>• Фронтенд: React + TypeScript + Three.js</a:t>
            </a:r>
          </a:p>
          <a:p>
            <a:pPr>
              <a:lnSpc>
                <a:spcPts val="1690"/>
              </a:lnSpc>
              <a:spcAft>
                <a:spcPts val="400"/>
              </a:spcAft>
              <a:defRPr sz="1300" b="0">
                <a:solidFill>
                  <a:srgbClr val="1E1E1E"/>
                </a:solidFill>
              </a:defRPr>
            </a:pPr>
            <a:r>
              <a:t>• 3D-визуализация робота в браузере</a:t>
            </a:r>
          </a:p>
          <a:p>
            <a:pPr>
              <a:lnSpc>
                <a:spcPts val="1690"/>
              </a:lnSpc>
              <a:spcAft>
                <a:spcPts val="400"/>
              </a:spcAft>
              <a:defRPr sz="1300" b="0">
                <a:solidFill>
                  <a:srgbClr val="1E1E1E"/>
                </a:solidFill>
              </a:defRPr>
            </a:pPr>
            <a:r>
              <a:t>• Blockly — блочное программирование</a:t>
            </a:r>
          </a:p>
          <a:p>
            <a:pPr>
              <a:lnSpc>
                <a:spcPts val="1690"/>
              </a:lnSpc>
              <a:spcAft>
                <a:spcPts val="400"/>
              </a:spcAft>
              <a:defRPr sz="1300" b="0">
                <a:solidFill>
                  <a:srgbClr val="1E1E1E"/>
                </a:solidFill>
              </a:defRPr>
            </a:pPr>
            <a:r>
              <a:t>• Бэкенд: FastAPI (REST + WebSocket)</a:t>
            </a:r>
          </a:p>
          <a:p>
            <a:pPr>
              <a:lnSpc>
                <a:spcPts val="1690"/>
              </a:lnSpc>
              <a:spcAft>
                <a:spcPts val="400"/>
              </a:spcAft>
              <a:defRPr sz="1300" b="0">
                <a:solidFill>
                  <a:srgbClr val="1E1E1E"/>
                </a:solidFill>
              </a:defRPr>
            </a:pPr>
            <a:r>
              <a:t>• JWT-аутентификация</a:t>
            </a:r>
          </a:p>
          <a:p>
            <a:pPr>
              <a:lnSpc>
                <a:spcPts val="1690"/>
              </a:lnSpc>
              <a:spcAft>
                <a:spcPts val="400"/>
              </a:spcAft>
              <a:defRPr sz="1300" b="0">
                <a:solidFill>
                  <a:srgbClr val="1E1E1E"/>
                </a:solidFill>
              </a:defRPr>
            </a:pPr>
            <a:r>
              <a:t>• Деплой: Docker Compose</a:t>
            </a:r>
          </a:p>
          <a:p>
            <a:pPr>
              <a:lnSpc>
                <a:spcPts val="1690"/>
              </a:lnSpc>
              <a:spcAft>
                <a:spcPts val="400"/>
              </a:spcAft>
              <a:defRPr sz="1300" b="0">
                <a:solidFill>
                  <a:srgbClr val="1E1E1E"/>
                </a:solidFill>
              </a:defRPr>
            </a:pPr>
            <a:r>
              <a:t>• Режим Mock для разработки</a:t>
            </a:r>
          </a:p>
        </p:txBody>
      </p:sp>
      <p:sp>
        <p:nvSpPr>
          <p:cNvPr id="6" name="Rectangle 5"/>
          <p:cNvSpPr/>
          <p:nvPr/>
        </p:nvSpPr>
        <p:spPr>
          <a:xfrm>
            <a:off x="6217920" y="1371600"/>
            <a:ext cx="5486400" cy="5029200"/>
          </a:xfrm>
          <a:prstGeom prst="rect">
            <a:avLst/>
          </a:prstGeom>
          <a:solidFill>
            <a:srgbClr val="F0F0F0"/>
          </a:solidFill>
          <a:ln w="127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92240" y="1554480"/>
            <a:ext cx="5029200" cy="457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lnSpc>
                <a:spcPts val="2160"/>
              </a:lnSpc>
              <a:spcAft>
                <a:spcPts val="540"/>
              </a:spcAft>
              <a:defRPr sz="1800" b="1">
                <a:solidFill>
                  <a:srgbClr val="000000"/>
                </a:solidFill>
              </a:defRPr>
            </a:pPr>
            <a:r>
              <a:t>ROS2 Humble</a:t>
            </a:r>
          </a:p>
          <a:p>
            <a:pPr>
              <a:lnSpc>
                <a:spcPts val="1690"/>
              </a:lnSpc>
              <a:spcAft>
                <a:spcPts val="400"/>
              </a:spcAft>
              <a:defRPr sz="1300" b="0">
                <a:solidFill>
                  <a:srgbClr val="1E1E1E"/>
                </a:solidFill>
              </a:defRPr>
            </a:pPr>
            <a:r>
              <a:t>• Ноды: robot_node, monitor_node, IK service</a:t>
            </a:r>
          </a:p>
          <a:p>
            <a:pPr>
              <a:lnSpc>
                <a:spcPts val="1690"/>
              </a:lnSpc>
              <a:spcAft>
                <a:spcPts val="400"/>
              </a:spcAft>
              <a:defRPr sz="1300" b="0">
                <a:solidFill>
                  <a:srgbClr val="1E1E1E"/>
                </a:solidFill>
              </a:defRPr>
            </a:pPr>
            <a:r>
              <a:t>• Топики: /robot/joint_states, /joint_cmd</a:t>
            </a:r>
          </a:p>
          <a:p>
            <a:pPr>
              <a:lnSpc>
                <a:spcPts val="1690"/>
              </a:lnSpc>
              <a:spcAft>
                <a:spcPts val="400"/>
              </a:spcAft>
              <a:defRPr sz="1300" b="0">
                <a:solidFill>
                  <a:srgbClr val="1E1E1E"/>
                </a:solidFill>
              </a:defRPr>
            </a:pPr>
            <a:r>
              <a:t>• ros2_control Hardware Interface</a:t>
            </a:r>
          </a:p>
          <a:p>
            <a:pPr>
              <a:lnSpc>
                <a:spcPts val="1690"/>
              </a:lnSpc>
              <a:spcAft>
                <a:spcPts val="400"/>
              </a:spcAft>
              <a:defRPr sz="1300" b="0">
                <a:solidFill>
                  <a:srgbClr val="1E1E1E"/>
                </a:solidFill>
              </a:defRPr>
            </a:pPr>
            <a:r>
              <a:t>• URDF/xacro-модель робота</a:t>
            </a:r>
          </a:p>
          <a:p>
            <a:pPr>
              <a:lnSpc>
                <a:spcPts val="1690"/>
              </a:lnSpc>
              <a:spcAft>
                <a:spcPts val="400"/>
              </a:spcAft>
              <a:defRPr sz="1300" b="0">
                <a:solidFill>
                  <a:srgbClr val="1E1E1E"/>
                </a:solidFill>
              </a:defRPr>
            </a:pPr>
            <a:r>
              <a:t>• Gazebo-симуляция</a:t>
            </a:r>
          </a:p>
          <a:p>
            <a:pPr>
              <a:lnSpc>
                <a:spcPts val="1690"/>
              </a:lnSpc>
              <a:spcAft>
                <a:spcPts val="400"/>
              </a:spcAft>
              <a:defRPr sz="1300" b="0">
                <a:solidFill>
                  <a:srgbClr val="1E1E1E"/>
                </a:solidFill>
              </a:defRPr>
            </a:pPr>
            <a:r>
              <a:t>• Rosbag2 — запись/воспроизведение</a:t>
            </a:r>
          </a:p>
          <a:p>
            <a:pPr>
              <a:lnSpc>
                <a:spcPts val="1690"/>
              </a:lnSpc>
              <a:spcAft>
                <a:spcPts val="400"/>
              </a:spcAft>
              <a:defRPr sz="1300" b="0">
                <a:solidFill>
                  <a:srgbClr val="1E1E1E"/>
                </a:solidFill>
              </a:defRPr>
            </a:pPr>
            <a:r>
              <a:t>• Критический путь: UART (не DDS)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1520" y="6537960"/>
            <a:ext cx="2743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lnSpc>
                <a:spcPts val="1080"/>
              </a:lnSpc>
              <a:spcAft>
                <a:spcPts val="270"/>
              </a:spcAft>
              <a:defRPr sz="900" b="0">
                <a:solidFill>
                  <a:srgbClr val="828282"/>
                </a:solidFill>
              </a:defRPr>
            </a:pPr>
            <a:r>
              <a:t>Система управления 6-осевым роботом-манипулятором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820095" y="6537960"/>
            <a:ext cx="914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lnSpc>
                <a:spcPts val="1080"/>
              </a:lnSpc>
              <a:spcAft>
                <a:spcPts val="270"/>
              </a:spcAft>
              <a:defRPr sz="900" b="0">
                <a:solidFill>
                  <a:srgbClr val="828282"/>
                </a:solidFill>
              </a:defRPr>
            </a:pPr>
            <a: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37160"/>
            <a:ext cx="100584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lnSpc>
                <a:spcPts val="3840"/>
              </a:lnSpc>
              <a:spcAft>
                <a:spcPts val="960"/>
              </a:spcAft>
              <a:defRPr sz="3200" b="1">
                <a:solidFill>
                  <a:srgbClr val="FFFFFF"/>
                </a:solidFill>
              </a:defRPr>
            </a:pPr>
            <a:r>
              <a:t>AI/ML подсистема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058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lnSpc>
                <a:spcPts val="1680"/>
              </a:lnSpc>
              <a:spcAft>
                <a:spcPts val="420"/>
              </a:spcAft>
              <a:defRPr sz="1400" b="0">
                <a:solidFill>
                  <a:srgbClr val="D2D2D2"/>
                </a:solidFill>
              </a:defRPr>
            </a:pPr>
            <a:r>
              <a:t>VLM-управление, Reinforcement Learning, Computer Vision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6537960"/>
            <a:ext cx="2743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lnSpc>
                <a:spcPts val="1080"/>
              </a:lnSpc>
              <a:spcAft>
                <a:spcPts val="270"/>
              </a:spcAft>
              <a:defRPr sz="900" b="0">
                <a:solidFill>
                  <a:srgbClr val="828282"/>
                </a:solidFill>
              </a:defRPr>
            </a:pPr>
            <a:r>
              <a:t>Система управления 6-осевым роботом-манипулятором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820095" y="6537960"/>
            <a:ext cx="914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lnSpc>
                <a:spcPts val="1080"/>
              </a:lnSpc>
              <a:spcAft>
                <a:spcPts val="270"/>
              </a:spcAft>
              <a:defRPr sz="900" b="0">
                <a:solidFill>
                  <a:srgbClr val="828282"/>
                </a:solidFill>
              </a:defRPr>
            </a:pPr>
            <a:r>
              <a:t>7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1371600"/>
            <a:ext cx="3474720" cy="5029200"/>
          </a:xfrm>
          <a:prstGeom prst="rect">
            <a:avLst/>
          </a:prstGeom>
          <a:solidFill>
            <a:srgbClr val="F0F0F0"/>
          </a:solidFill>
          <a:ln w="127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1520" y="1554480"/>
            <a:ext cx="3200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lnSpc>
                <a:spcPts val="1920"/>
              </a:lnSpc>
              <a:spcAft>
                <a:spcPts val="480"/>
              </a:spcAft>
              <a:defRPr sz="1600" b="1">
                <a:solidFill>
                  <a:srgbClr val="000000"/>
                </a:solidFill>
              </a:defRPr>
            </a:pPr>
            <a:r>
              <a:t>AIProvider (Strategy)</a:t>
            </a:r>
          </a:p>
        </p:txBody>
      </p:sp>
      <p:sp>
        <p:nvSpPr>
          <p:cNvPr id="10" name="Rectangle 9"/>
          <p:cNvSpPr/>
          <p:nvPr/>
        </p:nvSpPr>
        <p:spPr>
          <a:xfrm>
            <a:off x="731520" y="2103120"/>
            <a:ext cx="2926080" cy="127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31520" y="2286000"/>
            <a:ext cx="3200400" cy="3657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lnSpc>
                <a:spcPts val="1560"/>
              </a:lnSpc>
              <a:spcAft>
                <a:spcPts val="400"/>
              </a:spcAft>
              <a:defRPr sz="1200" b="0">
                <a:solidFill>
                  <a:srgbClr val="1E1E1E"/>
                </a:solidFill>
              </a:defRPr>
            </a:pPr>
            <a:r>
              <a:t>• Единый фасад: Ollama / LM Studio / OpenAI</a:t>
            </a:r>
          </a:p>
          <a:p>
            <a:pPr>
              <a:lnSpc>
                <a:spcPts val="1560"/>
              </a:lnSpc>
              <a:spcAft>
                <a:spcPts val="400"/>
              </a:spcAft>
              <a:defRPr sz="1200" b="0">
                <a:solidFill>
                  <a:srgbClr val="1E1E1E"/>
                </a:solidFill>
              </a:defRPr>
            </a:pPr>
            <a:r>
              <a:t>• VLM: Qwen3 VL, GPT-4o</a:t>
            </a:r>
          </a:p>
          <a:p>
            <a:pPr>
              <a:lnSpc>
                <a:spcPts val="1560"/>
              </a:lnSpc>
              <a:spcAft>
                <a:spcPts val="400"/>
              </a:spcAft>
              <a:defRPr sz="1200" b="0">
                <a:solidFill>
                  <a:srgbClr val="1E1E1E"/>
                </a:solidFill>
              </a:defRPr>
            </a:pPr>
            <a:r>
              <a:t>• JSON-команды → управление роботом</a:t>
            </a:r>
          </a:p>
          <a:p>
            <a:pPr>
              <a:lnSpc>
                <a:spcPts val="1560"/>
              </a:lnSpc>
              <a:spcAft>
                <a:spcPts val="400"/>
              </a:spcAft>
              <a:defRPr sz="1200" b="0">
                <a:solidFill>
                  <a:srgbClr val="1E1E1E"/>
                </a:solidFill>
              </a:defRPr>
            </a:pPr>
            <a:r>
              <a:t>• Системный промпт с DH-параметрами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297680" y="1371600"/>
            <a:ext cx="3474720" cy="5029200"/>
          </a:xfrm>
          <a:prstGeom prst="rect">
            <a:avLst/>
          </a:prstGeom>
          <a:solidFill>
            <a:srgbClr val="F0F0F0"/>
          </a:solidFill>
          <a:ln w="127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572000" y="1554480"/>
            <a:ext cx="3200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lnSpc>
                <a:spcPts val="1920"/>
              </a:lnSpc>
              <a:spcAft>
                <a:spcPts val="480"/>
              </a:spcAft>
              <a:defRPr sz="1600" b="1">
                <a:solidFill>
                  <a:srgbClr val="000000"/>
                </a:solidFill>
              </a:defRPr>
            </a:pPr>
            <a:r>
              <a:t>Reinforcement Learning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572000" y="2103120"/>
            <a:ext cx="2926080" cy="127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572000" y="2286000"/>
            <a:ext cx="3200400" cy="3657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lnSpc>
                <a:spcPts val="1560"/>
              </a:lnSpc>
              <a:spcAft>
                <a:spcPts val="400"/>
              </a:spcAft>
              <a:defRPr sz="1200" b="0">
                <a:solidFill>
                  <a:srgbClr val="1E1E1E"/>
                </a:solidFill>
              </a:defRPr>
            </a:pPr>
            <a:r>
              <a:t>• Среда: RobotArmEnv (Gymnasium)</a:t>
            </a:r>
          </a:p>
          <a:p>
            <a:pPr>
              <a:lnSpc>
                <a:spcPts val="1560"/>
              </a:lnSpc>
              <a:spcAft>
                <a:spcPts val="400"/>
              </a:spcAft>
              <a:defRPr sz="1200" b="0">
                <a:solidFill>
                  <a:srgbClr val="1E1E1E"/>
                </a:solidFill>
              </a:defRPr>
            </a:pPr>
            <a:r>
              <a:t>• 18-dim наблюдение, 7-dim действие</a:t>
            </a:r>
          </a:p>
          <a:p>
            <a:pPr>
              <a:lnSpc>
                <a:spcPts val="1560"/>
              </a:lnSpc>
              <a:spcAft>
                <a:spcPts val="400"/>
              </a:spcAft>
              <a:defRPr sz="1200" b="0">
                <a:solidFill>
                  <a:srgbClr val="1E1E1E"/>
                </a:solidFill>
              </a:defRPr>
            </a:pPr>
            <a:r>
              <a:t>• Агенты: DQN (discrete), PPO (continuous)</a:t>
            </a:r>
          </a:p>
          <a:p>
            <a:pPr>
              <a:lnSpc>
                <a:spcPts val="1560"/>
              </a:lnSpc>
              <a:spcAft>
                <a:spcPts val="400"/>
              </a:spcAft>
              <a:defRPr sz="1200" b="0">
                <a:solidFill>
                  <a:srgbClr val="1E1E1E"/>
                </a:solidFill>
              </a:defRPr>
            </a:pPr>
            <a:r>
              <a:t>• Curriculum Learning: reach → pick → place</a:t>
            </a:r>
          </a:p>
          <a:p>
            <a:pPr>
              <a:lnSpc>
                <a:spcPts val="1560"/>
              </a:lnSpc>
              <a:spcAft>
                <a:spcPts val="400"/>
              </a:spcAft>
              <a:defRPr sz="1200" b="0">
                <a:solidFill>
                  <a:srgbClr val="1E1E1E"/>
                </a:solidFill>
              </a:defRPr>
            </a:pPr>
            <a:r>
              <a:t>• Sim-to-Real: MuJoCo → реальный робот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138160" y="1371600"/>
            <a:ext cx="3474720" cy="5029200"/>
          </a:xfrm>
          <a:prstGeom prst="rect">
            <a:avLst/>
          </a:prstGeom>
          <a:solidFill>
            <a:srgbClr val="F0F0F0"/>
          </a:solidFill>
          <a:ln w="127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412480" y="1554480"/>
            <a:ext cx="3200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lnSpc>
                <a:spcPts val="1920"/>
              </a:lnSpc>
              <a:spcAft>
                <a:spcPts val="480"/>
              </a:spcAft>
              <a:defRPr sz="1600" b="1">
                <a:solidFill>
                  <a:srgbClr val="000000"/>
                </a:solidFill>
              </a:defRPr>
            </a:pPr>
            <a:r>
              <a:t>Computer Vision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412480" y="2103120"/>
            <a:ext cx="2926080" cy="127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412480" y="2286000"/>
            <a:ext cx="3200400" cy="3657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lnSpc>
                <a:spcPts val="1560"/>
              </a:lnSpc>
              <a:spcAft>
                <a:spcPts val="400"/>
              </a:spcAft>
              <a:defRPr sz="1200" b="0">
                <a:solidFill>
                  <a:srgbClr val="1E1E1E"/>
                </a:solidFill>
              </a:defRPr>
            </a:pPr>
            <a:r>
              <a:t>• OpenCV — захват и обработка кадров</a:t>
            </a:r>
          </a:p>
          <a:p>
            <a:pPr>
              <a:lnSpc>
                <a:spcPts val="1560"/>
              </a:lnSpc>
              <a:spcAft>
                <a:spcPts val="400"/>
              </a:spcAft>
              <a:defRPr sz="1200" b="0">
                <a:solidFill>
                  <a:srgbClr val="1E1E1E"/>
                </a:solidFill>
              </a:defRPr>
            </a:pPr>
            <a:r>
              <a:t>• ArUco-маркеры: детекция + solvePnP</a:t>
            </a:r>
          </a:p>
          <a:p>
            <a:pPr>
              <a:lnSpc>
                <a:spcPts val="1560"/>
              </a:lnSpc>
              <a:spcAft>
                <a:spcPts val="400"/>
              </a:spcAft>
              <a:defRPr sz="1200" b="0">
                <a:solidFill>
                  <a:srgbClr val="1E1E1E"/>
                </a:solidFill>
              </a:defRPr>
            </a:pPr>
            <a:r>
              <a:t>• PID-регулятор для трекинга</a:t>
            </a:r>
          </a:p>
          <a:p>
            <a:pPr>
              <a:lnSpc>
                <a:spcPts val="1560"/>
              </a:lnSpc>
              <a:spcAft>
                <a:spcPts val="400"/>
              </a:spcAft>
              <a:defRPr sz="1200" b="0">
                <a:solidFill>
                  <a:srgbClr val="1E1E1E"/>
                </a:solidFill>
              </a:defRPr>
            </a:pPr>
            <a:r>
              <a:t>• YOLOv8 — локальный трекинг (60 FPS)</a:t>
            </a:r>
          </a:p>
          <a:p>
            <a:pPr>
              <a:lnSpc>
                <a:spcPts val="1560"/>
              </a:lnSpc>
              <a:spcAft>
                <a:spcPts val="400"/>
              </a:spcAft>
              <a:defRPr sz="1200" b="0">
                <a:solidFill>
                  <a:srgbClr val="1E1E1E"/>
                </a:solidFill>
              </a:defRPr>
            </a:pPr>
            <a:r>
              <a:t>• LeRobot: ACT / Diffusion / pi0 модели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37160"/>
            <a:ext cx="100584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lnSpc>
                <a:spcPts val="3840"/>
              </a:lnSpc>
              <a:spcAft>
                <a:spcPts val="960"/>
              </a:spcAft>
              <a:defRPr sz="3200" b="1">
                <a:solidFill>
                  <a:srgbClr val="FFFFFF"/>
                </a:solidFill>
              </a:defRPr>
            </a:pPr>
            <a:r>
              <a:t>Результаты работы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058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lnSpc>
                <a:spcPts val="1680"/>
              </a:lnSpc>
              <a:spcAft>
                <a:spcPts val="420"/>
              </a:spcAft>
              <a:defRPr sz="1400" b="0">
                <a:solidFill>
                  <a:srgbClr val="D2D2D2"/>
                </a:solidFill>
              </a:defRPr>
            </a:pPr>
            <a:r>
              <a:t>Что разработано?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6537960"/>
            <a:ext cx="2743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lnSpc>
                <a:spcPts val="1080"/>
              </a:lnSpc>
              <a:spcAft>
                <a:spcPts val="270"/>
              </a:spcAft>
              <a:defRPr sz="900" b="0">
                <a:solidFill>
                  <a:srgbClr val="828282"/>
                </a:solidFill>
              </a:defRPr>
            </a:pPr>
            <a:r>
              <a:t>Система управления 6-осевым роботом-манипулятором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820095" y="6537960"/>
            <a:ext cx="914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lnSpc>
                <a:spcPts val="1080"/>
              </a:lnSpc>
              <a:spcAft>
                <a:spcPts val="270"/>
              </a:spcAft>
              <a:defRPr sz="900" b="0">
                <a:solidFill>
                  <a:srgbClr val="828282"/>
                </a:solidFill>
              </a:defRPr>
            </a:pPr>
            <a:r>
              <a:t>8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1463040"/>
            <a:ext cx="2560320" cy="2103120"/>
          </a:xfrm>
          <a:prstGeom prst="rect">
            <a:avLst/>
          </a:prstGeom>
          <a:solidFill>
            <a:srgbClr val="F0F0F0"/>
          </a:solidFill>
          <a:ln w="127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48640" y="1737360"/>
            <a:ext cx="25603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lnSpc>
                <a:spcPts val="4320"/>
              </a:lnSpc>
              <a:spcAft>
                <a:spcPts val="1080"/>
              </a:spcAft>
              <a:defRPr sz="3600" b="1">
                <a:solidFill>
                  <a:srgbClr val="000000"/>
                </a:solidFill>
              </a:defRPr>
            </a:pPr>
            <a:r>
              <a:t>≈ 15 000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2651760"/>
            <a:ext cx="25603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lnSpc>
                <a:spcPts val="1560"/>
              </a:lnSpc>
              <a:spcAft>
                <a:spcPts val="390"/>
              </a:spcAft>
              <a:defRPr sz="1300" b="0">
                <a:solidFill>
                  <a:srgbClr val="505050"/>
                </a:solidFill>
              </a:defRPr>
            </a:pPr>
            <a:r>
              <a:t>строк кода Python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474720" y="1463040"/>
            <a:ext cx="2560320" cy="2103120"/>
          </a:xfrm>
          <a:prstGeom prst="rect">
            <a:avLst/>
          </a:prstGeom>
          <a:solidFill>
            <a:srgbClr val="F0F0F0"/>
          </a:solidFill>
          <a:ln w="127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474720" y="1737360"/>
            <a:ext cx="25603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lnSpc>
                <a:spcPts val="4320"/>
              </a:lnSpc>
              <a:spcAft>
                <a:spcPts val="1080"/>
              </a:spcAft>
              <a:defRPr sz="3600" b="1">
                <a:solidFill>
                  <a:srgbClr val="000000"/>
                </a:solidFill>
              </a:defRPr>
            </a:pPr>
            <a:r>
              <a:t>11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474720" y="2651760"/>
            <a:ext cx="25603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lnSpc>
                <a:spcPts val="1560"/>
              </a:lnSpc>
              <a:spcAft>
                <a:spcPts val="390"/>
              </a:spcAft>
              <a:defRPr sz="1300" b="0">
                <a:solidFill>
                  <a:srgbClr val="505050"/>
                </a:solidFill>
              </a:defRPr>
            </a:pPr>
            <a:r>
              <a:t>сервисов приложения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400800" y="1463040"/>
            <a:ext cx="2560320" cy="2103120"/>
          </a:xfrm>
          <a:prstGeom prst="rect">
            <a:avLst/>
          </a:prstGeom>
          <a:solidFill>
            <a:srgbClr val="F0F0F0"/>
          </a:solidFill>
          <a:ln w="127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00800" y="1737360"/>
            <a:ext cx="25603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lnSpc>
                <a:spcPts val="4320"/>
              </a:lnSpc>
              <a:spcAft>
                <a:spcPts val="1080"/>
              </a:spcAft>
              <a:defRPr sz="3600" b="1">
                <a:solidFill>
                  <a:srgbClr val="000000"/>
                </a:solidFill>
              </a:defRPr>
            </a:pPr>
            <a:r>
              <a:t>13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0" y="2651760"/>
            <a:ext cx="25603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lnSpc>
                <a:spcPts val="1560"/>
              </a:lnSpc>
              <a:spcAft>
                <a:spcPts val="390"/>
              </a:spcAft>
              <a:defRPr sz="1300" b="0">
                <a:solidFill>
                  <a:srgbClr val="505050"/>
                </a:solidFill>
              </a:defRPr>
            </a:pPr>
            <a:r>
              <a:t>вкладок Desktop GUI</a:t>
            </a:r>
          </a:p>
        </p:txBody>
      </p:sp>
      <p:sp>
        <p:nvSpPr>
          <p:cNvPr id="17" name="Rectangle 16"/>
          <p:cNvSpPr/>
          <p:nvPr/>
        </p:nvSpPr>
        <p:spPr>
          <a:xfrm>
            <a:off x="9326880" y="1463040"/>
            <a:ext cx="2560320" cy="2103120"/>
          </a:xfrm>
          <a:prstGeom prst="rect">
            <a:avLst/>
          </a:prstGeom>
          <a:solidFill>
            <a:srgbClr val="F0F0F0"/>
          </a:solidFill>
          <a:ln w="127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326880" y="1737360"/>
            <a:ext cx="25603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lnSpc>
                <a:spcPts val="4320"/>
              </a:lnSpc>
              <a:spcAft>
                <a:spcPts val="1080"/>
              </a:spcAft>
              <a:defRPr sz="3600" b="1">
                <a:solidFill>
                  <a:srgbClr val="000000"/>
                </a:solidFill>
              </a:defRPr>
            </a:pPr>
            <a:r>
              <a:t>27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326880" y="2651760"/>
            <a:ext cx="25603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lnSpc>
                <a:spcPts val="1560"/>
              </a:lnSpc>
              <a:spcAft>
                <a:spcPts val="390"/>
              </a:spcAft>
              <a:defRPr sz="1300" b="0">
                <a:solidFill>
                  <a:srgbClr val="505050"/>
                </a:solidFill>
              </a:defRPr>
            </a:pPr>
            <a:r>
              <a:t>PlantUML-диаграмм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48640" y="4023360"/>
            <a:ext cx="2560320" cy="2103120"/>
          </a:xfrm>
          <a:prstGeom prst="rect">
            <a:avLst/>
          </a:prstGeom>
          <a:solidFill>
            <a:srgbClr val="F0F0F0"/>
          </a:solidFill>
          <a:ln w="127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48640" y="4297680"/>
            <a:ext cx="25603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lnSpc>
                <a:spcPts val="4320"/>
              </a:lnSpc>
              <a:spcAft>
                <a:spcPts val="1080"/>
              </a:spcAft>
              <a:defRPr sz="3600" b="1">
                <a:solidFill>
                  <a:srgbClr val="000000"/>
                </a:solidFill>
              </a:defRPr>
            </a:pPr>
            <a:r>
              <a:t>6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48640" y="5212080"/>
            <a:ext cx="25603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lnSpc>
                <a:spcPts val="1560"/>
              </a:lnSpc>
              <a:spcAft>
                <a:spcPts val="390"/>
              </a:spcAft>
              <a:defRPr sz="1300" b="0">
                <a:solidFill>
                  <a:srgbClr val="505050"/>
                </a:solidFill>
              </a:defRPr>
            </a:pPr>
            <a:r>
              <a:t>DOF — степеней свободы</a:t>
            </a:r>
          </a:p>
        </p:txBody>
      </p:sp>
      <p:sp>
        <p:nvSpPr>
          <p:cNvPr id="23" name="Rectangle 22"/>
          <p:cNvSpPr/>
          <p:nvPr/>
        </p:nvSpPr>
        <p:spPr>
          <a:xfrm>
            <a:off x="3474720" y="4023360"/>
            <a:ext cx="2560320" cy="2103120"/>
          </a:xfrm>
          <a:prstGeom prst="rect">
            <a:avLst/>
          </a:prstGeom>
          <a:solidFill>
            <a:srgbClr val="F0F0F0"/>
          </a:solidFill>
          <a:ln w="127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3474720" y="4297680"/>
            <a:ext cx="25603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lnSpc>
                <a:spcPts val="4320"/>
              </a:lnSpc>
              <a:spcAft>
                <a:spcPts val="1080"/>
              </a:spcAft>
              <a:defRPr sz="3600" b="1">
                <a:solidFill>
                  <a:srgbClr val="000000"/>
                </a:solidFill>
              </a:defRPr>
            </a:pPr>
            <a:r>
              <a:t>3-15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474720" y="5212080"/>
            <a:ext cx="25603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lnSpc>
                <a:spcPts val="1560"/>
              </a:lnSpc>
              <a:spcAft>
                <a:spcPts val="390"/>
              </a:spcAft>
              <a:defRPr sz="1300" b="0">
                <a:solidFill>
                  <a:srgbClr val="505050"/>
                </a:solidFill>
              </a:defRPr>
            </a:pPr>
            <a:r>
              <a:t>мс latency UART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400800" y="4023360"/>
            <a:ext cx="2560320" cy="2103120"/>
          </a:xfrm>
          <a:prstGeom prst="rect">
            <a:avLst/>
          </a:prstGeom>
          <a:solidFill>
            <a:srgbClr val="F0F0F0"/>
          </a:solidFill>
          <a:ln w="127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400800" y="4297680"/>
            <a:ext cx="25603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lnSpc>
                <a:spcPts val="4320"/>
              </a:lnSpc>
              <a:spcAft>
                <a:spcPts val="1080"/>
              </a:spcAft>
              <a:defRPr sz="3600" b="1">
                <a:solidFill>
                  <a:srgbClr val="000000"/>
                </a:solidFill>
              </a:defRPr>
            </a:pPr>
            <a:r>
              <a:t>59+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400800" y="5212080"/>
            <a:ext cx="25603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lnSpc>
                <a:spcPts val="1560"/>
              </a:lnSpc>
              <a:spcAft>
                <a:spcPts val="390"/>
              </a:spcAft>
              <a:defRPr sz="1300" b="0">
                <a:solidFill>
                  <a:srgbClr val="505050"/>
                </a:solidFill>
              </a:defRPr>
            </a:pPr>
            <a:r>
              <a:t>юнит-тестов</a:t>
            </a:r>
          </a:p>
        </p:txBody>
      </p:sp>
      <p:sp>
        <p:nvSpPr>
          <p:cNvPr id="29" name="Rectangle 28"/>
          <p:cNvSpPr/>
          <p:nvPr/>
        </p:nvSpPr>
        <p:spPr>
          <a:xfrm>
            <a:off x="9326880" y="4023360"/>
            <a:ext cx="2560320" cy="2103120"/>
          </a:xfrm>
          <a:prstGeom prst="rect">
            <a:avLst/>
          </a:prstGeom>
          <a:solidFill>
            <a:srgbClr val="F0F0F0"/>
          </a:solidFill>
          <a:ln w="127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9326880" y="4297680"/>
            <a:ext cx="25603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lnSpc>
                <a:spcPts val="4320"/>
              </a:lnSpc>
              <a:spcAft>
                <a:spcPts val="1080"/>
              </a:spcAft>
              <a:defRPr sz="3600" b="1">
                <a:solidFill>
                  <a:srgbClr val="000000"/>
                </a:solidFill>
              </a:defRPr>
            </a:pPr>
            <a:r>
              <a:t>4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326880" y="5212080"/>
            <a:ext cx="25603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lnSpc>
                <a:spcPts val="1560"/>
              </a:lnSpc>
              <a:spcAft>
                <a:spcPts val="390"/>
              </a:spcAft>
              <a:defRPr sz="1300" b="0">
                <a:solidFill>
                  <a:srgbClr val="505050"/>
                </a:solidFill>
              </a:defRPr>
            </a:pPr>
            <a:r>
              <a:t>интерфейса: Desktop/Web/ROS2/CLI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37160"/>
            <a:ext cx="100584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lnSpc>
                <a:spcPts val="3840"/>
              </a:lnSpc>
              <a:spcAft>
                <a:spcPts val="960"/>
              </a:spcAft>
              <a:defRPr sz="3200" b="1">
                <a:solidFill>
                  <a:srgbClr val="FFFFFF"/>
                </a:solidFill>
              </a:defRPr>
            </a:pPr>
            <a:r>
              <a:t>Архитектурные паттерны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058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lnSpc>
                <a:spcPts val="1680"/>
              </a:lnSpc>
              <a:spcAft>
                <a:spcPts val="420"/>
              </a:spcAft>
              <a:defRPr sz="1400" b="0">
                <a:solidFill>
                  <a:srgbClr val="D2D2D2"/>
                </a:solidFill>
              </a:defRPr>
            </a:pPr>
            <a:r>
              <a:t>Какие паттерны использованы?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6537960"/>
            <a:ext cx="2743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lnSpc>
                <a:spcPts val="1080"/>
              </a:lnSpc>
              <a:spcAft>
                <a:spcPts val="270"/>
              </a:spcAft>
              <a:defRPr sz="900" b="0">
                <a:solidFill>
                  <a:srgbClr val="828282"/>
                </a:solidFill>
              </a:defRPr>
            </a:pPr>
            <a:r>
              <a:t>Система управления 6-осевым роботом-манипулятором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820095" y="6537960"/>
            <a:ext cx="914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lnSpc>
                <a:spcPts val="1080"/>
              </a:lnSpc>
              <a:spcAft>
                <a:spcPts val="270"/>
              </a:spcAft>
              <a:defRPr sz="900" b="0">
                <a:solidFill>
                  <a:srgbClr val="828282"/>
                </a:solidFill>
              </a:defRPr>
            </a:pPr>
            <a:r>
              <a:t>9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1371600"/>
            <a:ext cx="1828800" cy="9144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48640" y="1508760"/>
            <a:ext cx="164592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lnSpc>
                <a:spcPts val="2160"/>
              </a:lnSpc>
              <a:spcAft>
                <a:spcPts val="540"/>
              </a:spcAft>
              <a:defRPr sz="1800" b="1">
                <a:solidFill>
                  <a:srgbClr val="FFFFFF"/>
                </a:solidFill>
              </a:defRPr>
            </a:pPr>
            <a:r>
              <a:t>EventBus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468880" y="1417320"/>
            <a:ext cx="2743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lnSpc>
                <a:spcPts val="1680"/>
              </a:lnSpc>
              <a:spcAft>
                <a:spcPts val="420"/>
              </a:spcAft>
              <a:defRPr sz="1400" b="1">
                <a:solidFill>
                  <a:srgbClr val="000000"/>
                </a:solidFill>
              </a:defRPr>
            </a:pPr>
            <a:r>
              <a:t>Pub-Sub шина событий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468880" y="1828800"/>
            <a:ext cx="8686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lnSpc>
                <a:spcPts val="1439"/>
              </a:lnSpc>
              <a:spcAft>
                <a:spcPts val="359"/>
              </a:spcAft>
              <a:defRPr sz="1200" b="0">
                <a:solidFill>
                  <a:srgbClr val="505050"/>
                </a:solidFill>
              </a:defRPr>
            </a:pPr>
            <a:r>
              <a:t>Слабая связанность между компонентами. Авто-отписка через WeakMethod.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57200" y="2651760"/>
            <a:ext cx="1828800" cy="9144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48640" y="2788920"/>
            <a:ext cx="164592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lnSpc>
                <a:spcPts val="2160"/>
              </a:lnSpc>
              <a:spcAft>
                <a:spcPts val="540"/>
              </a:spcAft>
              <a:defRPr sz="1800" b="1">
                <a:solidFill>
                  <a:srgbClr val="FFFFFF"/>
                </a:solidFill>
              </a:defRPr>
            </a:pPr>
            <a:r>
              <a:t>Dependency Injection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468880" y="2697480"/>
            <a:ext cx="2743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lnSpc>
                <a:spcPts val="1680"/>
              </a:lnSpc>
              <a:spcAft>
                <a:spcPts val="420"/>
              </a:spcAft>
              <a:defRPr sz="1400" b="1">
                <a:solidFill>
                  <a:srgbClr val="000000"/>
                </a:solidFill>
              </a:defRPr>
            </a:pPr>
            <a:r>
              <a:t>Container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468880" y="3108960"/>
            <a:ext cx="8686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lnSpc>
                <a:spcPts val="1439"/>
              </a:lnSpc>
              <a:spcAft>
                <a:spcPts val="359"/>
              </a:spcAft>
              <a:defRPr sz="1200" b="0">
                <a:solidFill>
                  <a:srgbClr val="505050"/>
                </a:solidFill>
              </a:defRPr>
            </a:pPr>
            <a:r>
              <a:t>Ленивая инициализация, singleton/transient, авто-разрешение зависимостей.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57200" y="3931920"/>
            <a:ext cx="1828800" cy="9144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48640" y="4069080"/>
            <a:ext cx="164592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lnSpc>
                <a:spcPts val="2160"/>
              </a:lnSpc>
              <a:spcAft>
                <a:spcPts val="540"/>
              </a:spcAft>
              <a:defRPr sz="1800" b="1">
                <a:solidFill>
                  <a:srgbClr val="FFFFFF"/>
                </a:solidFill>
              </a:defRPr>
            </a:pPr>
            <a:r>
              <a:t>Template Method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468880" y="3977640"/>
            <a:ext cx="2743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lnSpc>
                <a:spcPts val="1680"/>
              </a:lnSpc>
              <a:spcAft>
                <a:spcPts val="420"/>
              </a:spcAft>
              <a:defRPr sz="1400" b="1">
                <a:solidFill>
                  <a:srgbClr val="000000"/>
                </a:solidFill>
              </a:defRPr>
            </a:pPr>
            <a:r>
              <a:t>BaseService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468880" y="4389120"/>
            <a:ext cx="8686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lnSpc>
                <a:spcPts val="1439"/>
              </a:lnSpc>
              <a:spcAft>
                <a:spcPts val="359"/>
              </a:spcAft>
              <a:defRPr sz="1200" b="0">
                <a:solidFill>
                  <a:srgbClr val="505050"/>
                </a:solidFill>
              </a:defRPr>
            </a:pPr>
            <a:r>
              <a:t>Единый жизненный цикл: init → start → stop. События на каждом этапе.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57200" y="5212079"/>
            <a:ext cx="1828800" cy="9144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48640" y="5349239"/>
            <a:ext cx="164592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lnSpc>
                <a:spcPts val="2160"/>
              </a:lnSpc>
              <a:spcAft>
                <a:spcPts val="540"/>
              </a:spcAft>
              <a:defRPr sz="1800" b="1">
                <a:solidFill>
                  <a:srgbClr val="FFFFFF"/>
                </a:solidFill>
              </a:defRPr>
            </a:pPr>
            <a:r>
              <a:t>Strategy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468880" y="5257799"/>
            <a:ext cx="2743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lnSpc>
                <a:spcPts val="1680"/>
              </a:lnSpc>
              <a:spcAft>
                <a:spcPts val="420"/>
              </a:spcAft>
              <a:defRPr sz="1400" b="1">
                <a:solidFill>
                  <a:srgbClr val="000000"/>
                </a:solidFill>
              </a:defRPr>
            </a:pPr>
            <a:r>
              <a:t>AIProvider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468880" y="5669279"/>
            <a:ext cx="8686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lnSpc>
                <a:spcPts val="1439"/>
              </a:lnSpc>
              <a:spcAft>
                <a:spcPts val="359"/>
              </a:spcAft>
              <a:defRPr sz="1200" b="0">
                <a:solidFill>
                  <a:srgbClr val="505050"/>
                </a:solidFill>
              </a:defRPr>
            </a:pPr>
            <a:r>
              <a:t>Единый фасад: Ollama / LM Studio / OpenAI. Переключение без изменения кода.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371600" y="914400"/>
            <a:ext cx="91440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lnSpc>
                <a:spcPts val="4800"/>
              </a:lnSpc>
              <a:spcAft>
                <a:spcPts val="1200"/>
              </a:spcAft>
              <a:defRPr sz="4000" b="1">
                <a:solidFill>
                  <a:srgbClr val="FFFFFF"/>
                </a:solidFill>
              </a:defRPr>
            </a:pPr>
            <a:r>
              <a:t>Заключение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0" y="2560320"/>
            <a:ext cx="2743200" cy="25400"/>
          </a:xfrm>
          <a:prstGeom prst="rect">
            <a:avLst/>
          </a:prstGeom>
          <a:solidFill>
            <a:srgbClr val="8282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371600" y="3017520"/>
            <a:ext cx="9144000" cy="3200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lnSpc>
                <a:spcPts val="2340"/>
              </a:lnSpc>
              <a:spcAft>
                <a:spcPts val="400"/>
              </a:spcAft>
              <a:defRPr sz="1800" b="0">
                <a:solidFill>
                  <a:srgbClr val="D2D2D2"/>
                </a:solidFill>
              </a:defRPr>
            </a:pPr>
            <a:r>
              <a:t>  →  Разработана multi-layered система управления 6-осевым роботом-манипулятором</a:t>
            </a:r>
          </a:p>
          <a:p>
            <a:pPr>
              <a:lnSpc>
                <a:spcPts val="2340"/>
              </a:lnSpc>
              <a:spcAft>
                <a:spcPts val="400"/>
              </a:spcAft>
              <a:defRPr sz="1800" b="0">
                <a:solidFill>
                  <a:srgbClr val="D2D2D2"/>
                </a:solidFill>
              </a:defRPr>
            </a:pPr>
            <a:r>
              <a:t>  →  Единая кодовая база: Desktop + Web + ROS2 + AI/ML — общее ядро</a:t>
            </a:r>
          </a:p>
          <a:p>
            <a:pPr>
              <a:lnSpc>
                <a:spcPts val="2340"/>
              </a:lnSpc>
              <a:spcAft>
                <a:spcPts val="400"/>
              </a:spcAft>
              <a:defRPr sz="1800" b="0">
                <a:solidFill>
                  <a:srgbClr val="D2D2D2"/>
                </a:solidFill>
              </a:defRPr>
            </a:pPr>
            <a:r>
              <a:t>  →  Решены проблемы: когнитивная перегрузка (блоки), latency (UART 3-15ms), Sim-to-Real (MuJoCo)</a:t>
            </a:r>
          </a:p>
          <a:p>
            <a:pPr>
              <a:lnSpc>
                <a:spcPts val="2340"/>
              </a:lnSpc>
              <a:spcAft>
                <a:spcPts val="400"/>
              </a:spcAft>
              <a:defRPr sz="1800" b="0">
                <a:solidFill>
                  <a:srgbClr val="D2D2D2"/>
                </a:solidFill>
              </a:defRPr>
            </a:pPr>
            <a:r>
              <a:t>  →  Интегрированы современные AI/ML подходы: VLM, RL (DQN/PPO), Computer Vision</a:t>
            </a:r>
          </a:p>
          <a:p>
            <a:pPr>
              <a:lnSpc>
                <a:spcPts val="2340"/>
              </a:lnSpc>
              <a:spcAft>
                <a:spcPts val="400"/>
              </a:spcAft>
              <a:defRPr sz="1800" b="0">
                <a:solidFill>
                  <a:srgbClr val="D2D2D2"/>
                </a:solidFill>
              </a:defRPr>
            </a:pPr>
            <a:r>
              <a:t>  →  Открытая архитектура — легко расширять и адаптировать под новые задачи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5486400"/>
            <a:ext cx="11277295" cy="12700"/>
          </a:xfrm>
          <a:prstGeom prst="rect">
            <a:avLst/>
          </a:prstGeom>
          <a:solidFill>
            <a:srgbClr val="8282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371600" y="5760720"/>
            <a:ext cx="91440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lnSpc>
                <a:spcPts val="1439"/>
              </a:lnSpc>
              <a:spcAft>
                <a:spcPts val="359"/>
              </a:spcAft>
              <a:defRPr sz="1200" b="0">
                <a:solidFill>
                  <a:srgbClr val="828282"/>
                </a:solidFill>
              </a:defRPr>
            </a:pPr>
            <a:r>
              <a:t>Перспективы: RRTConnect + FCL (планирование пути) • MediaPipe (жестовое управление) • Zero-copy video (shared memory)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6537960"/>
            <a:ext cx="2743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lnSpc>
                <a:spcPts val="1080"/>
              </a:lnSpc>
              <a:spcAft>
                <a:spcPts val="270"/>
              </a:spcAft>
              <a:defRPr sz="900" b="0">
                <a:solidFill>
                  <a:srgbClr val="828282"/>
                </a:solidFill>
              </a:defRPr>
            </a:pPr>
            <a:r>
              <a:t>Система управления 6-осевым роботом-манипулятором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820095" y="6537960"/>
            <a:ext cx="914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lnSpc>
                <a:spcPts val="1080"/>
              </a:lnSpc>
              <a:spcAft>
                <a:spcPts val="270"/>
              </a:spcAft>
              <a:defRPr sz="900" b="0">
                <a:solidFill>
                  <a:srgbClr val="828282"/>
                </a:solidFill>
              </a:defRPr>
            </a:pPr>
            <a:r>
              <a:t>10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